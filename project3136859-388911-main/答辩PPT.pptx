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5" r:id="rId2"/>
  </p:sldMasterIdLst>
  <p:notesMasterIdLst>
    <p:notesMasterId r:id="rId32"/>
  </p:notesMasterIdLst>
  <p:sldIdLst>
    <p:sldId id="256" r:id="rId3"/>
    <p:sldId id="257" r:id="rId4"/>
    <p:sldId id="286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75" r:id="rId13"/>
    <p:sldId id="278" r:id="rId14"/>
    <p:sldId id="280" r:id="rId15"/>
    <p:sldId id="284" r:id="rId16"/>
    <p:sldId id="277" r:id="rId17"/>
    <p:sldId id="264" r:id="rId18"/>
    <p:sldId id="267" r:id="rId19"/>
    <p:sldId id="268" r:id="rId20"/>
    <p:sldId id="281" r:id="rId21"/>
    <p:sldId id="282" r:id="rId22"/>
    <p:sldId id="269" r:id="rId23"/>
    <p:sldId id="270" r:id="rId24"/>
    <p:sldId id="271" r:id="rId25"/>
    <p:sldId id="272" r:id="rId26"/>
    <p:sldId id="283" r:id="rId27"/>
    <p:sldId id="273" r:id="rId28"/>
    <p:sldId id="279" r:id="rId29"/>
    <p:sldId id="285" r:id="rId30"/>
    <p:sldId id="274" r:id="rId31"/>
  </p:sldIdLst>
  <p:sldSz cx="12192000" cy="6858000"/>
  <p:notesSz cx="6858000" cy="9144000"/>
  <p:embeddedFontLst>
    <p:embeddedFont>
      <p:font typeface="Bahnschrift" panose="020B0502040204020203" pitchFamily="34" charset="0"/>
      <p:regular r:id="rId33"/>
      <p:bold r:id="rId34"/>
    </p:embeddedFont>
    <p:embeddedFont>
      <p:font typeface="Bahnschrift Light" panose="020B0502040204020203" pitchFamily="34" charset="0"/>
      <p:regular r:id="rId35"/>
    </p:embeddedFont>
    <p:embeddedFont>
      <p:font typeface="Bahnschrift SemiBold" panose="020B0502040204020203" pitchFamily="34" charset="0"/>
      <p:bold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Segoe UI" panose="020B0502040204020203" pitchFamily="34" charset="0"/>
      <p:regular r:id="rId41"/>
      <p:bold r:id="rId42"/>
      <p:italic r:id="rId43"/>
      <p:boldItalic r:id="rId44"/>
    </p:embeddedFont>
    <p:embeddedFont>
      <p:font typeface="Segoe UI Light" panose="020B0502040204020203" pitchFamily="34" charset="0"/>
      <p:regular r:id="rId45"/>
      <p:italic r:id="rId46"/>
    </p:embeddedFont>
    <p:embeddedFont>
      <p:font typeface="等线" panose="02010600030101010101" pitchFamily="2" charset="-122"/>
      <p:regular r:id="rId47"/>
      <p:bold r:id="rId48"/>
    </p:embeddedFont>
    <p:embeddedFont>
      <p:font typeface="微软雅黑" panose="020B0503020204020204" pitchFamily="34" charset="-122"/>
      <p:regular r:id="rId49"/>
      <p:bold r:id="rId50"/>
    </p:embeddedFont>
    <p:embeddedFont>
      <p:font typeface="微软雅黑" panose="020B0503020204020204" pitchFamily="34" charset="-122"/>
      <p:regular r:id="rId49"/>
      <p:bold r:id="rId50"/>
    </p:embeddedFont>
    <p:embeddedFont>
      <p:font typeface="微软雅黑 Light" panose="020B0502040204020203" pitchFamily="34" charset="-122"/>
      <p:regular r:id="rId5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8" autoAdjust="0"/>
    <p:restoredTop sz="76374" autoAdjust="0"/>
  </p:normalViewPr>
  <p:slideViewPr>
    <p:cSldViewPr snapToGrid="0">
      <p:cViewPr varScale="1">
        <p:scale>
          <a:sx n="61" d="100"/>
          <a:sy n="61" d="100"/>
        </p:scale>
        <p:origin x="63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7.fntdata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2.fntdata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6.xml"/><Relationship Id="rId51" Type="http://schemas.openxmlformats.org/officeDocument/2006/relationships/font" Target="fonts/font19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8.xml"/><Relationship Id="rId41" Type="http://schemas.openxmlformats.org/officeDocument/2006/relationships/font" Target="fonts/font9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49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1 </a:t>
            </a:r>
            <a:r>
              <a:rPr lang="zh-CN" altLang="en-US"/>
              <a:t>页｜封面（</a:t>
            </a:r>
            <a:r>
              <a:rPr lang="en-US" altLang="zh-CN"/>
              <a:t>15 </a:t>
            </a:r>
            <a:r>
              <a:rPr lang="zh-CN" altLang="en-US"/>
              <a:t>秒，累计 </a:t>
            </a:r>
            <a:r>
              <a:rPr lang="en-US" altLang="zh-CN"/>
              <a:t>0:15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各位评委老师好，我是“全都做得队”的杨洋。我们的作品是在启智 </a:t>
            </a:r>
            <a:r>
              <a:rPr lang="en-US" altLang="zh-CN"/>
              <a:t>01 </a:t>
            </a:r>
            <a:r>
              <a:rPr lang="zh-CN" altLang="en-US"/>
              <a:t>开发板上构建 </a:t>
            </a:r>
            <a:r>
              <a:rPr lang="en-US" altLang="zh-CN"/>
              <a:t>OpenHarmony </a:t>
            </a:r>
            <a:r>
              <a:rPr lang="zh-CN" altLang="en-US"/>
              <a:t>端侧智能推理系统，完成系统、</a:t>
            </a:r>
            <a:r>
              <a:rPr lang="en-US" altLang="zh-CN"/>
              <a:t>CANN</a:t>
            </a:r>
            <a:r>
              <a:rPr lang="zh-CN" altLang="en-US"/>
              <a:t>、</a:t>
            </a:r>
            <a:r>
              <a:rPr lang="en-US" altLang="zh-CN"/>
              <a:t>YOLOv5</a:t>
            </a:r>
            <a:r>
              <a:rPr lang="zh-CN" altLang="en-US"/>
              <a:t>、实时应用和性能优化的全链路交付。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2 </a:t>
            </a:r>
            <a:r>
              <a:rPr lang="zh-CN" altLang="en-US"/>
              <a:t>页｜赛题背景与团队分工（</a:t>
            </a:r>
            <a:r>
              <a:rPr lang="en-US" altLang="zh-CN"/>
              <a:t>22 </a:t>
            </a:r>
            <a:r>
              <a:rPr lang="zh-CN" altLang="en-US"/>
              <a:t>秒，累计 </a:t>
            </a:r>
            <a:r>
              <a:rPr lang="en-US" altLang="zh-CN"/>
              <a:t>0:37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边缘 </a:t>
            </a:r>
            <a:r>
              <a:rPr lang="en-US" altLang="zh-CN"/>
              <a:t>AI </a:t>
            </a:r>
            <a:r>
              <a:rPr lang="zh-CN" altLang="en-US"/>
              <a:t>需要低时延、数据本地化和高能效，但 </a:t>
            </a:r>
            <a:r>
              <a:rPr lang="en-US" altLang="zh-CN"/>
              <a:t>OpenHarmony </a:t>
            </a:r>
            <a:r>
              <a:rPr lang="zh-CN" altLang="en-US"/>
              <a:t>的端侧 </a:t>
            </a:r>
            <a:r>
              <a:rPr lang="en-US" altLang="zh-CN"/>
              <a:t>AI </a:t>
            </a:r>
            <a:r>
              <a:rPr lang="zh-CN" altLang="en-US"/>
              <a:t>硬件与推理能力仍需补齐。赛题要求我们打通 </a:t>
            </a:r>
            <a:r>
              <a:rPr lang="en-US" altLang="zh-CN"/>
              <a:t>OpenHarmony 5.0.3 </a:t>
            </a:r>
            <a:r>
              <a:rPr lang="zh-CN" altLang="en-US"/>
              <a:t>与昇腾 </a:t>
            </a:r>
            <a:r>
              <a:rPr lang="en-US" altLang="zh-CN"/>
              <a:t>310B</a:t>
            </a:r>
            <a:r>
              <a:rPr lang="zh-CN" altLang="en-US"/>
              <a:t>。分工上，潘孝成负责模型部署、推理脚本和内存优化；我负责 </a:t>
            </a:r>
            <a:r>
              <a:rPr lang="en-US" altLang="zh-CN"/>
              <a:t>CANN</a:t>
            </a:r>
            <a:r>
              <a:rPr lang="zh-CN" altLang="en-US"/>
              <a:t>、实时 </a:t>
            </a:r>
            <a:r>
              <a:rPr lang="en-US" altLang="zh-CN"/>
              <a:t>APP</a:t>
            </a:r>
            <a:r>
              <a:rPr lang="zh-CN" altLang="en-US"/>
              <a:t>、</a:t>
            </a:r>
            <a:r>
              <a:rPr lang="zh-CN" altLang="en-US" sz="120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系统增量优化与工程固化，</a:t>
            </a:r>
            <a:r>
              <a:rPr lang="zh-CN" altLang="en-US"/>
              <a:t>答辩材料、</a:t>
            </a:r>
            <a:r>
              <a:rPr lang="zh-CN" altLang="en-US" sz="120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视频录制与剪辑</a:t>
            </a:r>
            <a:r>
              <a:rPr lang="zh-CN" altLang="en-US"/>
              <a:t>；芦甲翔负责系统与模型适配、启动优化和测试验证。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3 </a:t>
            </a:r>
            <a:r>
              <a:rPr lang="zh-CN" altLang="en-US"/>
              <a:t>页｜目录（</a:t>
            </a:r>
            <a:r>
              <a:rPr lang="en-US" altLang="zh-CN"/>
              <a:t>8 </a:t>
            </a:r>
            <a:r>
              <a:rPr lang="zh-CN" altLang="en-US"/>
              <a:t>秒，累计 </a:t>
            </a:r>
            <a:r>
              <a:rPr lang="en-US" altLang="zh-CN"/>
              <a:t>0:45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下面我从基础成果、创新增量、难题与解法、验收与展望四部分展开。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4 </a:t>
            </a:r>
            <a:r>
              <a:rPr lang="zh-CN" altLang="en-US"/>
              <a:t>页｜成果总览（</a:t>
            </a:r>
            <a:r>
              <a:rPr lang="en-US" altLang="zh-CN"/>
              <a:t>18 </a:t>
            </a:r>
            <a:r>
              <a:rPr lang="zh-CN" altLang="en-US"/>
              <a:t>秒，累计 </a:t>
            </a:r>
            <a:r>
              <a:rPr lang="en-US" altLang="zh-CN"/>
              <a:t>1:03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先看结果：赛题四项任务全部闭环；初始内存由约 </a:t>
            </a:r>
            <a:r>
              <a:rPr lang="en-US" altLang="zh-CN"/>
              <a:t>1.7GB </a:t>
            </a:r>
            <a:r>
              <a:rPr lang="zh-CN" altLang="en-US"/>
              <a:t>降至 </a:t>
            </a:r>
            <a:r>
              <a:rPr lang="en-US" altLang="zh-CN"/>
              <a:t>0.9GB</a:t>
            </a:r>
            <a:r>
              <a:rPr lang="zh-CN" altLang="en-US"/>
              <a:t>，降幅约 </a:t>
            </a:r>
            <a:r>
              <a:rPr lang="en-US" altLang="zh-CN"/>
              <a:t>47%</a:t>
            </a:r>
            <a:r>
              <a:rPr lang="zh-CN" altLang="en-US"/>
              <a:t>；启动时间由 </a:t>
            </a:r>
            <a:r>
              <a:rPr lang="en-US" altLang="zh-CN"/>
              <a:t>50 </a:t>
            </a:r>
            <a:r>
              <a:rPr lang="zh-CN" altLang="en-US"/>
              <a:t>秒缩短到 </a:t>
            </a:r>
            <a:r>
              <a:rPr lang="en-US" altLang="zh-CN"/>
              <a:t>42 </a:t>
            </a:r>
            <a:r>
              <a:rPr lang="zh-CN" altLang="en-US"/>
              <a:t>秒；示例单次 </a:t>
            </a:r>
            <a:r>
              <a:rPr lang="en-US" altLang="zh-CN"/>
              <a:t>NPU </a:t>
            </a:r>
            <a:r>
              <a:rPr lang="zh-CN" altLang="en-US"/>
              <a:t>推理延迟为 </a:t>
            </a:r>
            <a:r>
              <a:rPr lang="en-US" altLang="zh-CN"/>
              <a:t>18.532 </a:t>
            </a:r>
            <a:r>
              <a:rPr lang="zh-CN" altLang="en-US"/>
              <a:t>毫秒。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5 </a:t>
            </a:r>
            <a:r>
              <a:rPr lang="zh-CN" altLang="en-US"/>
              <a:t>页｜任务交付（</a:t>
            </a:r>
            <a:r>
              <a:rPr lang="en-US" altLang="zh-CN"/>
              <a:t>12 </a:t>
            </a:r>
            <a:r>
              <a:rPr lang="zh-CN" altLang="en-US"/>
              <a:t>秒，累计 </a:t>
            </a:r>
            <a:r>
              <a:rPr lang="en-US" altLang="zh-CN"/>
              <a:t>1:15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这些结果分别对应系统适配、</a:t>
            </a:r>
            <a:r>
              <a:rPr lang="en-US" altLang="zh-CN"/>
              <a:t>CANN </a:t>
            </a:r>
            <a:r>
              <a:rPr lang="zh-CN" altLang="en-US"/>
              <a:t>移植、</a:t>
            </a:r>
            <a:r>
              <a:rPr lang="en-US" altLang="zh-CN"/>
              <a:t>YOLOv5 </a:t>
            </a:r>
            <a:r>
              <a:rPr lang="zh-CN" altLang="en-US"/>
              <a:t>应用和性能优化。每一项都有镜像、程序、运行日志或实测数据支撑，不是零散功能演示。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6 </a:t>
            </a:r>
            <a:r>
              <a:rPr lang="zh-CN" altLang="en-US"/>
              <a:t>页｜端到端架构（</a:t>
            </a:r>
            <a:r>
              <a:rPr lang="en-US" altLang="zh-CN"/>
              <a:t>20 </a:t>
            </a:r>
            <a:r>
              <a:rPr lang="zh-CN" altLang="en-US"/>
              <a:t>秒，累计 </a:t>
            </a:r>
            <a:r>
              <a:rPr lang="en-US" altLang="zh-CN"/>
              <a:t>1:35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整体链路从 </a:t>
            </a:r>
            <a:r>
              <a:rPr lang="en-US" altLang="zh-CN"/>
              <a:t>OpenHarmony </a:t>
            </a:r>
            <a:r>
              <a:rPr lang="zh-CN" altLang="en-US"/>
              <a:t>和外设开始，向上连接 </a:t>
            </a:r>
            <a:r>
              <a:rPr lang="en-US" altLang="zh-CN"/>
              <a:t>NPU </a:t>
            </a:r>
            <a:r>
              <a:rPr lang="zh-CN" altLang="en-US"/>
              <a:t>驱动、</a:t>
            </a:r>
            <a:r>
              <a:rPr lang="en-US" altLang="zh-CN"/>
              <a:t>CANN Runtime</a:t>
            </a:r>
            <a:r>
              <a:rPr lang="zh-CN" altLang="en-US"/>
              <a:t>、本机推理服务和 </a:t>
            </a:r>
            <a:r>
              <a:rPr lang="en-US" altLang="zh-CN"/>
              <a:t>ArkUI </a:t>
            </a:r>
            <a:r>
              <a:rPr lang="zh-CN" altLang="en-US"/>
              <a:t>应用。考虑到应用侧是 </a:t>
            </a:r>
            <a:r>
              <a:rPr lang="en-US" altLang="zh-CN"/>
              <a:t>musl</a:t>
            </a:r>
            <a:r>
              <a:rPr lang="zh-CN" altLang="en-US"/>
              <a:t>、</a:t>
            </a:r>
            <a:r>
              <a:rPr lang="en-US" altLang="zh-CN"/>
              <a:t>CANN </a:t>
            </a:r>
            <a:r>
              <a:rPr lang="zh-CN" altLang="en-US"/>
              <a:t>侧是 </a:t>
            </a:r>
            <a:r>
              <a:rPr lang="en-US" altLang="zh-CN"/>
              <a:t>glibc</a:t>
            </a:r>
            <a:r>
              <a:rPr lang="zh-CN" altLang="en-US"/>
              <a:t>，我们没有让 </a:t>
            </a:r>
            <a:r>
              <a:rPr lang="en-US" altLang="zh-CN"/>
              <a:t>APP </a:t>
            </a:r>
            <a:r>
              <a:rPr lang="zh-CN" altLang="en-US"/>
              <a:t>直接加载 </a:t>
            </a:r>
            <a:r>
              <a:rPr lang="en-US" altLang="zh-CN"/>
              <a:t>ACL</a:t>
            </a:r>
            <a:r>
              <a:rPr lang="zh-CN" altLang="en-US"/>
              <a:t>，而是通过本机二进制协议隔离 </a:t>
            </a:r>
            <a:r>
              <a:rPr lang="en-US" altLang="zh-CN"/>
              <a:t>ABI</a:t>
            </a:r>
            <a:r>
              <a:rPr lang="zh-CN" altLang="en-US"/>
              <a:t>，模型常驻服务端。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7 </a:t>
            </a:r>
            <a:r>
              <a:rPr lang="zh-CN" altLang="en-US"/>
              <a:t>页｜系统适配（</a:t>
            </a:r>
            <a:r>
              <a:rPr lang="en-US" altLang="zh-CN"/>
              <a:t>12 </a:t>
            </a:r>
            <a:r>
              <a:rPr lang="zh-CN" altLang="en-US"/>
              <a:t>秒，累计 </a:t>
            </a:r>
            <a:r>
              <a:rPr lang="en-US" altLang="zh-CN"/>
              <a:t>1:47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系统侧完成了 </a:t>
            </a:r>
            <a:r>
              <a:rPr lang="en-US" altLang="zh-CN"/>
              <a:t>OpenHarmony 5.0.3 </a:t>
            </a:r>
            <a:r>
              <a:rPr lang="zh-CN" altLang="en-US"/>
              <a:t>图形桌面、真实 </a:t>
            </a:r>
            <a:r>
              <a:rPr lang="en-US" altLang="zh-CN"/>
              <a:t>EDID </a:t>
            </a:r>
            <a:r>
              <a:rPr lang="zh-CN" altLang="en-US"/>
              <a:t>下的 </a:t>
            </a:r>
            <a:r>
              <a:rPr lang="en-US" altLang="zh-CN"/>
              <a:t>1080P HDMI </a:t>
            </a:r>
            <a:r>
              <a:rPr lang="zh-CN" altLang="en-US"/>
              <a:t>显示，以及键鼠、触摸和 </a:t>
            </a:r>
            <a:r>
              <a:rPr lang="en-US" altLang="zh-CN"/>
              <a:t>HDC USB </a:t>
            </a:r>
            <a:r>
              <a:rPr lang="zh-CN" altLang="en-US"/>
              <a:t>调试链路。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8 </a:t>
            </a:r>
            <a:r>
              <a:rPr lang="zh-CN" altLang="en-US"/>
              <a:t>页｜</a:t>
            </a:r>
            <a:r>
              <a:rPr lang="en-US" altLang="zh-CN"/>
              <a:t>CANN</a:t>
            </a:r>
            <a:r>
              <a:rPr lang="zh-CN" altLang="en-US"/>
              <a:t>（</a:t>
            </a:r>
            <a:r>
              <a:rPr lang="en-US" altLang="zh-CN"/>
              <a:t>12 </a:t>
            </a:r>
            <a:r>
              <a:rPr lang="zh-CN" altLang="en-US"/>
              <a:t>秒，累计 </a:t>
            </a:r>
            <a:r>
              <a:rPr lang="en-US" altLang="zh-CN"/>
              <a:t>1:59</a:t>
            </a:r>
            <a:r>
              <a:rPr lang="zh-CN" altLang="en-US"/>
              <a:t>）</a:t>
            </a:r>
            <a:endParaRPr lang="en-US" altLang="zh-CN"/>
          </a:p>
          <a:p>
            <a:r>
              <a:rPr lang="en-US" altLang="zh-CN"/>
              <a:t>CANN </a:t>
            </a:r>
            <a:r>
              <a:rPr lang="zh-CN" altLang="en-US"/>
              <a:t>方面，我们打通驱动、</a:t>
            </a:r>
            <a:r>
              <a:rPr lang="en-US" altLang="zh-CN"/>
              <a:t>Runtime </a:t>
            </a:r>
            <a:r>
              <a:rPr lang="zh-CN" altLang="en-US"/>
              <a:t>和 </a:t>
            </a:r>
            <a:r>
              <a:rPr lang="en-US" altLang="zh-CN"/>
              <a:t>Python </a:t>
            </a:r>
            <a:r>
              <a:rPr lang="zh-CN" altLang="en-US"/>
              <a:t>环境，并用 </a:t>
            </a:r>
            <a:r>
              <a:rPr lang="en-US" altLang="zh-CN"/>
              <a:t>npu-smi</a:t>
            </a:r>
            <a:r>
              <a:rPr lang="zh-CN" altLang="en-US"/>
              <a:t>、</a:t>
            </a:r>
            <a:r>
              <a:rPr lang="en-US" altLang="zh-CN"/>
              <a:t>pyACL </a:t>
            </a:r>
            <a:r>
              <a:rPr lang="zh-CN" altLang="en-US"/>
              <a:t>和样例推理共同验证；依赖和校验逻辑也固化进镜像，保证环境可复现。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9 </a:t>
            </a:r>
            <a:r>
              <a:rPr lang="zh-CN" altLang="en-US"/>
              <a:t>页｜</a:t>
            </a:r>
            <a:r>
              <a:rPr lang="en-US" altLang="zh-CN"/>
              <a:t>YOLOv5</a:t>
            </a:r>
            <a:r>
              <a:rPr lang="zh-CN" altLang="en-US"/>
              <a:t>（</a:t>
            </a:r>
            <a:r>
              <a:rPr lang="en-US" altLang="zh-CN"/>
              <a:t>13 </a:t>
            </a:r>
            <a:r>
              <a:rPr lang="zh-CN" altLang="en-US"/>
              <a:t>秒，累计 </a:t>
            </a:r>
            <a:r>
              <a:rPr lang="en-US" altLang="zh-CN"/>
              <a:t>2:12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模型侧完成 </a:t>
            </a:r>
            <a:r>
              <a:rPr lang="en-US" altLang="zh-CN"/>
              <a:t>ONNX </a:t>
            </a:r>
            <a:r>
              <a:rPr lang="zh-CN" altLang="en-US"/>
              <a:t>到 </a:t>
            </a:r>
            <a:r>
              <a:rPr lang="en-US" altLang="zh-CN"/>
              <a:t>OM </a:t>
            </a:r>
            <a:r>
              <a:rPr lang="zh-CN" altLang="en-US"/>
              <a:t>的转换。程序覆盖图片输入、</a:t>
            </a:r>
            <a:r>
              <a:rPr lang="en-US" altLang="zh-CN"/>
              <a:t>letterbox </a:t>
            </a:r>
            <a:r>
              <a:rPr lang="zh-CN" altLang="en-US"/>
              <a:t>预处理、</a:t>
            </a:r>
            <a:r>
              <a:rPr lang="en-US" altLang="zh-CN"/>
              <a:t>NPU </a:t>
            </a:r>
            <a:r>
              <a:rPr lang="zh-CN" altLang="en-US"/>
              <a:t>推理、</a:t>
            </a:r>
            <a:r>
              <a:rPr lang="en-US" altLang="zh-CN"/>
              <a:t>NMS</a:t>
            </a:r>
            <a:r>
              <a:rPr lang="zh-CN" altLang="en-US"/>
              <a:t>、绘框和结果回传，</a:t>
            </a:r>
            <a:r>
              <a:rPr lang="en-US" altLang="zh-CN"/>
              <a:t>18.532 </a:t>
            </a:r>
            <a:r>
              <a:rPr lang="zh-CN" altLang="en-US"/>
              <a:t>毫秒是完整板端推理链路中的实测值。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10 </a:t>
            </a:r>
            <a:r>
              <a:rPr lang="zh-CN" altLang="en-US"/>
              <a:t>页｜内存策略（</a:t>
            </a:r>
            <a:r>
              <a:rPr lang="en-US" altLang="zh-CN"/>
              <a:t>13 </a:t>
            </a:r>
            <a:r>
              <a:rPr lang="zh-CN" altLang="en-US"/>
              <a:t>秒，累计 </a:t>
            </a:r>
            <a:r>
              <a:rPr lang="en-US" altLang="zh-CN"/>
              <a:t>2:25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内存优化不是简单关闭功能，而是让资源优先服务 </a:t>
            </a:r>
            <a:r>
              <a:rPr lang="en-US" altLang="zh-CN"/>
              <a:t>CANN</a:t>
            </a:r>
            <a:r>
              <a:rPr lang="zh-CN" altLang="en-US"/>
              <a:t>、</a:t>
            </a:r>
            <a:r>
              <a:rPr lang="en-US" altLang="zh-CN"/>
              <a:t>NPU </a:t>
            </a:r>
            <a:r>
              <a:rPr lang="zh-CN" altLang="en-US"/>
              <a:t>和实时应用。我们根据测量结果裁剪非必要桌面、服务和预加载项，并把大块资源改为按需加载。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11 </a:t>
            </a:r>
            <a:r>
              <a:rPr lang="zh-CN" altLang="en-US"/>
              <a:t>页｜启动策略（</a:t>
            </a:r>
            <a:r>
              <a:rPr lang="en-US" altLang="zh-CN"/>
              <a:t>12 </a:t>
            </a:r>
            <a:r>
              <a:rPr lang="zh-CN" altLang="en-US"/>
              <a:t>秒，累计 </a:t>
            </a:r>
            <a:r>
              <a:rPr lang="en-US" altLang="zh-CN"/>
              <a:t>2:37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启动优化则围绕关键路径展开：移除固定等待，把非关键服务延迟到系统就绪后，同时保证显示、</a:t>
            </a:r>
            <a:r>
              <a:rPr lang="en-US" altLang="zh-CN"/>
              <a:t>HDC </a:t>
            </a:r>
            <a:r>
              <a:rPr lang="zh-CN" altLang="en-US"/>
              <a:t>和推理服务尽早可用。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080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12 </a:t>
            </a:r>
            <a:r>
              <a:rPr lang="zh-CN" altLang="en-US"/>
              <a:t>页｜图片识别 </a:t>
            </a:r>
            <a:r>
              <a:rPr lang="en-US" altLang="zh-CN"/>
              <a:t>APP</a:t>
            </a:r>
            <a:r>
              <a:rPr lang="zh-CN" altLang="en-US"/>
              <a:t>（</a:t>
            </a:r>
            <a:r>
              <a:rPr lang="en-US" altLang="zh-CN"/>
              <a:t>18 </a:t>
            </a:r>
            <a:r>
              <a:rPr lang="zh-CN" altLang="en-US"/>
              <a:t>秒，累计 </a:t>
            </a:r>
            <a:r>
              <a:rPr lang="en-US" altLang="zh-CN"/>
              <a:t>2:55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在基础命令行能力上，我们开发了 </a:t>
            </a:r>
            <a:r>
              <a:rPr lang="en-US" altLang="zh-CN"/>
              <a:t>ArkUI </a:t>
            </a:r>
            <a:r>
              <a:rPr lang="zh-CN" altLang="en-US"/>
              <a:t>应用。用户选择图片后即可启动识别，检测框、类别和置信度返回界面，结果还可以保存和回看。应用背后复用同一个本机 </a:t>
            </a:r>
            <a:r>
              <a:rPr lang="en-US" altLang="zh-CN"/>
              <a:t>NPU </a:t>
            </a:r>
            <a:r>
              <a:rPr lang="zh-CN" altLang="en-US"/>
              <a:t>服务。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140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13 </a:t>
            </a:r>
            <a:r>
              <a:rPr lang="zh-CN" altLang="en-US"/>
              <a:t>页｜实时摄像头（</a:t>
            </a:r>
            <a:r>
              <a:rPr lang="en-US" altLang="zh-CN"/>
              <a:t>20 </a:t>
            </a:r>
            <a:r>
              <a:rPr lang="zh-CN" altLang="en-US"/>
              <a:t>秒，累计 </a:t>
            </a:r>
            <a:r>
              <a:rPr lang="en-US" altLang="zh-CN"/>
              <a:t>3:15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初赛之后，我们把单次图片识别扩展为实时摄像头监控。相机画面连续送入 </a:t>
            </a:r>
            <a:r>
              <a:rPr lang="en-US" altLang="zh-CN"/>
              <a:t>NPU</a:t>
            </a:r>
            <a:r>
              <a:rPr lang="zh-CN" altLang="en-US"/>
              <a:t>，检测框实时叠加；规则层结合跨帧状态识别五类异常情况，再播放对应的本地语音提示。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136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14 </a:t>
            </a:r>
            <a:r>
              <a:rPr lang="zh-CN" altLang="en-US"/>
              <a:t>页｜语音警报（</a:t>
            </a:r>
            <a:r>
              <a:rPr lang="en-US" altLang="zh-CN"/>
              <a:t>8 </a:t>
            </a:r>
            <a:r>
              <a:rPr lang="zh-CN" altLang="en-US"/>
              <a:t>秒，累计 </a:t>
            </a:r>
            <a:r>
              <a:rPr lang="en-US" altLang="zh-CN"/>
              <a:t>3:23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这里展示的是实际语音告警效果。提示音预置在板端，可静音、无需联网，也不依赖在线 </a:t>
            </a:r>
            <a:r>
              <a:rPr lang="en-US" altLang="zh-CN"/>
              <a:t>TTS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388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15 </a:t>
            </a:r>
            <a:r>
              <a:rPr lang="zh-CN" altLang="en-US"/>
              <a:t>页｜开机即用（</a:t>
            </a:r>
            <a:r>
              <a:rPr lang="en-US" altLang="zh-CN"/>
              <a:t>25 </a:t>
            </a:r>
            <a:r>
              <a:rPr lang="zh-CN" altLang="en-US"/>
              <a:t>秒，累计 </a:t>
            </a:r>
            <a:r>
              <a:rPr lang="en-US" altLang="zh-CN"/>
              <a:t>3:48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进一步地，我把系统做成“开机即用”：开机进入可用界面，</a:t>
            </a:r>
            <a:r>
              <a:rPr lang="en-US" altLang="zh-CN"/>
              <a:t>HDMI</a:t>
            </a:r>
            <a:r>
              <a:rPr lang="zh-CN" altLang="en-US"/>
              <a:t>、键鼠、触摸和 </a:t>
            </a:r>
            <a:r>
              <a:rPr lang="en-US" altLang="zh-CN"/>
              <a:t>HDC </a:t>
            </a:r>
            <a:r>
              <a:rPr lang="zh-CN" altLang="en-US"/>
              <a:t>自动就绪；</a:t>
            </a:r>
            <a:r>
              <a:rPr lang="en-US" altLang="zh-CN"/>
              <a:t>CANN </a:t>
            </a:r>
            <a:r>
              <a:rPr lang="zh-CN" altLang="en-US"/>
              <a:t>随镜像部署，</a:t>
            </a:r>
            <a:r>
              <a:rPr lang="en-US" altLang="zh-CN"/>
              <a:t>5001 </a:t>
            </a:r>
            <a:r>
              <a:rPr lang="zh-CN" altLang="en-US"/>
              <a:t>本机推理服务自动启动；打开相机即可看到检测和语音结果。裁剪过程中始终保护显示、相机、音频和 </a:t>
            </a:r>
            <a:r>
              <a:rPr lang="en-US" altLang="zh-CN"/>
              <a:t>NPU </a:t>
            </a:r>
            <a:r>
              <a:rPr lang="zh-CN" altLang="en-US"/>
              <a:t>主链路。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506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16 </a:t>
            </a:r>
            <a:r>
              <a:rPr lang="zh-CN" altLang="en-US"/>
              <a:t>页｜实时链路实现（</a:t>
            </a:r>
            <a:r>
              <a:rPr lang="en-US" altLang="zh-CN"/>
              <a:t>22 </a:t>
            </a:r>
            <a:r>
              <a:rPr lang="zh-CN" altLang="en-US"/>
              <a:t>秒，累计 </a:t>
            </a:r>
            <a:r>
              <a:rPr lang="en-US" altLang="zh-CN"/>
              <a:t>4:10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实时链路有四个关键点：第一，</a:t>
            </a:r>
            <a:r>
              <a:rPr lang="en-US" altLang="zh-CN"/>
              <a:t>VideoOutput </a:t>
            </a:r>
            <a:r>
              <a:rPr lang="zh-CN" altLang="en-US"/>
              <a:t>配合 </a:t>
            </a:r>
            <a:r>
              <a:rPr lang="en-US" altLang="zh-CN"/>
              <a:t>ImageReceiver </a:t>
            </a:r>
            <a:r>
              <a:rPr lang="zh-CN" altLang="en-US"/>
              <a:t>连续取 </a:t>
            </a:r>
            <a:r>
              <a:rPr lang="en-US" altLang="zh-CN"/>
              <a:t>YUV </a:t>
            </a:r>
            <a:r>
              <a:rPr lang="zh-CN" altLang="en-US"/>
              <a:t>帧；第二，按实际宽高和 </a:t>
            </a:r>
            <a:r>
              <a:rPr lang="en-US" altLang="zh-CN"/>
              <a:t>stride </a:t>
            </a:r>
            <a:r>
              <a:rPr lang="zh-CN" altLang="en-US"/>
              <a:t>转换，覆盖帧立即归还；第三，模型常驻服务端并完成 </a:t>
            </a:r>
            <a:r>
              <a:rPr lang="en-US" altLang="zh-CN"/>
              <a:t>NMS</a:t>
            </a:r>
            <a:r>
              <a:rPr lang="zh-CN" altLang="en-US"/>
              <a:t>；第四，应用完成坐标映射、叠框和状态反馈。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17 </a:t>
            </a:r>
            <a:r>
              <a:rPr lang="zh-CN" altLang="en-US"/>
              <a:t>页｜参考边界与原创增量（</a:t>
            </a:r>
            <a:r>
              <a:rPr lang="en-US" altLang="zh-CN"/>
              <a:t>15 </a:t>
            </a:r>
            <a:r>
              <a:rPr lang="zh-CN" altLang="en-US"/>
              <a:t>秒，累计 </a:t>
            </a:r>
            <a:r>
              <a:rPr lang="en-US" altLang="zh-CN"/>
              <a:t>4:25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我们也明确创新边界：</a:t>
            </a:r>
            <a:r>
              <a:rPr lang="en-US" altLang="zh-CN"/>
              <a:t>OpenHarmony</a:t>
            </a:r>
            <a:r>
              <a:rPr lang="zh-CN" altLang="en-US"/>
              <a:t>、</a:t>
            </a:r>
            <a:r>
              <a:rPr lang="en-US" altLang="zh-CN"/>
              <a:t>CANN </a:t>
            </a:r>
            <a:r>
              <a:rPr lang="zh-CN" altLang="en-US"/>
              <a:t>和 </a:t>
            </a:r>
            <a:r>
              <a:rPr lang="en-US" altLang="zh-CN"/>
              <a:t>YOLOv5 </a:t>
            </a:r>
            <a:r>
              <a:rPr lang="zh-CN" altLang="en-US"/>
              <a:t>是复用的开源或官方能力；队伍增量集中在板级适配、镜像产品化、实时相机链路、</a:t>
            </a:r>
            <a:r>
              <a:rPr lang="en-US" altLang="zh-CN"/>
              <a:t>ABI </a:t>
            </a:r>
            <a:r>
              <a:rPr lang="zh-CN" altLang="en-US"/>
              <a:t>隔离、场景规则和系统级优化。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18 </a:t>
            </a:r>
            <a:r>
              <a:rPr lang="zh-CN" altLang="en-US"/>
              <a:t>页｜</a:t>
            </a:r>
            <a:r>
              <a:rPr lang="en-US" altLang="zh-CN"/>
              <a:t>Git </a:t>
            </a:r>
            <a:r>
              <a:rPr lang="zh-CN" altLang="en-US"/>
              <a:t>证据（</a:t>
            </a:r>
            <a:r>
              <a:rPr lang="en-US" altLang="zh-CN"/>
              <a:t>12 </a:t>
            </a:r>
            <a:r>
              <a:rPr lang="zh-CN" altLang="en-US"/>
              <a:t>秒，累计 </a:t>
            </a:r>
            <a:r>
              <a:rPr lang="en-US" altLang="zh-CN"/>
              <a:t>4:37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所有工作都有 </a:t>
            </a:r>
            <a:r>
              <a:rPr lang="en-US" altLang="zh-CN"/>
              <a:t>Git </a:t>
            </a:r>
            <a:r>
              <a:rPr lang="zh-CN" altLang="en-US"/>
              <a:t>留痕：项目共 </a:t>
            </a:r>
            <a:r>
              <a:rPr lang="en-US" altLang="zh-CN"/>
              <a:t>71 </a:t>
            </a:r>
            <a:r>
              <a:rPr lang="zh-CN" altLang="en-US"/>
              <a:t>次提交；初赛节点后 </a:t>
            </a:r>
            <a:r>
              <a:rPr lang="en-US" altLang="zh-CN"/>
              <a:t>6 </a:t>
            </a:r>
            <a:r>
              <a:rPr lang="zh-CN" altLang="en-US"/>
              <a:t>次提交涉及 </a:t>
            </a:r>
            <a:r>
              <a:rPr lang="en-US" altLang="zh-CN"/>
              <a:t>73 </a:t>
            </a:r>
            <a:r>
              <a:rPr lang="zh-CN" altLang="en-US"/>
              <a:t>个文件，新增 </a:t>
            </a:r>
            <a:r>
              <a:rPr lang="en-US" altLang="zh-CN"/>
              <a:t>7332 </a:t>
            </a:r>
            <a:r>
              <a:rPr lang="zh-CN" altLang="en-US"/>
              <a:t>行，主要覆盖实时 </a:t>
            </a:r>
            <a:r>
              <a:rPr lang="en-US" altLang="zh-CN"/>
              <a:t>APP</a:t>
            </a:r>
            <a:r>
              <a:rPr lang="zh-CN" altLang="en-US"/>
              <a:t>、推理服务和系统适配。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EBB9A-0090-B2A2-0852-230CAE233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3897C-BDF9-40A0-138D-E0884CD54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14632-5C9B-8DC0-EA74-9894FA39C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19 </a:t>
            </a:r>
            <a:r>
              <a:rPr lang="zh-CN" altLang="en-US"/>
              <a:t>页｜内存优化细节（</a:t>
            </a:r>
            <a:r>
              <a:rPr lang="en-US" altLang="zh-CN"/>
              <a:t>25 </a:t>
            </a:r>
            <a:r>
              <a:rPr lang="zh-CN" altLang="en-US"/>
              <a:t>秒，累计 </a:t>
            </a:r>
            <a:r>
              <a:rPr lang="en-US" altLang="zh-CN"/>
              <a:t>5:02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内存方面，我们把 </a:t>
            </a:r>
            <a:r>
              <a:rPr lang="en-US" altLang="zh-CN"/>
              <a:t>MMZ </a:t>
            </a:r>
            <a:r>
              <a:rPr lang="zh-CN" altLang="en-US"/>
              <a:t>预留从 </a:t>
            </a:r>
            <a:r>
              <a:rPr lang="en-US" altLang="zh-CN"/>
              <a:t>3072M </a:t>
            </a:r>
            <a:r>
              <a:rPr lang="zh-CN" altLang="en-US"/>
              <a:t>调到 </a:t>
            </a:r>
            <a:r>
              <a:rPr lang="en-US" altLang="zh-CN"/>
              <a:t>1536M</a:t>
            </a:r>
            <a:r>
              <a:rPr lang="zh-CN" altLang="en-US"/>
              <a:t>，</a:t>
            </a:r>
            <a:r>
              <a:rPr lang="en-US" altLang="zh-CN"/>
              <a:t>media </a:t>
            </a:r>
            <a:r>
              <a:rPr lang="zh-CN" altLang="en-US"/>
              <a:t>和 </a:t>
            </a:r>
            <a:r>
              <a:rPr lang="en-US" altLang="zh-CN"/>
              <a:t>DVPP </a:t>
            </a:r>
            <a:r>
              <a:rPr lang="zh-CN" altLang="en-US"/>
              <a:t>改为按需加载；调整 </a:t>
            </a:r>
            <a:r>
              <a:rPr lang="en-US" altLang="zh-CN"/>
              <a:t>ZRAM </a:t>
            </a:r>
            <a:r>
              <a:rPr lang="zh-CN" altLang="en-US"/>
              <a:t>与 </a:t>
            </a:r>
            <a:r>
              <a:rPr lang="en-US" altLang="zh-CN"/>
              <a:t>VM </a:t>
            </a:r>
            <a:r>
              <a:rPr lang="zh-CN" altLang="en-US"/>
              <a:t>水位；</a:t>
            </a:r>
            <a:r>
              <a:rPr lang="en-US" altLang="zh-CN"/>
              <a:t>NAPI </a:t>
            </a:r>
            <a:r>
              <a:rPr lang="zh-CN" altLang="en-US"/>
              <a:t>预加载从 </a:t>
            </a:r>
            <a:r>
              <a:rPr lang="en-US" altLang="zh-CN"/>
              <a:t>81 </a:t>
            </a:r>
            <a:r>
              <a:rPr lang="zh-CN" altLang="en-US"/>
              <a:t>项降到 </a:t>
            </a:r>
            <a:r>
              <a:rPr lang="en-US" altLang="zh-CN"/>
              <a:t>26 </a:t>
            </a:r>
            <a:r>
              <a:rPr lang="zh-CN" altLang="en-US"/>
              <a:t>项，预装应用从 </a:t>
            </a:r>
            <a:r>
              <a:rPr lang="en-US" altLang="zh-CN"/>
              <a:t>32 </a:t>
            </a:r>
            <a:r>
              <a:rPr lang="zh-CN" altLang="en-US"/>
              <a:t>个降到 </a:t>
            </a:r>
            <a:r>
              <a:rPr lang="en-US" altLang="zh-CN"/>
              <a:t>11 </a:t>
            </a:r>
            <a:r>
              <a:rPr lang="zh-CN" altLang="en-US"/>
              <a:t>个，并让 </a:t>
            </a:r>
            <a:r>
              <a:rPr lang="en-US" altLang="zh-CN"/>
              <a:t>46 </a:t>
            </a:r>
            <a:r>
              <a:rPr lang="zh-CN" altLang="en-US"/>
              <a:t>个非必要系统能力不再开机即运行。最终仍保留完整主链路。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CED90-7A99-6A0F-2140-5EEF6B6B2AA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6192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20 </a:t>
            </a:r>
            <a:r>
              <a:rPr lang="zh-CN" altLang="en-US"/>
              <a:t>页｜启动优化细节（</a:t>
            </a:r>
            <a:r>
              <a:rPr lang="en-US" altLang="zh-CN"/>
              <a:t>22 </a:t>
            </a:r>
            <a:r>
              <a:rPr lang="zh-CN" altLang="en-US"/>
              <a:t>秒，累计 </a:t>
            </a:r>
            <a:r>
              <a:rPr lang="en-US" altLang="zh-CN"/>
              <a:t>5:24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启动方面，我们移除 </a:t>
            </a:r>
            <a:r>
              <a:rPr lang="en-US" altLang="zh-CN"/>
              <a:t>6 </a:t>
            </a:r>
            <a:r>
              <a:rPr lang="zh-CN" altLang="en-US"/>
              <a:t>次固定 </a:t>
            </a:r>
            <a:r>
              <a:rPr lang="en-US" altLang="zh-CN"/>
              <a:t>sleep </a:t>
            </a:r>
            <a:r>
              <a:rPr lang="zh-CN" altLang="en-US"/>
              <a:t>和串行等待，新增 </a:t>
            </a:r>
            <a:r>
              <a:rPr lang="en-US" altLang="zh-CN"/>
              <a:t>post-boot </a:t>
            </a:r>
            <a:r>
              <a:rPr lang="zh-CN" altLang="en-US"/>
              <a:t>脚本，在系统完成后再启动非关键服务；延迟服务由 </a:t>
            </a:r>
            <a:r>
              <a:rPr lang="en-US" altLang="zh-CN"/>
              <a:t>8 </a:t>
            </a:r>
            <a:r>
              <a:rPr lang="zh-CN" altLang="en-US"/>
              <a:t>个收敛到 </a:t>
            </a:r>
            <a:r>
              <a:rPr lang="en-US" altLang="zh-CN"/>
              <a:t>3 </a:t>
            </a:r>
            <a:r>
              <a:rPr lang="zh-CN" altLang="en-US"/>
              <a:t>个，</a:t>
            </a:r>
            <a:r>
              <a:rPr lang="en-US" altLang="zh-CN"/>
              <a:t>CANN </a:t>
            </a:r>
            <a:r>
              <a:rPr lang="zh-CN" altLang="en-US"/>
              <a:t>与 </a:t>
            </a:r>
            <a:r>
              <a:rPr lang="en-US" altLang="zh-CN"/>
              <a:t>NPU </a:t>
            </a:r>
            <a:r>
              <a:rPr lang="zh-CN" altLang="en-US"/>
              <a:t>依赖前移，并通过 </a:t>
            </a:r>
            <a:r>
              <a:rPr lang="en-US" altLang="zh-CN"/>
              <a:t>bootchart </a:t>
            </a:r>
            <a:r>
              <a:rPr lang="zh-CN" altLang="en-US"/>
              <a:t>对比关键路径。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1531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21 </a:t>
            </a:r>
            <a:r>
              <a:rPr lang="zh-CN" altLang="en-US"/>
              <a:t>页｜</a:t>
            </a:r>
            <a:r>
              <a:rPr lang="en-US" altLang="zh-CN"/>
              <a:t>HDMI </a:t>
            </a:r>
            <a:r>
              <a:rPr lang="zh-CN" altLang="en-US"/>
              <a:t>音频构建（</a:t>
            </a:r>
            <a:r>
              <a:rPr lang="en-US" altLang="zh-CN"/>
              <a:t>25 </a:t>
            </a:r>
            <a:r>
              <a:rPr lang="zh-CN" altLang="en-US"/>
              <a:t>秒，累计 </a:t>
            </a:r>
            <a:r>
              <a:rPr lang="en-US" altLang="zh-CN"/>
              <a:t>5:49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第三个典型难题是 </a:t>
            </a:r>
            <a:r>
              <a:rPr lang="en-US" altLang="zh-CN"/>
              <a:t>HDMI </a:t>
            </a:r>
            <a:r>
              <a:rPr lang="zh-CN" altLang="en-US"/>
              <a:t>有画面但无声音。我们先证明问题不是缺少 </a:t>
            </a:r>
            <a:r>
              <a:rPr lang="en-US" altLang="zh-CN"/>
              <a:t>drv_hdmi </a:t>
            </a:r>
            <a:r>
              <a:rPr lang="zh-CN" altLang="en-US"/>
              <a:t>模块，而是 </a:t>
            </a:r>
            <a:r>
              <a:rPr lang="en-US" altLang="zh-CN"/>
              <a:t>DTS compatible </a:t>
            </a:r>
            <a:r>
              <a:rPr lang="zh-CN" altLang="en-US"/>
              <a:t>大小写导致 </a:t>
            </a:r>
            <a:r>
              <a:rPr lang="en-US" altLang="zh-CN"/>
              <a:t>ASoC </a:t>
            </a:r>
            <a:r>
              <a:rPr lang="zh-CN" altLang="en-US"/>
              <a:t>没有 </a:t>
            </a:r>
            <a:r>
              <a:rPr lang="en-US" altLang="zh-CN"/>
              <a:t>probe</a:t>
            </a:r>
            <a:r>
              <a:rPr lang="zh-CN" altLang="en-US"/>
              <a:t>；同时 </a:t>
            </a:r>
            <a:r>
              <a:rPr lang="en-US" altLang="zh-CN"/>
              <a:t>dtsi </a:t>
            </a:r>
            <a:r>
              <a:rPr lang="zh-CN" altLang="en-US"/>
              <a:t>没进入构建依赖，改源码后 </a:t>
            </a:r>
            <a:r>
              <a:rPr lang="en-US" altLang="zh-CN"/>
              <a:t>Ninja </a:t>
            </a:r>
            <a:r>
              <a:rPr lang="zh-CN" altLang="en-US"/>
              <a:t>可能根本不重编。最终我们同时修复运行链和构建链，并用 </a:t>
            </a:r>
            <a:r>
              <a:rPr lang="en-US" altLang="zh-CN"/>
              <a:t>dtb</a:t>
            </a:r>
            <a:r>
              <a:rPr lang="zh-CN" altLang="en-US"/>
              <a:t>、时间戳和日志验证产物。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22 </a:t>
            </a:r>
            <a:r>
              <a:rPr lang="zh-CN" altLang="en-US"/>
              <a:t>页｜</a:t>
            </a:r>
            <a:r>
              <a:rPr lang="en-US" altLang="zh-CN"/>
              <a:t>HDC </a:t>
            </a:r>
            <a:r>
              <a:rPr lang="zh-CN" altLang="en-US"/>
              <a:t>时序（</a:t>
            </a:r>
            <a:r>
              <a:rPr lang="en-US" altLang="zh-CN"/>
              <a:t>20 </a:t>
            </a:r>
            <a:r>
              <a:rPr lang="zh-CN" altLang="en-US"/>
              <a:t>秒，累计 </a:t>
            </a:r>
            <a:r>
              <a:rPr lang="en-US" altLang="zh-CN"/>
              <a:t>6:09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第四个难题是 </a:t>
            </a:r>
            <a:r>
              <a:rPr lang="en-US" altLang="zh-CN"/>
              <a:t>hdc list targets </a:t>
            </a:r>
            <a:r>
              <a:rPr lang="zh-CN" altLang="en-US"/>
              <a:t>为空。根因是 </a:t>
            </a:r>
            <a:r>
              <a:rPr lang="en-US" altLang="zh-CN"/>
              <a:t>chip_prod</a:t>
            </a:r>
            <a:r>
              <a:rPr lang="zh-CN" altLang="en-US"/>
              <a:t>、</a:t>
            </a:r>
            <a:r>
              <a:rPr lang="en-US" altLang="zh-CN"/>
              <a:t>UDC </a:t>
            </a:r>
            <a:r>
              <a:rPr lang="zh-CN" altLang="en-US"/>
              <a:t>和 </a:t>
            </a:r>
            <a:r>
              <a:rPr lang="en-US" altLang="zh-CN"/>
              <a:t>FunctionFS </a:t>
            </a:r>
            <a:r>
              <a:rPr lang="zh-CN" altLang="en-US"/>
              <a:t>的挂载顺序不正确。我们按照停止 </a:t>
            </a:r>
            <a:r>
              <a:rPr lang="en-US" altLang="zh-CN"/>
              <a:t>hdcd</a:t>
            </a:r>
            <a:r>
              <a:rPr lang="zh-CN" altLang="en-US"/>
              <a:t>、挂载 </a:t>
            </a:r>
            <a:r>
              <a:rPr lang="en-US" altLang="zh-CN"/>
              <a:t>FFS</a:t>
            </a:r>
            <a:r>
              <a:rPr lang="zh-CN" altLang="en-US"/>
              <a:t>、等待就绪、再启动 </a:t>
            </a:r>
            <a:r>
              <a:rPr lang="en-US" altLang="zh-CN"/>
              <a:t>hdcd </a:t>
            </a:r>
            <a:r>
              <a:rPr lang="zh-CN" altLang="en-US"/>
              <a:t>的依赖关系重排时序，并做成幂等初始化。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23 </a:t>
            </a:r>
            <a:r>
              <a:rPr lang="zh-CN" altLang="en-US"/>
              <a:t>页｜</a:t>
            </a:r>
            <a:r>
              <a:rPr lang="en-US" altLang="zh-CN"/>
              <a:t>DRM </a:t>
            </a:r>
            <a:r>
              <a:rPr lang="zh-CN" altLang="en-US"/>
              <a:t>状态一致性（</a:t>
            </a:r>
            <a:r>
              <a:rPr lang="en-US" altLang="zh-CN"/>
              <a:t>20 </a:t>
            </a:r>
            <a:r>
              <a:rPr lang="zh-CN" altLang="en-US"/>
              <a:t>秒，累计 </a:t>
            </a:r>
            <a:r>
              <a:rPr lang="en-US" altLang="zh-CN"/>
              <a:t>6:29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第五个难题是 </a:t>
            </a:r>
            <a:r>
              <a:rPr lang="en-US" altLang="zh-CN"/>
              <a:t>DRM AtomicCommit </a:t>
            </a:r>
            <a:r>
              <a:rPr lang="zh-CN" altLang="en-US"/>
              <a:t>返回负 </a:t>
            </a:r>
            <a:r>
              <a:rPr lang="en-US" altLang="zh-CN"/>
              <a:t>22</a:t>
            </a:r>
            <a:r>
              <a:rPr lang="zh-CN" altLang="en-US"/>
              <a:t>。我们发现用户态的“已连接”和伪模式会误导排查。修复后只接受真实 </a:t>
            </a:r>
            <a:r>
              <a:rPr lang="en-US" altLang="zh-CN"/>
              <a:t>EDID </a:t>
            </a:r>
            <a:r>
              <a:rPr lang="zh-CN" altLang="en-US"/>
              <a:t>和 </a:t>
            </a:r>
            <a:r>
              <a:rPr lang="en-US" altLang="zh-CN"/>
              <a:t>mode</a:t>
            </a:r>
            <a:r>
              <a:rPr lang="zh-CN" altLang="en-US"/>
              <a:t>，按 </a:t>
            </a:r>
            <a:r>
              <a:rPr lang="en-US" altLang="zh-CN"/>
              <a:t>bitmask </a:t>
            </a:r>
            <a:r>
              <a:rPr lang="zh-CN" altLang="en-US"/>
              <a:t>选择同一 </a:t>
            </a:r>
            <a:r>
              <a:rPr lang="en-US" altLang="zh-CN"/>
              <a:t>CRTC</a:t>
            </a:r>
            <a:r>
              <a:rPr lang="zh-CN" altLang="en-US"/>
              <a:t>，并在提交前完整校验对象和属性的一致性。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24 </a:t>
            </a:r>
            <a:r>
              <a:rPr lang="zh-CN" altLang="en-US"/>
              <a:t>页｜相机与 </a:t>
            </a:r>
            <a:r>
              <a:rPr lang="en-US" altLang="zh-CN"/>
              <a:t>ABI</a:t>
            </a:r>
            <a:r>
              <a:rPr lang="zh-CN" altLang="en-US"/>
              <a:t>（</a:t>
            </a:r>
            <a:r>
              <a:rPr lang="en-US" altLang="zh-CN"/>
              <a:t>20 </a:t>
            </a:r>
            <a:r>
              <a:rPr lang="zh-CN" altLang="en-US"/>
              <a:t>秒，累计 </a:t>
            </a:r>
            <a:r>
              <a:rPr lang="en-US" altLang="zh-CN"/>
              <a:t>6:49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实时相机的难点不只是调用接口，还包括像素格式、动态尺寸、</a:t>
            </a:r>
            <a:r>
              <a:rPr lang="en-US" altLang="zh-CN"/>
              <a:t>stride </a:t>
            </a:r>
            <a:r>
              <a:rPr lang="zh-CN" altLang="en-US"/>
              <a:t>和缓冲区所有权。我们修正 </a:t>
            </a:r>
            <a:r>
              <a:rPr lang="en-US" altLang="zh-CN"/>
              <a:t>YUYV </a:t>
            </a:r>
            <a:r>
              <a:rPr lang="zh-CN" altLang="en-US"/>
              <a:t>与 </a:t>
            </a:r>
            <a:r>
              <a:rPr lang="en-US" altLang="zh-CN"/>
              <a:t>YUV420 </a:t>
            </a:r>
            <a:r>
              <a:rPr lang="zh-CN" altLang="en-US"/>
              <a:t>的识别，移除固定 </a:t>
            </a:r>
            <a:r>
              <a:rPr lang="en-US" altLang="zh-CN"/>
              <a:t>1280×720 </a:t>
            </a:r>
            <a:r>
              <a:rPr lang="zh-CN" altLang="en-US"/>
              <a:t>假设，并通过本机服务隔离 </a:t>
            </a:r>
            <a:r>
              <a:rPr lang="en-US" altLang="zh-CN"/>
              <a:t>musl </a:t>
            </a:r>
            <a:r>
              <a:rPr lang="zh-CN" altLang="en-US"/>
              <a:t>与 </a:t>
            </a:r>
            <a:r>
              <a:rPr lang="en-US" altLang="zh-CN"/>
              <a:t>glibc</a:t>
            </a:r>
            <a:r>
              <a:rPr lang="zh-CN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25 </a:t>
            </a:r>
            <a:r>
              <a:rPr lang="zh-CN" altLang="en-US"/>
              <a:t>页｜工程固化（</a:t>
            </a:r>
            <a:r>
              <a:rPr lang="en-US" altLang="zh-CN"/>
              <a:t>15 </a:t>
            </a:r>
            <a:r>
              <a:rPr lang="zh-CN" altLang="en-US"/>
              <a:t>秒，累计 </a:t>
            </a:r>
            <a:r>
              <a:rPr lang="en-US" altLang="zh-CN"/>
              <a:t>7:04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最后，我们把补丁、配置、</a:t>
            </a:r>
            <a:r>
              <a:rPr lang="en-US" altLang="zh-CN"/>
              <a:t>init </a:t>
            </a:r>
            <a:r>
              <a:rPr lang="zh-CN" altLang="en-US"/>
              <a:t>脚本和 </a:t>
            </a:r>
            <a:r>
              <a:rPr lang="en-US" altLang="zh-CN"/>
              <a:t>BUILD.gn </a:t>
            </a:r>
            <a:r>
              <a:rPr lang="zh-CN" altLang="en-US"/>
              <a:t>全部纳入产品构建，并通过静态检查、</a:t>
            </a:r>
            <a:r>
              <a:rPr lang="en-US" altLang="zh-CN"/>
              <a:t>GN target</a:t>
            </a:r>
            <a:r>
              <a:rPr lang="zh-CN" altLang="en-US"/>
              <a:t>、</a:t>
            </a:r>
            <a:r>
              <a:rPr lang="en-US" altLang="zh-CN"/>
              <a:t>Ninja dry-run</a:t>
            </a:r>
            <a:r>
              <a:rPr lang="zh-CN" altLang="en-US"/>
              <a:t>、镜像参数和运行日志，让每次优化都可复现、可回归。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402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26 </a:t>
            </a:r>
            <a:r>
              <a:rPr lang="zh-CN" altLang="en-US"/>
              <a:t>页｜基础验收（</a:t>
            </a:r>
            <a:r>
              <a:rPr lang="en-US" altLang="zh-CN"/>
              <a:t>12 </a:t>
            </a:r>
            <a:r>
              <a:rPr lang="zh-CN" altLang="en-US"/>
              <a:t>秒，累计 </a:t>
            </a:r>
            <a:r>
              <a:rPr lang="en-US" altLang="zh-CN"/>
              <a:t>7:16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回到验收，系统、</a:t>
            </a:r>
            <a:r>
              <a:rPr lang="en-US" altLang="zh-CN"/>
              <a:t>CANN</a:t>
            </a:r>
            <a:r>
              <a:rPr lang="zh-CN" altLang="en-US"/>
              <a:t>、</a:t>
            </a:r>
            <a:r>
              <a:rPr lang="en-US" altLang="zh-CN"/>
              <a:t>YOLOv5 CLI </a:t>
            </a:r>
            <a:r>
              <a:rPr lang="zh-CN" altLang="en-US"/>
              <a:t>与 </a:t>
            </a:r>
            <a:r>
              <a:rPr lang="en-US" altLang="zh-CN"/>
              <a:t>GUI</a:t>
            </a:r>
            <a:r>
              <a:rPr lang="zh-CN" altLang="en-US"/>
              <a:t>、启动和内存六个维度都已完成，关键指标分别有截图、日志、视频和对比数据作为证据。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41C30-4CA1-443D-FC45-378731797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63F74-6D64-DDB6-39BA-5A032CB96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3C921-5508-A096-904A-8BD178ADE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27 </a:t>
            </a:r>
            <a:r>
              <a:rPr lang="zh-CN" altLang="en-US"/>
              <a:t>页｜增量验收（</a:t>
            </a:r>
            <a:r>
              <a:rPr lang="en-US" altLang="zh-CN"/>
              <a:t>18 </a:t>
            </a:r>
            <a:r>
              <a:rPr lang="zh-CN" altLang="en-US"/>
              <a:t>秒，累计 </a:t>
            </a:r>
            <a:r>
              <a:rPr lang="en-US" altLang="zh-CN"/>
              <a:t>7:34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增量功能形成了“实时取帧、</a:t>
            </a:r>
            <a:r>
              <a:rPr lang="en-US" altLang="zh-CN"/>
              <a:t>NPU </a:t>
            </a:r>
            <a:r>
              <a:rPr lang="zh-CN" altLang="en-US"/>
              <a:t>检测、连续计时、异常判断、语音告警”的板端闭环。它让系统从单纯看见目标，升级到理解持续状态并主动给出警告。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0F126-F49A-0E98-6CC3-1B2324EA649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34451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A1069-6629-2A07-05E1-FB404A7C0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1A5704-8D05-F5D1-5340-2CE331907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1FEFE-B44C-E31B-0B63-0CC2BCB99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28 </a:t>
            </a:r>
            <a:r>
              <a:rPr lang="zh-CN" altLang="en-US"/>
              <a:t>页｜功能展望（</a:t>
            </a:r>
            <a:r>
              <a:rPr lang="en-US" altLang="zh-CN"/>
              <a:t>20 </a:t>
            </a:r>
            <a:r>
              <a:rPr lang="zh-CN" altLang="en-US"/>
              <a:t>秒，累计 </a:t>
            </a:r>
            <a:r>
              <a:rPr lang="en-US" altLang="zh-CN"/>
              <a:t>7:54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未来只需替换模型与规则，同一块板可以拓展到公共空间遗留物、工业安全、养老照护和仓储园区。能力路线是从目标检测走向多目标跟踪、时序事件、多模型协同和平台联动，同时保持低时延、数据本地化与弱网可用。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D8183-869C-4D0B-0313-FF677D6B7C3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14190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</a:t>
            </a:r>
            <a:r>
              <a:rPr lang="zh-CN" altLang="en-US"/>
              <a:t>第 </a:t>
            </a:r>
            <a:r>
              <a:rPr lang="en-US" altLang="zh-CN"/>
              <a:t>29 </a:t>
            </a:r>
            <a:r>
              <a:rPr lang="zh-CN" altLang="en-US"/>
              <a:t>页｜结束（</a:t>
            </a:r>
            <a:r>
              <a:rPr lang="en-US" altLang="zh-CN"/>
              <a:t>6 </a:t>
            </a:r>
            <a:r>
              <a:rPr lang="zh-CN" altLang="en-US"/>
              <a:t>秒，累计 </a:t>
            </a:r>
            <a:r>
              <a:rPr lang="en-US" altLang="zh-CN"/>
              <a:t>8:00</a:t>
            </a:r>
            <a:r>
              <a:rPr lang="zh-CN" altLang="en-US"/>
              <a:t>）以上是我们的汇报，感谢各位评委老师，恳请批评指正。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142E28-8D83-4FE1-B364-DE503F8AB1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B951EF6-A9BB-447C-AC38-8F178735DDA8}" type="datetimeFigureOut">
              <a:rPr/>
              <a:t>2026/8/17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9A2620-8A72-4BF0-B100-020868C4F2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4EEC6-00A6-4BCD-9F1C-83589F5D4E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FB65D6-8441-4E78-B5FF-2897A40763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3C3D19-80F9-4C2A-8DB7-F77D9895E5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B951EF6-A9BB-447C-AC38-8F178735DDA8}" type="datetimeFigureOut">
              <a:rPr/>
              <a:t>2026/8/17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A46345-FE79-4467-8901-1F619BA60A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67F51F-4EBF-469D-963A-8EA419F723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FB65D6-8441-4E78-B5FF-2897A40763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F3B7A9-FE40-402C-ABA7-75DB050C4B4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B951EF6-A9BB-447C-AC38-8F178735DDA8}" type="datetimeFigureOut">
              <a:rPr/>
              <a:t>2026/8/17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9C4646-66D9-4BFE-A64C-5DD5C96232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7CF666-7CCD-4CC7-B26D-33D98EBA31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FB65D6-8441-4E78-B5FF-2897A40763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950AEB-87A4-452C-AE51-6F6A2D1B86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B951EF6-A9BB-447C-AC38-8F178735DDA8}" type="datetimeFigureOut">
              <a:rPr/>
              <a:t>2026/8/17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D13EA8-EBC8-4E05-B027-AC78CB3230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2C3C78-64AD-46C4-8D47-0C4FF1356B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FB65D6-8441-4E78-B5FF-2897A40763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93AE6-F1DD-45EC-B202-493B3395B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553762-B6BA-4E5D-A7A1-4CAD70524E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B951EF6-A9BB-447C-AC38-8F178735DDA8}" type="datetimeFigureOut">
              <a:rPr/>
              <a:t>2026/8/17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3D08B5-7B6E-41F6-84E3-2AE77E005B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2099A9-A653-41FE-85EE-3A01245854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FB65D6-8441-4E78-B5FF-2897A40763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DDD694-D6E2-449B-B9E3-CE07501601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B951EF6-A9BB-447C-AC38-8F178735DDA8}" type="datetimeFigureOut">
              <a:rPr/>
              <a:t>2026/8/17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23EC35-471B-440F-8CE1-41F5555DEE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C0E101-993D-4197-BCF1-6740FCF901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FB65D6-8441-4E78-B5FF-2897A40763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2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1E5B807-583C-46F6-AD38-673DE14065C9}"/>
              </a:ext>
            </a:extLst>
          </p:cNvPr>
          <p:cNvSpPr>
            <a:spLocks noGrp="1"/>
          </p:cNvSpPr>
          <p:nvPr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0B3A9D-0C5C-4D2B-895E-76CB1AD6E0DF}"/>
              </a:ext>
            </a:extLst>
          </p:cNvPr>
          <p:cNvSpPr>
            <a:spLocks noGrp="1"/>
          </p:cNvSpPr>
          <p:nvPr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49CE33-FC2F-4100-A187-FB208897E54C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45AF0F-9307-4679-B10A-5A42C6511BAC}"/>
              </a:ext>
            </a:extLst>
          </p:cNvPr>
          <p:cNvSpPr>
            <a:spLocks noGrp="1"/>
          </p:cNvSpPr>
          <p:nvPr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16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本PPT模板正参与</a:t>
            </a: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E8AFBE-9B1A-41A2-8709-913837283D74}"/>
              </a:ext>
            </a:extLst>
          </p:cNvPr>
          <p:cNvSpPr>
            <a:spLocks noGrp="1"/>
          </p:cNvSpPr>
          <p:nvPr/>
        </p:nvSpPr>
        <p:spPr>
          <a:xfrm>
            <a:off x="3602350" y="2482543"/>
            <a:ext cx="4987300" cy="400109"/>
          </a:xfrm>
          <a:prstGeom prst="rect">
            <a:avLst/>
          </a:prstGeom>
          <a:gradFill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1" i="0" u="none" kern="1200" cap="none" spc="0" baseline="0">
              <a:ln>
                <a:noFill/>
              </a:ln>
              <a:solidFill>
                <a:srgbClr val="0E5177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33694C-0027-4AC8-8960-A568574C6E08}"/>
              </a:ext>
            </a:extLst>
          </p:cNvPr>
          <p:cNvSpPr>
            <a:spLocks noGrp="1"/>
          </p:cNvSpPr>
          <p:nvPr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第一届高校PPT模板设计大赛 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524B7A-9267-426D-A9AD-705E28D829E6}"/>
              </a:ext>
            </a:extLst>
          </p:cNvPr>
          <p:cNvSpPr>
            <a:spLocks noGrp="1"/>
          </p:cNvSpPr>
          <p:nvPr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 marL="0" marR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15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微信扫码</a:t>
            </a:r>
            <a:endParaRPr sz="1800" b="0" i="0" u="none" kern="1200" cap="none" spc="15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15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来聆听模板作者</a:t>
            </a:r>
            <a:endParaRPr sz="1800" b="0" i="0" u="none" kern="1200" cap="none" spc="15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15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设计灵感、制作思路</a:t>
            </a:r>
            <a:endParaRPr sz="1800" b="0" i="0" u="none" kern="1200" cap="none" spc="15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8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29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E928725-E2E3-4FE3-850E-153BEF02A6B4}"/>
              </a:ext>
            </a:extLst>
          </p:cNvPr>
          <p:cNvSpPr>
            <a:spLocks noGrp="1"/>
          </p:cNvSpPr>
          <p:nvPr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 spc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latin typeface="微软雅黑"/>
                <a:ea typeface="微软雅黑"/>
                <a:cs typeface="微软雅黑"/>
              </a:rPr>
              <a:t>活动主办：秋叶PPT</a:t>
            </a:r>
            <a:endParaRPr sz="1100" b="0" i="0" u="none" kern="1200" cap="none" spc="0" baseline="0">
              <a:ln>
                <a:noFill/>
              </a:ln>
              <a:solidFill>
                <a:prstClr val="white">
                  <a:lumMod val="7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26649E-2189-4E94-85EA-DA1870CB3F10}"/>
              </a:ext>
            </a:extLst>
          </p:cNvPr>
          <p:cNvSpPr>
            <a:spLocks noGrp="1"/>
          </p:cNvSpPr>
          <p:nvPr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 spc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latin typeface="微软雅黑"/>
                <a:ea typeface="微软雅黑"/>
                <a:cs typeface="微软雅黑"/>
              </a:rPr>
              <a:t>技术支持：微软听听文档</a:t>
            </a:r>
            <a:endParaRPr sz="1100" b="0" i="0" u="none" kern="1200" cap="none" spc="0" baseline="0">
              <a:ln>
                <a:noFill/>
              </a:ln>
              <a:solidFill>
                <a:prstClr val="white">
                  <a:lumMod val="7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556E5D-3124-4139-B720-3908439023D7}"/>
              </a:ext>
            </a:extLst>
          </p:cNvPr>
          <p:cNvSpPr>
            <a:spLocks noGrp="1"/>
          </p:cNvSpPr>
          <p:nvPr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396CE7C-F42B-465E-A5C8-5884F97DAA7E}"/>
              </a:ext>
            </a:extLst>
          </p:cNvPr>
          <p:cNvSpPr>
            <a:spLocks noGrp="1"/>
          </p:cNvSpPr>
          <p:nvPr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标注</a:t>
            </a: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C39FA3-7B74-4690-A845-B0595182B046}"/>
              </a:ext>
            </a:extLst>
          </p:cNvPr>
          <p:cNvSpPr>
            <a:spLocks noGrp="1"/>
          </p:cNvSpPr>
          <p:nvPr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使用说明 </a:t>
            </a:r>
            <a:endParaRPr sz="14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声明</a:t>
            </a:r>
            <a:endParaRPr sz="14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B78BF5-35F3-451C-8C3B-4D1528E62A28}"/>
              </a:ext>
            </a:extLst>
          </p:cNvPr>
          <p:cNvSpPr>
            <a:spLocks noGrp="1"/>
          </p:cNvSpPr>
          <p:nvPr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本PPT模板为作者原创，著作权归作者所有。</a:t>
            </a:r>
            <a:endParaRPr sz="14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您仅可以个人非商业用途使用本PPT模板，</a:t>
            </a: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+mn-lt"/>
                <a:ea typeface="+mn-lt"/>
                <a:cs typeface="+mn-lt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sz="1400" b="0" i="0" u="none" cap="none" spc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，</a:t>
            </a: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+mn-lt"/>
                <a:ea typeface="+mn-lt"/>
                <a:cs typeface="+mn-lt"/>
              </a:rPr>
              <a:t>否则将承担法律责任。</a:t>
            </a:r>
            <a:endParaRPr sz="14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OfficePLUS尊重知识产权并注重保护用户享有的各项权利。</a:t>
            </a:r>
            <a:endParaRPr sz="14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marL="0" marR="0" lvl="0" indent="0" defTabSz="609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OfficePLUS拥有对本PPT模板进行展示、报道、宣传及用于市场活动的权利，若在比赛或商业应用过程中发生版权纠纷，其法律责任由作者本人承担。</a:t>
            </a:r>
            <a:endParaRPr sz="14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51F2F3-846F-4290-BBF7-09327F42FB00}"/>
              </a:ext>
            </a:extLst>
          </p:cNvPr>
          <p:cNvSpPr>
            <a:spLocks noGrp="1"/>
          </p:cNvSpPr>
          <p:nvPr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 b="0" i="0" u="none" cap="none" spc="0">
                <a:ln>
                  <a:noFill/>
                </a:ln>
                <a:solidFill>
                  <a:prstClr val="white"/>
                </a:solidFill>
                <a:latin typeface="Segoe UI Light"/>
                <a:ea typeface="Segoe UI Light"/>
                <a:cs typeface="Segoe UI Light"/>
              </a:rPr>
              <a:t>OfficePLUS</a:t>
            </a:r>
            <a:endParaRPr sz="1000" b="0" i="0" u="none" kern="0" cap="none" spc="0" baseline="0">
              <a:ln>
                <a:noFill/>
              </a:ln>
              <a:solidFill>
                <a:prstClr val="white"/>
              </a:solidFill>
              <a:latin typeface="Segoe UI Light"/>
              <a:ea typeface="Segoe UI Light"/>
              <a:cs typeface="Segoe UI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A8BC7B-3166-4818-96A7-519BEC5FDC5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51EF6-A9BB-447C-AC38-8F178735DDA8}" type="datetimeFigureOut">
              <a:rPr/>
              <a:t>2026/8/17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F9E420-4C4C-49F3-B097-B1E893FA12F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202F28-07F4-4499-9158-AC07341F337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B65D6-8441-4E78-B5FF-2897A40763CC}" type="slidenum">
              <a:rPr/>
              <a:t>‹#›</a:t>
            </a:fld>
            <a:endParaRPr/>
          </a:p>
        </p:txBody>
      </p:sp>
      <p:pic>
        <p:nvPicPr>
          <p:cNvPr id="16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6321" y="393675"/>
            <a:ext cx="535935" cy="521413"/>
          </a:xfrm>
          <a:prstGeom prst="rect">
            <a:avLst/>
          </a:prstGeom>
        </p:spPr>
      </p:pic>
      <p:pic>
        <p:nvPicPr>
          <p:cNvPr id="17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20325" y="451188"/>
            <a:ext cx="1775750" cy="441898"/>
          </a:xfrm>
          <a:prstGeom prst="rect">
            <a:avLst/>
          </a:prstGeom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7BD6AB4C-0623-475E-8702-1920653B58F9}"/>
              </a:ext>
            </a:extLst>
          </p:cNvPr>
          <p:cNvSpPr>
            <a:spLocks noGrp="1"/>
          </p:cNvSpPr>
          <p:nvPr/>
        </p:nvSpPr>
        <p:spPr>
          <a:xfrm>
            <a:off x="420130" y="981075"/>
            <a:ext cx="11351741" cy="0"/>
          </a:xfrm>
          <a:prstGeom prst="line">
            <a:avLst/>
          </a:prstGeom>
          <a:ln w="12700">
            <a:solidFill>
              <a:srgbClr val="AB2B2B">
                <a:alpha val="62000"/>
              </a:srgbClr>
            </a:solidFill>
          </a:ln>
          <a:effectLst>
            <a:outerShdw blurRad="50800" dist="38100" dir="5400000" algn="t" rotWithShape="0">
              <a:srgbClr val="D9D7DA">
                <a:alpha val="6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44F2C9C3-B32E-4357-B5CE-4AE729CDCF63}"/>
              </a:ext>
            </a:extLst>
          </p:cNvPr>
          <p:cNvSpPr>
            <a:spLocks noGrp="1"/>
          </p:cNvSpPr>
          <p:nvPr/>
        </p:nvSpPr>
        <p:spPr>
          <a:xfrm>
            <a:off x="2776746" y="4635211"/>
            <a:ext cx="6638508" cy="2476239"/>
          </a:xfrm>
          <a:prstGeom prst="rect">
            <a:avLst/>
          </a:prstGeom>
          <a:blipFill rotWithShape="1">
            <a:blip r:embed="rId3">
              <a:alphaModFix amt="5000"/>
            </a:blip>
            <a:srcRect/>
            <a:stretch>
              <a:fillRect t="-50527" b="1"/>
            </a:stretch>
          </a:blip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87A43E8-35C6-4EA3-B87A-160EB84F24B1}"/>
              </a:ext>
            </a:extLst>
          </p:cNvPr>
          <p:cNvSpPr>
            <a:spLocks noGrp="1"/>
          </p:cNvSpPr>
          <p:nvPr/>
        </p:nvSpPr>
        <p:spPr>
          <a:xfrm>
            <a:off x="5198480" y="5950268"/>
            <a:ext cx="1779187" cy="365422"/>
          </a:xfrm>
          <a:prstGeom prst="roundRect">
            <a:avLst>
              <a:gd name="adj" fmla="val 6648"/>
            </a:avLst>
          </a:prstGeom>
          <a:solidFill>
            <a:srgbClr val="AB2B2B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34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478" y="395225"/>
            <a:ext cx="1200693" cy="1172676"/>
          </a:xfrm>
          <a:prstGeom prst="rect">
            <a:avLst/>
          </a:prstGeom>
        </p:spPr>
      </p:pic>
      <p:pic>
        <p:nvPicPr>
          <p:cNvPr id="35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5200" y="1572078"/>
            <a:ext cx="1641600" cy="372095"/>
          </a:xfrm>
          <a:prstGeom prst="rect">
            <a:avLst/>
          </a:prstGeom>
        </p:spPr>
      </p:pic>
      <p:sp>
        <p:nvSpPr>
          <p:cNvPr id="8" name="直接连接符 7">
            <a:extLst>
              <a:ext uri="{FF2B5EF4-FFF2-40B4-BE49-F238E27FC236}">
                <a16:creationId xmlns:a16="http://schemas.microsoft.com/office/drawing/2014/main" id="{FB0A958B-DB23-4203-9E20-FB00535FEBBB}"/>
              </a:ext>
            </a:extLst>
          </p:cNvPr>
          <p:cNvSpPr>
            <a:spLocks noGrp="1"/>
          </p:cNvSpPr>
          <p:nvPr/>
        </p:nvSpPr>
        <p:spPr>
          <a:xfrm>
            <a:off x="2486290" y="2432693"/>
            <a:ext cx="7219421" cy="0"/>
          </a:xfrm>
          <a:prstGeom prst="line">
            <a:avLst/>
          </a:prstGeom>
          <a:ln w="12700">
            <a:solidFill>
              <a:srgbClr val="AB2B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482D8D7A-58C7-4A0B-A49F-6078E3ED9176}"/>
              </a:ext>
            </a:extLst>
          </p:cNvPr>
          <p:cNvSpPr>
            <a:spLocks noGrp="1"/>
          </p:cNvSpPr>
          <p:nvPr/>
        </p:nvSpPr>
        <p:spPr>
          <a:xfrm>
            <a:off x="2486290" y="4401169"/>
            <a:ext cx="7219421" cy="0"/>
          </a:xfrm>
          <a:prstGeom prst="line">
            <a:avLst/>
          </a:prstGeom>
          <a:ln w="12700">
            <a:solidFill>
              <a:srgbClr val="AB2B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021B48-B403-446C-881E-4CF9FF1DD225}"/>
              </a:ext>
            </a:extLst>
          </p:cNvPr>
          <p:cNvSpPr>
            <a:spLocks noGrp="1"/>
          </p:cNvSpPr>
          <p:nvPr/>
        </p:nvSpPr>
        <p:spPr>
          <a:xfrm>
            <a:off x="1401648" y="2586176"/>
            <a:ext cx="9388704" cy="222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3000"/>
            </a:pPr>
            <a:r>
              <a:rPr sz="3000" b="1" spc="200">
                <a:solidFill>
                  <a:srgbClr val="AB2B2B"/>
                </a:solidFill>
                <a:latin typeface="微软雅黑"/>
                <a:ea typeface="微软雅黑"/>
                <a:cs typeface="微软雅黑"/>
              </a:rPr>
              <a:t>OpenHarmony 端侧智能推理系统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FD7954-5F46-48EC-A756-44BFA7D2298E}"/>
              </a:ext>
            </a:extLst>
          </p:cNvPr>
          <p:cNvSpPr>
            <a:spLocks noGrp="1"/>
          </p:cNvSpPr>
          <p:nvPr/>
        </p:nvSpPr>
        <p:spPr>
          <a:xfrm>
            <a:off x="3238500" y="3676650"/>
            <a:ext cx="5715000" cy="534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200"/>
            </a:pPr>
            <a:r>
              <a:rPr sz="1200" b="1" spc="200">
                <a:latin typeface="微软雅黑 Light"/>
                <a:ea typeface="微软雅黑 Light"/>
                <a:cs typeface="微软雅黑 Light"/>
              </a:rPr>
              <a:t>2026 年 OS </a:t>
            </a:r>
            <a:r>
              <a:rPr sz="1200" b="1" spc="200" err="1">
                <a:latin typeface="微软雅黑 Light"/>
                <a:ea typeface="微软雅黑 Light"/>
                <a:cs typeface="微软雅黑 Light"/>
              </a:rPr>
              <a:t>国赛“功能挑战”作品答辩</a:t>
            </a:r>
            <a:endParaRPr sz="1200" b="1" spc="200">
              <a:latin typeface="微软雅黑 Light"/>
              <a:ea typeface="微软雅黑 Light"/>
              <a:cs typeface="微软雅黑 Light"/>
            </a:endParaRPr>
          </a:p>
          <a:p>
            <a:pPr algn="ctr">
              <a:lnSpc>
                <a:spcPct val="125000"/>
              </a:lnSpc>
              <a:buNone/>
              <a:defRPr sz="1200"/>
            </a:pPr>
            <a:r>
              <a:rPr lang="zh-CN" altLang="en-US" sz="1200" b="1" spc="200">
                <a:latin typeface="微软雅黑 Light"/>
                <a:ea typeface="微软雅黑 Light"/>
                <a:cs typeface="微软雅黑 Light"/>
              </a:rPr>
              <a:t>答辩人：杨洋</a:t>
            </a:r>
            <a:endParaRPr sz="1200" b="1" spc="200"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9C5628-974A-48AA-8971-4D29A2EF905F}"/>
              </a:ext>
            </a:extLst>
          </p:cNvPr>
          <p:cNvSpPr>
            <a:spLocks noGrp="1"/>
          </p:cNvSpPr>
          <p:nvPr/>
        </p:nvSpPr>
        <p:spPr>
          <a:xfrm>
            <a:off x="5172180" y="5950268"/>
            <a:ext cx="1885288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275"/>
            </a:pPr>
            <a:r>
              <a:rPr lang="zh-CN" altLang="en-US" sz="1275" b="1" spc="2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团队名：</a:t>
            </a:r>
            <a:r>
              <a:rPr sz="1275" b="1" spc="2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全都做得队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A49C56-E5B8-4FCC-B4A6-604F378F6677}"/>
              </a:ext>
            </a:extLst>
          </p:cNvPr>
          <p:cNvSpPr>
            <a:spLocks noGrp="1"/>
          </p:cNvSpPr>
          <p:nvPr/>
        </p:nvSpPr>
        <p:spPr>
          <a:xfrm rot="19489470">
            <a:off x="2087430" y="75101"/>
            <a:ext cx="7815223" cy="70259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CDB92C-7864-4E47-8AC7-FD91901F91ED}"/>
              </a:ext>
            </a:extLst>
          </p:cNvPr>
          <p:cNvSpPr>
            <a:spLocks noGrp="1"/>
          </p:cNvSpPr>
          <p:nvPr/>
        </p:nvSpPr>
        <p:spPr>
          <a:xfrm rot="19677627">
            <a:off x="1696367" y="-185105"/>
            <a:ext cx="8799268" cy="7539332"/>
          </a:xfrm>
          <a:prstGeom prst="rect">
            <a:avLst/>
          </a:prstGeom>
          <a:noFill/>
          <a:ln w="393700">
            <a:gradFill rotWithShape="1">
              <a:gsLst>
                <a:gs pos="0">
                  <a:schemeClr val="accent3">
                    <a:lumMod val="67000"/>
                    <a:alpha val="0"/>
                  </a:schemeClr>
                </a:gs>
                <a:gs pos="75000">
                  <a:srgbClr val="D9D7DA">
                    <a:alpha val="36000"/>
                  </a:srgbClr>
                </a:gs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F24662-B354-4406-BA38-BEE200AC1DC0}"/>
              </a:ext>
            </a:extLst>
          </p:cNvPr>
          <p:cNvSpPr>
            <a:spLocks noGrp="1"/>
          </p:cNvSpPr>
          <p:nvPr/>
        </p:nvSpPr>
        <p:spPr>
          <a:xfrm rot="19689791">
            <a:off x="1250990" y="-594491"/>
            <a:ext cx="9690020" cy="8358103"/>
          </a:xfrm>
          <a:prstGeom prst="rect">
            <a:avLst/>
          </a:prstGeom>
          <a:noFill/>
          <a:ln w="25400">
            <a:solidFill>
              <a:srgbClr val="AB2B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8D53B7-31CA-40F8-A01A-6D9A7AAC8899}"/>
              </a:ext>
            </a:extLst>
          </p:cNvPr>
          <p:cNvSpPr>
            <a:spLocks noGrp="1"/>
          </p:cNvSpPr>
          <p:nvPr/>
        </p:nvSpPr>
        <p:spPr>
          <a:xfrm rot="19677627">
            <a:off x="837848" y="-966170"/>
            <a:ext cx="10516304" cy="9101460"/>
          </a:xfrm>
          <a:prstGeom prst="rect">
            <a:avLst/>
          </a:prstGeom>
          <a:noFill/>
          <a:ln w="304800">
            <a:gradFill rotWithShape="1">
              <a:gsLst>
                <a:gs pos="0">
                  <a:schemeClr val="accent3">
                    <a:lumMod val="67000"/>
                    <a:alpha val="0"/>
                  </a:schemeClr>
                </a:gs>
                <a:gs pos="69000">
                  <a:srgbClr val="D9D7DA">
                    <a:alpha val="32000"/>
                  </a:srgbClr>
                </a:gs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F0880F9-D049-498B-98CC-B4BA999C98FB}"/>
              </a:ext>
            </a:extLst>
          </p:cNvPr>
          <p:cNvSpPr>
            <a:spLocks noGrp="1"/>
          </p:cNvSpPr>
          <p:nvPr/>
        </p:nvSpPr>
        <p:spPr>
          <a:xfrm rot="19677627">
            <a:off x="631957" y="-1193179"/>
            <a:ext cx="10928087" cy="9555478"/>
          </a:xfrm>
          <a:prstGeom prst="rect">
            <a:avLst/>
          </a:prstGeom>
          <a:noFill/>
          <a:ln w="127000">
            <a:solidFill>
              <a:srgbClr val="AB2B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031B003F-2F88-4E38-ACCA-0F5B8E7D2F04}"/>
              </a:ext>
            </a:extLst>
          </p:cNvPr>
          <p:cNvSpPr>
            <a:spLocks noGrp="1"/>
          </p:cNvSpPr>
          <p:nvPr/>
        </p:nvSpPr>
        <p:spPr>
          <a:xfrm flipV="1">
            <a:off x="-1" y="-5"/>
            <a:ext cx="2809876" cy="1756941"/>
          </a:xfrm>
          <a:prstGeom prst="rtTriangle">
            <a:avLst/>
          </a:prstGeom>
          <a:solidFill>
            <a:srgbClr val="AB2B2B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B811A6E6-A688-49DE-8006-76F1FC3A010A}"/>
              </a:ext>
            </a:extLst>
          </p:cNvPr>
          <p:cNvSpPr>
            <a:spLocks noGrp="1"/>
          </p:cNvSpPr>
          <p:nvPr/>
        </p:nvSpPr>
        <p:spPr>
          <a:xfrm rot="16200000" flipV="1">
            <a:off x="-559805" y="4699477"/>
            <a:ext cx="2809876" cy="1756941"/>
          </a:xfrm>
          <a:prstGeom prst="rtTriangle">
            <a:avLst/>
          </a:prstGeom>
          <a:solidFill>
            <a:srgbClr val="AB2B2B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2" name="直角三角形 21">
            <a:extLst>
              <a:ext uri="{FF2B5EF4-FFF2-40B4-BE49-F238E27FC236}">
                <a16:creationId xmlns:a16="http://schemas.microsoft.com/office/drawing/2014/main" id="{5C1B8AF3-B94C-4698-87FB-ACE31DF67D72}"/>
              </a:ext>
            </a:extLst>
          </p:cNvPr>
          <p:cNvSpPr>
            <a:spLocks noGrp="1"/>
          </p:cNvSpPr>
          <p:nvPr/>
        </p:nvSpPr>
        <p:spPr>
          <a:xfrm rot="16200000" flipH="1">
            <a:off x="9801294" y="562042"/>
            <a:ext cx="2952749" cy="1828666"/>
          </a:xfrm>
          <a:prstGeom prst="rtTriangle">
            <a:avLst/>
          </a:prstGeom>
          <a:solidFill>
            <a:srgbClr val="AB2B2B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3" name="直角三角形 22">
            <a:extLst>
              <a:ext uri="{FF2B5EF4-FFF2-40B4-BE49-F238E27FC236}">
                <a16:creationId xmlns:a16="http://schemas.microsoft.com/office/drawing/2014/main" id="{95D61B8C-DECF-4E77-9E66-D4CC55446449}"/>
              </a:ext>
            </a:extLst>
          </p:cNvPr>
          <p:cNvSpPr>
            <a:spLocks noGrp="1"/>
          </p:cNvSpPr>
          <p:nvPr/>
        </p:nvSpPr>
        <p:spPr>
          <a:xfrm flipH="1">
            <a:off x="9783191" y="5443226"/>
            <a:ext cx="2442147" cy="1414770"/>
          </a:xfrm>
          <a:prstGeom prst="rtTriangle">
            <a:avLst/>
          </a:prstGeom>
          <a:solidFill>
            <a:srgbClr val="AB2B2B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FBBD7E-89E6-4681-ACD4-62576657665B}"/>
              </a:ext>
            </a:extLst>
          </p:cNvPr>
          <p:cNvSpPr>
            <a:spLocks noGrp="1"/>
          </p:cNvSpPr>
          <p:nvPr/>
        </p:nvSpPr>
        <p:spPr>
          <a:xfrm>
            <a:off x="5301347" y="5543485"/>
            <a:ext cx="158930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1600" spc="100">
                <a:latin typeface="Bahnschrift Light"/>
                <a:ea typeface="Bahnschrift Light"/>
                <a:cs typeface="Bahnschrift Light"/>
              </a:rPr>
              <a:t>2026-08-17</a:t>
            </a:r>
          </a:p>
        </p:txBody>
      </p:sp>
    </p:spTree>
    <p:extLst>
      <p:ext uri="{BB962C8B-B14F-4D97-AF65-F5344CB8AC3E}">
        <p14:creationId xmlns:p14="http://schemas.microsoft.com/office/powerpoint/2010/main" val="681762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63C141D-FBF7-837D-1326-D0BA2804C3D7}"/>
              </a:ext>
            </a:extLst>
          </p:cNvPr>
          <p:cNvSpPr txBox="1"/>
          <p:nvPr/>
        </p:nvSpPr>
        <p:spPr>
          <a:xfrm>
            <a:off x="508000" y="3556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0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项目概览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9E08B8D-9859-87C3-121B-65DFDAE0CB60}"/>
              </a:ext>
            </a:extLst>
          </p:cNvPr>
          <p:cNvSpPr txBox="1"/>
          <p:nvPr/>
        </p:nvSpPr>
        <p:spPr>
          <a:xfrm>
            <a:off x="1739900" y="355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300" b="1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赛题背景与团队分工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24D12F-6750-888B-6CE3-BBBA857FECD2}"/>
              </a:ext>
            </a:extLst>
          </p:cNvPr>
          <p:cNvSpPr txBox="1"/>
          <p:nvPr/>
        </p:nvSpPr>
        <p:spPr>
          <a:xfrm>
            <a:off x="609600" y="1193800"/>
            <a:ext cx="1244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赛题背景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9553F5B-85C3-694E-2817-1F334AE3F9F9}"/>
              </a:ext>
            </a:extLst>
          </p:cNvPr>
          <p:cNvCxnSpPr/>
          <p:nvPr/>
        </p:nvCxnSpPr>
        <p:spPr>
          <a:xfrm>
            <a:off x="1828800" y="1371600"/>
            <a:ext cx="3987800" cy="0"/>
          </a:xfrm>
          <a:prstGeom prst="line">
            <a:avLst/>
          </a:prstGeom>
          <a:ln w="12700">
            <a:solidFill>
              <a:srgbClr val="E0D6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2AF6451-E165-490A-E440-B6C4D2FCB863}"/>
              </a:ext>
            </a:extLst>
          </p:cNvPr>
          <p:cNvSpPr txBox="1"/>
          <p:nvPr/>
        </p:nvSpPr>
        <p:spPr>
          <a:xfrm>
            <a:off x="6350000" y="1193800"/>
            <a:ext cx="1244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团队分工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139A233-218E-145B-0538-7FB618545D56}"/>
              </a:ext>
            </a:extLst>
          </p:cNvPr>
          <p:cNvCxnSpPr/>
          <p:nvPr/>
        </p:nvCxnSpPr>
        <p:spPr>
          <a:xfrm>
            <a:off x="7569200" y="1371600"/>
            <a:ext cx="4013200" cy="0"/>
          </a:xfrm>
          <a:prstGeom prst="line">
            <a:avLst/>
          </a:prstGeom>
          <a:ln w="12700">
            <a:solidFill>
              <a:srgbClr val="E0D6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0F2DBF2-EA6F-EF86-2001-BEE530F888C2}"/>
              </a:ext>
            </a:extLst>
          </p:cNvPr>
          <p:cNvSpPr/>
          <p:nvPr/>
        </p:nvSpPr>
        <p:spPr>
          <a:xfrm>
            <a:off x="609600" y="1625600"/>
            <a:ext cx="5207000" cy="31876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4B28565-2B2A-0B92-833C-F3F1EF96E79B}"/>
              </a:ext>
            </a:extLst>
          </p:cNvPr>
          <p:cNvSpPr/>
          <p:nvPr/>
        </p:nvSpPr>
        <p:spPr>
          <a:xfrm>
            <a:off x="609600" y="1625600"/>
            <a:ext cx="5207000" cy="889000"/>
          </a:xfrm>
          <a:prstGeom prst="roundRect">
            <a:avLst>
              <a:gd name="adj" fmla="val 10000"/>
            </a:avLst>
          </a:prstGeom>
          <a:solidFill>
            <a:srgbClr val="F6EDEE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DBEB62C-048D-7B2F-4ACA-E9B12C75E164}"/>
              </a:ext>
            </a:extLst>
          </p:cNvPr>
          <p:cNvSpPr txBox="1"/>
          <p:nvPr/>
        </p:nvSpPr>
        <p:spPr>
          <a:xfrm>
            <a:off x="863600" y="17780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9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OpenHarmony 5.0.3 × Ascend 310B</a:t>
            </a:r>
            <a:endParaRPr lang="zh-CN" altLang="en-US" sz="1900" b="1">
              <a:solidFill>
                <a:srgbClr val="A6292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F1AE8F5-788D-BD87-9583-449CDFCD0A50}"/>
              </a:ext>
            </a:extLst>
          </p:cNvPr>
          <p:cNvSpPr txBox="1"/>
          <p:nvPr/>
        </p:nvSpPr>
        <p:spPr>
          <a:xfrm>
            <a:off x="863600" y="21590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让国产操作系统获得端侧 </a:t>
            </a:r>
            <a:r>
              <a:rPr lang="en-US" altLang="zh-CN" sz="12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NPU </a:t>
            </a:r>
            <a:r>
              <a:rPr lang="zh-CN" altLang="en-US" sz="12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推理能力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941DC9BA-072A-4EA8-799D-736523044984}"/>
              </a:ext>
            </a:extLst>
          </p:cNvPr>
          <p:cNvSpPr/>
          <p:nvPr/>
        </p:nvSpPr>
        <p:spPr>
          <a:xfrm>
            <a:off x="938129" y="2907615"/>
            <a:ext cx="317500" cy="317500"/>
          </a:xfrm>
          <a:prstGeom prst="ellipse">
            <a:avLst/>
          </a:prstGeom>
          <a:solidFill>
            <a:srgbClr val="A6292F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9AA1300-834D-90F5-FB0C-EBD60A5F93C8}"/>
              </a:ext>
            </a:extLst>
          </p:cNvPr>
          <p:cNvSpPr txBox="1"/>
          <p:nvPr/>
        </p:nvSpPr>
        <p:spPr>
          <a:xfrm>
            <a:off x="938129" y="2892026"/>
            <a:ext cx="317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05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F6D4408-C463-ACC8-85F1-64290D5AEB89}"/>
              </a:ext>
            </a:extLst>
          </p:cNvPr>
          <p:cNvSpPr txBox="1"/>
          <p:nvPr/>
        </p:nvSpPr>
        <p:spPr>
          <a:xfrm>
            <a:off x="1308100" y="27432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产业需求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5702A13-4893-B7D5-78C5-1072D1D4B6DA}"/>
              </a:ext>
            </a:extLst>
          </p:cNvPr>
          <p:cNvSpPr txBox="1"/>
          <p:nvPr/>
        </p:nvSpPr>
        <p:spPr>
          <a:xfrm>
            <a:off x="2235200" y="2730500"/>
            <a:ext cx="3200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6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边缘 </a:t>
            </a:r>
            <a:r>
              <a:rPr lang="en-US" altLang="zh-CN" sz="106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06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需要本地低时延、数据安全与高能效计算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1150FF9-23C6-A186-33A7-9173EFC65454}"/>
              </a:ext>
            </a:extLst>
          </p:cNvPr>
          <p:cNvCxnSpPr/>
          <p:nvPr/>
        </p:nvCxnSpPr>
        <p:spPr>
          <a:xfrm>
            <a:off x="1308100" y="3276600"/>
            <a:ext cx="4254500" cy="0"/>
          </a:xfrm>
          <a:prstGeom prst="line">
            <a:avLst/>
          </a:prstGeom>
          <a:ln w="8890">
            <a:solidFill>
              <a:srgbClr val="E0D6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椭圆 57">
            <a:extLst>
              <a:ext uri="{FF2B5EF4-FFF2-40B4-BE49-F238E27FC236}">
                <a16:creationId xmlns:a16="http://schemas.microsoft.com/office/drawing/2014/main" id="{E36D6AAE-EB89-6491-16C8-4B95BCDD9B2C}"/>
              </a:ext>
            </a:extLst>
          </p:cNvPr>
          <p:cNvSpPr/>
          <p:nvPr/>
        </p:nvSpPr>
        <p:spPr>
          <a:xfrm>
            <a:off x="914400" y="3559085"/>
            <a:ext cx="317500" cy="317500"/>
          </a:xfrm>
          <a:prstGeom prst="ellipse">
            <a:avLst/>
          </a:prstGeom>
          <a:solidFill>
            <a:srgbClr val="A6292F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2784A26-A546-05CD-355E-75AA04B82657}"/>
              </a:ext>
            </a:extLst>
          </p:cNvPr>
          <p:cNvSpPr txBox="1"/>
          <p:nvPr/>
        </p:nvSpPr>
        <p:spPr>
          <a:xfrm>
            <a:off x="925095" y="3531754"/>
            <a:ext cx="317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05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B3A11BF-3D5B-CB2A-FD7B-87C3C3E587E2}"/>
              </a:ext>
            </a:extLst>
          </p:cNvPr>
          <p:cNvSpPr txBox="1"/>
          <p:nvPr/>
        </p:nvSpPr>
        <p:spPr>
          <a:xfrm>
            <a:off x="1282700" y="338575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赛题目标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F9C8800-A768-B595-02AB-8E4510481FD6}"/>
              </a:ext>
            </a:extLst>
          </p:cNvPr>
          <p:cNvSpPr txBox="1"/>
          <p:nvPr/>
        </p:nvSpPr>
        <p:spPr>
          <a:xfrm>
            <a:off x="2197100" y="3394670"/>
            <a:ext cx="3200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6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在启智 </a:t>
            </a:r>
            <a:r>
              <a:rPr lang="en-US" altLang="zh-CN" sz="106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106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上打通系统适配、</a:t>
            </a:r>
            <a:r>
              <a:rPr lang="en-US" altLang="zh-CN" sz="106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CANN</a:t>
            </a:r>
            <a:r>
              <a:rPr lang="zh-CN" altLang="en-US" sz="106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06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YOLOv5 </a:t>
            </a:r>
            <a:r>
              <a:rPr lang="zh-CN" altLang="en-US" sz="106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与性能优化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FEC8A05B-88CA-5144-A133-FB540E920515}"/>
              </a:ext>
            </a:extLst>
          </p:cNvPr>
          <p:cNvSpPr/>
          <p:nvPr/>
        </p:nvSpPr>
        <p:spPr>
          <a:xfrm>
            <a:off x="863600" y="4233777"/>
            <a:ext cx="990600" cy="279400"/>
          </a:xfrm>
          <a:prstGeom prst="roundRect">
            <a:avLst/>
          </a:prstGeom>
          <a:solidFill>
            <a:srgbClr val="F7F8F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9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系统适配</a:t>
            </a: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DDC79E88-8C76-41D3-04C8-AC15E8E987BB}"/>
              </a:ext>
            </a:extLst>
          </p:cNvPr>
          <p:cNvSpPr/>
          <p:nvPr/>
        </p:nvSpPr>
        <p:spPr>
          <a:xfrm>
            <a:off x="2108200" y="4233777"/>
            <a:ext cx="1206500" cy="279400"/>
          </a:xfrm>
          <a:prstGeom prst="roundRect">
            <a:avLst/>
          </a:prstGeom>
          <a:solidFill>
            <a:srgbClr val="F7F8F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9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CANN </a:t>
            </a:r>
            <a:endParaRPr lang="zh-CN" altLang="en-US" sz="950" b="1">
              <a:solidFill>
                <a:srgbClr val="183E50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0371E8C9-0910-BD86-EB95-C2A5D62D198C}"/>
              </a:ext>
            </a:extLst>
          </p:cNvPr>
          <p:cNvSpPr/>
          <p:nvPr/>
        </p:nvSpPr>
        <p:spPr>
          <a:xfrm>
            <a:off x="3543300" y="4229100"/>
            <a:ext cx="990600" cy="279400"/>
          </a:xfrm>
          <a:prstGeom prst="roundRect">
            <a:avLst/>
          </a:prstGeom>
          <a:solidFill>
            <a:srgbClr val="F7F8F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9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YOLOv5</a:t>
            </a:r>
            <a:endParaRPr lang="zh-CN" altLang="en-US" sz="950" b="1">
              <a:solidFill>
                <a:srgbClr val="183E50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2F8DB318-04E0-7A96-8875-88EC2E2BCFE7}"/>
              </a:ext>
            </a:extLst>
          </p:cNvPr>
          <p:cNvSpPr/>
          <p:nvPr/>
        </p:nvSpPr>
        <p:spPr>
          <a:xfrm>
            <a:off x="4692650" y="4229100"/>
            <a:ext cx="965200" cy="279400"/>
          </a:xfrm>
          <a:prstGeom prst="roundRect">
            <a:avLst/>
          </a:prstGeom>
          <a:solidFill>
            <a:srgbClr val="F7F8F9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9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系统优化</a:t>
            </a: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0D591A5F-DBBA-4D32-04C7-2E8EA75ED54D}"/>
              </a:ext>
            </a:extLst>
          </p:cNvPr>
          <p:cNvSpPr/>
          <p:nvPr/>
        </p:nvSpPr>
        <p:spPr>
          <a:xfrm>
            <a:off x="6350000" y="1625600"/>
            <a:ext cx="5232400" cy="1168400"/>
          </a:xfrm>
          <a:prstGeom prst="roundRect">
            <a:avLst>
              <a:gd name="adj" fmla="val 12000"/>
            </a:avLst>
          </a:prstGeom>
          <a:solidFill>
            <a:srgbClr val="F6EDEE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4615A8F-4B60-7D8D-2ADF-14A47149EC37}"/>
              </a:ext>
            </a:extLst>
          </p:cNvPr>
          <p:cNvSpPr txBox="1"/>
          <p:nvPr/>
        </p:nvSpPr>
        <p:spPr>
          <a:xfrm>
            <a:off x="7150100" y="1765300"/>
            <a:ext cx="1320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0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潘孝成</a:t>
            </a: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1C1EFDF8-9D40-D20B-6DDB-DEE8B93F4561}"/>
              </a:ext>
            </a:extLst>
          </p:cNvPr>
          <p:cNvSpPr/>
          <p:nvPr/>
        </p:nvSpPr>
        <p:spPr>
          <a:xfrm>
            <a:off x="8061826" y="1840801"/>
            <a:ext cx="533400" cy="241300"/>
          </a:xfrm>
          <a:prstGeom prst="roundRect">
            <a:avLst/>
          </a:prstGeom>
          <a:solidFill>
            <a:srgbClr val="A6292F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9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队长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714407EB-F0FC-02F4-035A-819EB1AA57AA}"/>
              </a:ext>
            </a:extLst>
          </p:cNvPr>
          <p:cNvSpPr txBox="1"/>
          <p:nvPr/>
        </p:nvSpPr>
        <p:spPr>
          <a:xfrm>
            <a:off x="7150100" y="2120900"/>
            <a:ext cx="4140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YOLOv5 </a:t>
            </a:r>
            <a:r>
              <a:rPr lang="zh-CN" altLang="en-US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模型部署与推理脚本
内存优化</a:t>
            </a:r>
            <a:endParaRPr lang="en-US" altLang="zh-CN" sz="1080">
              <a:solidFill>
                <a:srgbClr val="262626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技术文档</a:t>
            </a: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78F35E3D-F832-3F6F-0A82-459744E16107}"/>
              </a:ext>
            </a:extLst>
          </p:cNvPr>
          <p:cNvSpPr/>
          <p:nvPr/>
        </p:nvSpPr>
        <p:spPr>
          <a:xfrm>
            <a:off x="6350000" y="2870199"/>
            <a:ext cx="5232400" cy="1416359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A9FD4D66-92E1-800F-B7CB-00BC785B1716}"/>
              </a:ext>
            </a:extLst>
          </p:cNvPr>
          <p:cNvSpPr txBox="1"/>
          <p:nvPr/>
        </p:nvSpPr>
        <p:spPr>
          <a:xfrm>
            <a:off x="7150100" y="2895599"/>
            <a:ext cx="1320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0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杨洋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C725787-20E6-8D3C-4D93-636B424356FE}"/>
              </a:ext>
            </a:extLst>
          </p:cNvPr>
          <p:cNvSpPr txBox="1"/>
          <p:nvPr/>
        </p:nvSpPr>
        <p:spPr>
          <a:xfrm>
            <a:off x="7150100" y="3227132"/>
            <a:ext cx="4140200" cy="10594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CANN </a:t>
            </a:r>
            <a:r>
              <a:rPr lang="zh-CN" altLang="en-US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移植</a:t>
            </a:r>
            <a:endParaRPr lang="en-US" altLang="zh-CN" sz="1080">
              <a:solidFill>
                <a:srgbClr val="262626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实时 </a:t>
            </a:r>
            <a:r>
              <a:rPr lang="en-US" altLang="zh-CN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开发
技术文档</a:t>
            </a:r>
            <a:endParaRPr lang="en-US" altLang="zh-CN" sz="1080">
              <a:solidFill>
                <a:srgbClr val="262626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系统增量优化与工程固化</a:t>
            </a:r>
            <a:endParaRPr lang="en-US" altLang="zh-CN" sz="1080">
              <a:solidFill>
                <a:srgbClr val="262626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答辩</a:t>
            </a:r>
            <a:r>
              <a:rPr lang="en-US" altLang="zh-CN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PPT</a:t>
            </a:r>
          </a:p>
          <a:p>
            <a:r>
              <a:rPr lang="zh-CN" altLang="en-US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视频录制与剪辑</a:t>
            </a:r>
            <a:endParaRPr lang="en-US" altLang="zh-CN" sz="1080">
              <a:solidFill>
                <a:srgbClr val="262626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80">
              <a:solidFill>
                <a:srgbClr val="262626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6B2D8A98-1299-0453-70D6-E41F816ECA35}"/>
              </a:ext>
            </a:extLst>
          </p:cNvPr>
          <p:cNvSpPr/>
          <p:nvPr/>
        </p:nvSpPr>
        <p:spPr>
          <a:xfrm>
            <a:off x="6350000" y="4420272"/>
            <a:ext cx="5232400" cy="1066800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FE96962-275E-E0A9-BC1A-132CD4E9DE92}"/>
              </a:ext>
            </a:extLst>
          </p:cNvPr>
          <p:cNvSpPr txBox="1"/>
          <p:nvPr/>
        </p:nvSpPr>
        <p:spPr>
          <a:xfrm>
            <a:off x="7137400" y="4477058"/>
            <a:ext cx="1320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0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芦甲翔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A5F1B04-AAA4-955E-240E-FE8A1819A4A3}"/>
              </a:ext>
            </a:extLst>
          </p:cNvPr>
          <p:cNvSpPr txBox="1"/>
          <p:nvPr/>
        </p:nvSpPr>
        <p:spPr>
          <a:xfrm>
            <a:off x="7150100" y="4813299"/>
            <a:ext cx="4140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系统 </a:t>
            </a:r>
            <a:r>
              <a:rPr lang="en-US" altLang="zh-CN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模型适配与启动优化
测试验证</a:t>
            </a:r>
            <a:endParaRPr lang="en-US" altLang="zh-CN" sz="1080">
              <a:solidFill>
                <a:srgbClr val="262626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初赛</a:t>
            </a:r>
            <a:r>
              <a:rPr lang="en-US" altLang="zh-CN" sz="108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ppt</a:t>
            </a:r>
            <a:endParaRPr lang="zh-CN" altLang="en-US" sz="1080">
              <a:solidFill>
                <a:srgbClr val="262626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956173C1-CCC3-E868-4BA8-E5E51E6677B9}"/>
              </a:ext>
            </a:extLst>
          </p:cNvPr>
          <p:cNvSpPr txBox="1"/>
          <p:nvPr/>
        </p:nvSpPr>
        <p:spPr>
          <a:xfrm>
            <a:off x="712047" y="5639483"/>
            <a:ext cx="990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5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汇报结构</a:t>
            </a: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A2275986-5803-843D-82E3-37E5C0C8A1C7}"/>
              </a:ext>
            </a:extLst>
          </p:cNvPr>
          <p:cNvSpPr/>
          <p:nvPr/>
        </p:nvSpPr>
        <p:spPr>
          <a:xfrm>
            <a:off x="1739900" y="5715000"/>
            <a:ext cx="2209800" cy="457200"/>
          </a:xfrm>
          <a:prstGeom prst="roundRect">
            <a:avLst>
              <a:gd name="adj" fmla="val 12000"/>
            </a:avLst>
          </a:prstGeom>
          <a:solidFill>
            <a:srgbClr val="F6EDEE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825C66A-215A-3E4F-C1BD-7B5642C12433}"/>
              </a:ext>
            </a:extLst>
          </p:cNvPr>
          <p:cNvSpPr txBox="1"/>
          <p:nvPr/>
        </p:nvSpPr>
        <p:spPr>
          <a:xfrm>
            <a:off x="1739900" y="5715000"/>
            <a:ext cx="220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01  </a:t>
            </a:r>
            <a:r>
              <a:rPr lang="zh-CN" altLang="en-US" sz="11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基础性成果</a:t>
            </a: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AC70C71C-4F19-CBCB-CFC0-F67A397051AC}"/>
              </a:ext>
            </a:extLst>
          </p:cNvPr>
          <p:cNvSpPr/>
          <p:nvPr/>
        </p:nvSpPr>
        <p:spPr>
          <a:xfrm>
            <a:off x="4216400" y="5715000"/>
            <a:ext cx="2209800" cy="457200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3A7C5AF-706E-BD14-D268-4A12E5A41CAB}"/>
              </a:ext>
            </a:extLst>
          </p:cNvPr>
          <p:cNvSpPr txBox="1"/>
          <p:nvPr/>
        </p:nvSpPr>
        <p:spPr>
          <a:xfrm>
            <a:off x="4216400" y="5715000"/>
            <a:ext cx="220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02  </a:t>
            </a:r>
            <a:r>
              <a:rPr lang="zh-CN" altLang="en-US" sz="11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创新与增量</a:t>
            </a: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97D86719-F120-1BEE-B8E3-78581F9BA3E9}"/>
              </a:ext>
            </a:extLst>
          </p:cNvPr>
          <p:cNvSpPr/>
          <p:nvPr/>
        </p:nvSpPr>
        <p:spPr>
          <a:xfrm>
            <a:off x="6692900" y="5715000"/>
            <a:ext cx="2209800" cy="457200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D2C1CCB-4B98-B464-F5DD-5639C2AF715C}"/>
              </a:ext>
            </a:extLst>
          </p:cNvPr>
          <p:cNvSpPr txBox="1"/>
          <p:nvPr/>
        </p:nvSpPr>
        <p:spPr>
          <a:xfrm>
            <a:off x="6692900" y="5715000"/>
            <a:ext cx="220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03  </a:t>
            </a:r>
            <a:r>
              <a:rPr lang="zh-CN" altLang="en-US" sz="11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难题与解法</a:t>
            </a: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DB5FA7A2-0D75-729F-AEB5-1BC51234CD75}"/>
              </a:ext>
            </a:extLst>
          </p:cNvPr>
          <p:cNvSpPr/>
          <p:nvPr/>
        </p:nvSpPr>
        <p:spPr>
          <a:xfrm>
            <a:off x="9169400" y="5715000"/>
            <a:ext cx="2209800" cy="457200"/>
          </a:xfrm>
          <a:prstGeom prst="roundRect">
            <a:avLst>
              <a:gd name="adj" fmla="val 12000"/>
            </a:avLst>
          </a:prstGeom>
          <a:solidFill>
            <a:srgbClr val="F7F8F9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1D2E302E-1309-F4D3-4F5A-EF9F04CB8E04}"/>
              </a:ext>
            </a:extLst>
          </p:cNvPr>
          <p:cNvSpPr txBox="1"/>
          <p:nvPr/>
        </p:nvSpPr>
        <p:spPr>
          <a:xfrm>
            <a:off x="9169400" y="5715000"/>
            <a:ext cx="2209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04  </a:t>
            </a:r>
            <a:r>
              <a:rPr lang="zh-CN" altLang="en-US" sz="11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验收与展望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19283F51-7132-A8AA-11EC-07F7623B33FD}"/>
              </a:ext>
            </a:extLst>
          </p:cNvPr>
          <p:cNvSpPr txBox="1"/>
          <p:nvPr/>
        </p:nvSpPr>
        <p:spPr>
          <a:xfrm>
            <a:off x="3429000" y="6362700"/>
            <a:ext cx="5334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00">
                <a:solidFill>
                  <a:srgbClr val="5B6267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边缘智能需求 → 国产软硬件协同 → 端到端工程交付</a:t>
            </a:r>
          </a:p>
        </p:txBody>
      </p:sp>
    </p:spTree>
    <p:extLst>
      <p:ext uri="{BB962C8B-B14F-4D97-AF65-F5344CB8AC3E}">
        <p14:creationId xmlns:p14="http://schemas.microsoft.com/office/powerpoint/2010/main" val="1692244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B65D011-C78A-4F34-9EA4-560EAD824FE0}"/>
              </a:ext>
            </a:extLst>
          </p:cNvPr>
          <p:cNvSpPr>
            <a:spLocks noGrp="1"/>
          </p:cNvSpPr>
          <p:nvPr/>
        </p:nvSpPr>
        <p:spPr>
          <a:xfrm rot="19489470">
            <a:off x="1933679" y="160540"/>
            <a:ext cx="7815223" cy="70259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F6499C-3CF6-4C30-85B8-2C967252D6E6}"/>
              </a:ext>
            </a:extLst>
          </p:cNvPr>
          <p:cNvSpPr>
            <a:spLocks noGrp="1"/>
          </p:cNvSpPr>
          <p:nvPr/>
        </p:nvSpPr>
        <p:spPr>
          <a:xfrm rot="19157315">
            <a:off x="2320696" y="-907654"/>
            <a:ext cx="10706562" cy="10168242"/>
          </a:xfrm>
          <a:prstGeom prst="rect">
            <a:avLst/>
          </a:prstGeom>
          <a:noFill/>
          <a:ln w="393700">
            <a:gradFill rotWithShape="1">
              <a:gsLst>
                <a:gs pos="0">
                  <a:schemeClr val="accent3">
                    <a:lumMod val="67000"/>
                    <a:alpha val="0"/>
                  </a:schemeClr>
                </a:gs>
                <a:gs pos="75000">
                  <a:srgbClr val="D9D7DA">
                    <a:alpha val="36000"/>
                  </a:srgbClr>
                </a:gs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B1BAE0-D512-4591-9BF6-71ADF9F3BE59}"/>
              </a:ext>
            </a:extLst>
          </p:cNvPr>
          <p:cNvSpPr>
            <a:spLocks noGrp="1"/>
          </p:cNvSpPr>
          <p:nvPr/>
        </p:nvSpPr>
        <p:spPr>
          <a:xfrm rot="19169479">
            <a:off x="1778781" y="-1459790"/>
            <a:ext cx="11790390" cy="11272513"/>
          </a:xfrm>
          <a:prstGeom prst="rect">
            <a:avLst/>
          </a:prstGeom>
          <a:noFill/>
          <a:ln w="25400">
            <a:solidFill>
              <a:srgbClr val="EE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572D2F-CFD7-4429-A5B2-AB79663F73E8}"/>
              </a:ext>
            </a:extLst>
          </p:cNvPr>
          <p:cNvSpPr>
            <a:spLocks noGrp="1"/>
          </p:cNvSpPr>
          <p:nvPr/>
        </p:nvSpPr>
        <p:spPr>
          <a:xfrm rot="19157315">
            <a:off x="1276088" y="-1961070"/>
            <a:ext cx="12795776" cy="12275073"/>
          </a:xfrm>
          <a:prstGeom prst="rect">
            <a:avLst/>
          </a:prstGeom>
          <a:noFill/>
          <a:ln w="304800">
            <a:gradFill rotWithShape="1">
              <a:gsLst>
                <a:gs pos="0">
                  <a:schemeClr val="accent3">
                    <a:lumMod val="67000"/>
                    <a:alpha val="0"/>
                  </a:schemeClr>
                </a:gs>
                <a:gs pos="69000">
                  <a:srgbClr val="D9D7DA">
                    <a:alpha val="32000"/>
                  </a:srgbClr>
                </a:gs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C92892-2A35-411B-B970-A98E45C014D6}"/>
              </a:ext>
            </a:extLst>
          </p:cNvPr>
          <p:cNvSpPr>
            <a:spLocks noGrp="1"/>
          </p:cNvSpPr>
          <p:nvPr/>
        </p:nvSpPr>
        <p:spPr>
          <a:xfrm rot="19157315">
            <a:off x="1134416" y="-2202561"/>
            <a:ext cx="13211963" cy="1278234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5" name="ïŝḻïďè">
            <a:extLst>
              <a:ext uri="{FF2B5EF4-FFF2-40B4-BE49-F238E27FC236}">
                <a16:creationId xmlns:a16="http://schemas.microsoft.com/office/drawing/2014/main" id="{8C7508D1-3C3D-470A-8ADC-D46DB368F9BB}"/>
              </a:ext>
            </a:extLst>
          </p:cNvPr>
          <p:cNvSpPr>
            <a:spLocks noGrp="1"/>
          </p:cNvSpPr>
          <p:nvPr/>
        </p:nvSpPr>
        <p:spPr>
          <a:xfrm>
            <a:off x="2164154" y="2282638"/>
            <a:ext cx="2637744" cy="20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sz="7200">
                <a:solidFill>
                  <a:srgbClr val="AB2B2B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  <a:p>
            <a:pPr>
              <a:lnSpc>
                <a:spcPct val="125000"/>
              </a:lnSpc>
              <a:buNone/>
            </a:pPr>
            <a:r>
              <a:rPr sz="3200">
                <a:solidFill>
                  <a:srgbClr val="AB2B2B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95DE5888-5F01-472A-B8BB-B3A01FFEC048}"/>
              </a:ext>
            </a:extLst>
          </p:cNvPr>
          <p:cNvSpPr>
            <a:spLocks noGrp="1"/>
          </p:cNvSpPr>
          <p:nvPr/>
        </p:nvSpPr>
        <p:spPr>
          <a:xfrm>
            <a:off x="2180003" y="2356287"/>
            <a:ext cx="2606048" cy="0"/>
          </a:xfrm>
          <a:prstGeom prst="line">
            <a:avLst/>
          </a:prstGeom>
          <a:ln w="9525">
            <a:solidFill>
              <a:srgbClr val="C00000"/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33593765-A01D-4F73-BD93-52065D481838}"/>
              </a:ext>
            </a:extLst>
          </p:cNvPr>
          <p:cNvSpPr>
            <a:spLocks noGrp="1"/>
          </p:cNvSpPr>
          <p:nvPr/>
        </p:nvSpPr>
        <p:spPr>
          <a:xfrm>
            <a:off x="2180003" y="4375719"/>
            <a:ext cx="2606048" cy="0"/>
          </a:xfrm>
          <a:prstGeom prst="line">
            <a:avLst/>
          </a:prstGeom>
          <a:ln w="38100">
            <a:solidFill>
              <a:srgbClr val="C00000"/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0" name="iŝlídé">
            <a:extLst>
              <a:ext uri="{FF2B5EF4-FFF2-40B4-BE49-F238E27FC236}">
                <a16:creationId xmlns:a16="http://schemas.microsoft.com/office/drawing/2014/main" id="{D6772840-08BA-4272-8239-66979FC8F3E2}"/>
              </a:ext>
            </a:extLst>
          </p:cNvPr>
          <p:cNvSpPr>
            <a:spLocks noGrp="1"/>
          </p:cNvSpPr>
          <p:nvPr/>
        </p:nvSpPr>
        <p:spPr>
          <a:xfrm>
            <a:off x="6407090" y="1562336"/>
            <a:ext cx="1575000" cy="48830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sz="2400">
                <a:solidFill>
                  <a:srgbClr val="C00000"/>
                </a:solidFill>
                <a:latin typeface="微软雅黑 Light"/>
                <a:ea typeface="微软雅黑 Light"/>
                <a:cs typeface="微软雅黑 Light"/>
              </a:rPr>
              <a:t>Part 01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BE96257-B694-4F06-A23E-67412A3F1A60}"/>
              </a:ext>
            </a:extLst>
          </p:cNvPr>
          <p:cNvSpPr>
            <a:spLocks noGrp="1"/>
          </p:cNvSpPr>
          <p:nvPr/>
        </p:nvSpPr>
        <p:spPr>
          <a:xfrm>
            <a:off x="8082695" y="1579971"/>
            <a:ext cx="1886088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基础性</a:t>
            </a: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成果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610DC6-7F0E-4702-88A7-2536F5D6EEFA}"/>
              </a:ext>
            </a:extLst>
          </p:cNvPr>
          <p:cNvSpPr>
            <a:spLocks noGrp="1"/>
          </p:cNvSpPr>
          <p:nvPr/>
        </p:nvSpPr>
        <p:spPr>
          <a:xfrm>
            <a:off x="6342584" y="1518945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3" name="íṡļîḓè">
            <a:extLst>
              <a:ext uri="{FF2B5EF4-FFF2-40B4-BE49-F238E27FC236}">
                <a16:creationId xmlns:a16="http://schemas.microsoft.com/office/drawing/2014/main" id="{82296086-D9FA-4DBF-8CAC-62E727649238}"/>
              </a:ext>
            </a:extLst>
          </p:cNvPr>
          <p:cNvSpPr>
            <a:spLocks noGrp="1"/>
          </p:cNvSpPr>
          <p:nvPr/>
        </p:nvSpPr>
        <p:spPr>
          <a:xfrm>
            <a:off x="6407090" y="2654175"/>
            <a:ext cx="1575000" cy="48830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sz="2400">
                <a:solidFill>
                  <a:srgbClr val="C00000"/>
                </a:solidFill>
                <a:latin typeface="微软雅黑 Light"/>
                <a:ea typeface="微软雅黑 Light"/>
                <a:cs typeface="微软雅黑 Light"/>
              </a:rPr>
              <a:t>Part 02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46B7EB2-1FBF-4E62-B114-56DAAD575526}"/>
              </a:ext>
            </a:extLst>
          </p:cNvPr>
          <p:cNvSpPr>
            <a:spLocks noGrp="1"/>
          </p:cNvSpPr>
          <p:nvPr/>
        </p:nvSpPr>
        <p:spPr>
          <a:xfrm>
            <a:off x="8082695" y="2684865"/>
            <a:ext cx="2011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创新与增量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91747AB-3EF9-40DC-8602-4EEE54DD6D0C}"/>
              </a:ext>
            </a:extLst>
          </p:cNvPr>
          <p:cNvSpPr>
            <a:spLocks noGrp="1"/>
          </p:cNvSpPr>
          <p:nvPr/>
        </p:nvSpPr>
        <p:spPr>
          <a:xfrm>
            <a:off x="6342585" y="2609177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6" name="îṣḻidé">
            <a:extLst>
              <a:ext uri="{FF2B5EF4-FFF2-40B4-BE49-F238E27FC236}">
                <a16:creationId xmlns:a16="http://schemas.microsoft.com/office/drawing/2014/main" id="{5FB3A251-9995-4EB6-9AE4-E80BF1C0A4CD}"/>
              </a:ext>
            </a:extLst>
          </p:cNvPr>
          <p:cNvSpPr>
            <a:spLocks noGrp="1"/>
          </p:cNvSpPr>
          <p:nvPr/>
        </p:nvSpPr>
        <p:spPr>
          <a:xfrm>
            <a:off x="6407090" y="3741363"/>
            <a:ext cx="1575000" cy="48830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sz="2400">
                <a:solidFill>
                  <a:srgbClr val="C00000"/>
                </a:solidFill>
                <a:latin typeface="微软雅黑 Light"/>
                <a:ea typeface="微软雅黑 Light"/>
                <a:cs typeface="微软雅黑 Light"/>
              </a:rPr>
              <a:t>Part 03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5FFDE2F-AD48-4C29-898B-5BFC2FB071B2}"/>
              </a:ext>
            </a:extLst>
          </p:cNvPr>
          <p:cNvSpPr>
            <a:spLocks noGrp="1"/>
          </p:cNvSpPr>
          <p:nvPr/>
        </p:nvSpPr>
        <p:spPr>
          <a:xfrm>
            <a:off x="6342585" y="3699409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9" name="ïśḻîḋé">
            <a:extLst>
              <a:ext uri="{FF2B5EF4-FFF2-40B4-BE49-F238E27FC236}">
                <a16:creationId xmlns:a16="http://schemas.microsoft.com/office/drawing/2014/main" id="{31286ECC-AC30-4519-A415-A1F845F84A76}"/>
              </a:ext>
            </a:extLst>
          </p:cNvPr>
          <p:cNvSpPr>
            <a:spLocks noGrp="1"/>
          </p:cNvSpPr>
          <p:nvPr/>
        </p:nvSpPr>
        <p:spPr>
          <a:xfrm>
            <a:off x="6407090" y="4826000"/>
            <a:ext cx="1575000" cy="48830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sz="2400">
                <a:solidFill>
                  <a:srgbClr val="C00000"/>
                </a:solidFill>
                <a:latin typeface="微软雅黑 Light"/>
                <a:ea typeface="微软雅黑 Light"/>
                <a:cs typeface="微软雅黑 Light"/>
              </a:rPr>
              <a:t>Part 04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C2D31CF-53C6-4870-912A-665268A2EB1A}"/>
              </a:ext>
            </a:extLst>
          </p:cNvPr>
          <p:cNvSpPr>
            <a:spLocks noGrp="1"/>
          </p:cNvSpPr>
          <p:nvPr/>
        </p:nvSpPr>
        <p:spPr>
          <a:xfrm>
            <a:off x="8082695" y="4846114"/>
            <a:ext cx="2011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验收与展望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2A561D2-E4FA-406A-B794-3D095BFF0DFD}"/>
              </a:ext>
            </a:extLst>
          </p:cNvPr>
          <p:cNvSpPr>
            <a:spLocks noGrp="1"/>
          </p:cNvSpPr>
          <p:nvPr/>
        </p:nvSpPr>
        <p:spPr>
          <a:xfrm>
            <a:off x="6342585" y="4789642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88129FE-6998-4E80-9876-7D7CABC500A9}"/>
              </a:ext>
            </a:extLst>
          </p:cNvPr>
          <p:cNvSpPr>
            <a:spLocks noGrp="1"/>
          </p:cNvSpPr>
          <p:nvPr/>
        </p:nvSpPr>
        <p:spPr>
          <a:xfrm>
            <a:off x="8082694" y="3754961"/>
            <a:ext cx="2011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难题与解法</a:t>
            </a:r>
          </a:p>
        </p:txBody>
      </p:sp>
      <p:pic>
        <p:nvPicPr>
          <p:cNvPr id="86" name="图片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924" y="6019421"/>
            <a:ext cx="535935" cy="521413"/>
          </a:xfrm>
          <a:prstGeom prst="rect">
            <a:avLst/>
          </a:prstGeom>
        </p:spPr>
      </p:pic>
      <p:pic>
        <p:nvPicPr>
          <p:cNvPr id="87" name="图片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2928" y="6076934"/>
            <a:ext cx="1775750" cy="441898"/>
          </a:xfrm>
          <a:prstGeom prst="rect">
            <a:avLst/>
          </a:prstGeom>
        </p:spPr>
      </p:pic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546BD11C-C5A3-4C34-A68A-1FA91CBB9C7C}"/>
              </a:ext>
            </a:extLst>
          </p:cNvPr>
          <p:cNvSpPr>
            <a:spLocks noGrp="1"/>
          </p:cNvSpPr>
          <p:nvPr/>
        </p:nvSpPr>
        <p:spPr>
          <a:xfrm>
            <a:off x="6342584" y="2190626"/>
            <a:ext cx="4077730" cy="0"/>
          </a:xfrm>
          <a:prstGeom prst="line">
            <a:avLst/>
          </a:prstGeom>
          <a:ln w="22225">
            <a:solidFill>
              <a:srgbClr val="C00000"/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E219BA0B-9C6F-43AD-97DB-BCA7D5D72520}"/>
              </a:ext>
            </a:extLst>
          </p:cNvPr>
          <p:cNvSpPr>
            <a:spLocks noGrp="1"/>
          </p:cNvSpPr>
          <p:nvPr/>
        </p:nvSpPr>
        <p:spPr>
          <a:xfrm>
            <a:off x="6342584" y="3290619"/>
            <a:ext cx="4077730" cy="0"/>
          </a:xfrm>
          <a:prstGeom prst="line">
            <a:avLst/>
          </a:prstGeom>
          <a:ln w="22225">
            <a:solidFill>
              <a:srgbClr val="C00000"/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C2508FF5-82B8-404F-9DD8-105FE8442FD3}"/>
              </a:ext>
            </a:extLst>
          </p:cNvPr>
          <p:cNvSpPr>
            <a:spLocks noGrp="1"/>
          </p:cNvSpPr>
          <p:nvPr/>
        </p:nvSpPr>
        <p:spPr>
          <a:xfrm>
            <a:off x="6342584" y="4371330"/>
            <a:ext cx="4077730" cy="0"/>
          </a:xfrm>
          <a:prstGeom prst="line">
            <a:avLst/>
          </a:prstGeom>
          <a:ln w="22225">
            <a:solidFill>
              <a:srgbClr val="C00000"/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A0ACEFCC-AC02-418C-8896-25A6D21E43D8}"/>
              </a:ext>
            </a:extLst>
          </p:cNvPr>
          <p:cNvSpPr>
            <a:spLocks noGrp="1"/>
          </p:cNvSpPr>
          <p:nvPr/>
        </p:nvSpPr>
        <p:spPr>
          <a:xfrm>
            <a:off x="6342584" y="5471323"/>
            <a:ext cx="4077730" cy="0"/>
          </a:xfrm>
          <a:prstGeom prst="line">
            <a:avLst/>
          </a:prstGeom>
          <a:ln w="22225">
            <a:solidFill>
              <a:srgbClr val="C00000"/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204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íṡlîḓè">
            <a:extLst>
              <a:ext uri="{FF2B5EF4-FFF2-40B4-BE49-F238E27FC236}">
                <a16:creationId xmlns:a16="http://schemas.microsoft.com/office/drawing/2014/main" id="{49647C48-E2DA-44A7-B974-23C30C82256D}"/>
              </a:ext>
            </a:extLst>
          </p:cNvPr>
          <p:cNvSpPr>
            <a:spLocks noGrp="1"/>
          </p:cNvSpPr>
          <p:nvPr/>
        </p:nvSpPr>
        <p:spPr>
          <a:xfrm>
            <a:off x="1106617" y="2198563"/>
            <a:ext cx="1655366" cy="1655365"/>
          </a:xfrm>
          <a:prstGeom prst="ellipse">
            <a:avLst/>
          </a:prstGeom>
          <a:noFill/>
          <a:ln w="38100" cmpd="sng">
            <a:solidFill>
              <a:srgbClr val="C00000">
                <a:alpha val="35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t">
            <a:normAutofit/>
          </a:bodyPr>
          <a:lstStyle/>
          <a:p>
            <a:pPr algn="ctr">
              <a:buNone/>
            </a:pPr>
            <a:r>
              <a:rPr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4/4</a:t>
            </a:r>
          </a:p>
        </p:txBody>
      </p:sp>
      <p:sp>
        <p:nvSpPr>
          <p:cNvPr id="35" name="ïšļîḓê">
            <a:extLst>
              <a:ext uri="{FF2B5EF4-FFF2-40B4-BE49-F238E27FC236}">
                <a16:creationId xmlns:a16="http://schemas.microsoft.com/office/drawing/2014/main" id="{D7ABB9C6-140B-44FD-8CBD-9193A7C9EFB9}"/>
              </a:ext>
            </a:extLst>
          </p:cNvPr>
          <p:cNvSpPr>
            <a:spLocks noGrp="1"/>
          </p:cNvSpPr>
          <p:nvPr/>
        </p:nvSpPr>
        <p:spPr>
          <a:xfrm>
            <a:off x="1106617" y="2998519"/>
            <a:ext cx="1655366" cy="855409"/>
          </a:xfrm>
          <a:custGeom>
            <a:avLst/>
            <a:gdLst>
              <a:gd name="connsiteX0" fmla="*/ 1644 w 1944216"/>
              <a:gd name="connsiteY0" fmla="*/ 0 h 1004672"/>
              <a:gd name="connsiteX1" fmla="*/ 1942572 w 1944216"/>
              <a:gd name="connsiteY1" fmla="*/ 0 h 1004672"/>
              <a:gd name="connsiteX2" fmla="*/ 1944216 w 1944216"/>
              <a:gd name="connsiteY2" fmla="*/ 32564 h 1004672"/>
              <a:gd name="connsiteX3" fmla="*/ 972108 w 1944216"/>
              <a:gd name="connsiteY3" fmla="*/ 1004672 h 1004672"/>
              <a:gd name="connsiteX4" fmla="*/ 0 w 1944216"/>
              <a:gd name="connsiteY4" fmla="*/ 32564 h 1004672"/>
              <a:gd name="connsiteX5" fmla="*/ 1644 w 1944216"/>
              <a:gd name="connsiteY5" fmla="*/ 0 h 1004672"/>
            </a:gdLst>
            <a:ahLst/>
            <a:cxnLst/>
            <a:rect l="l" t="t" r="r" b="b"/>
            <a:pathLst>
              <a:path w="1944216" h="1004672">
                <a:moveTo>
                  <a:pt x="1644" y="0"/>
                </a:moveTo>
                <a:lnTo>
                  <a:pt x="1942572" y="0"/>
                </a:lnTo>
                <a:lnTo>
                  <a:pt x="1944216" y="32564"/>
                </a:lnTo>
                <a:cubicBezTo>
                  <a:pt x="1944216" y="569444"/>
                  <a:pt x="1508988" y="1004672"/>
                  <a:pt x="972108" y="1004672"/>
                </a:cubicBezTo>
                <a:cubicBezTo>
                  <a:pt x="435228" y="1004672"/>
                  <a:pt x="0" y="569444"/>
                  <a:pt x="0" y="32564"/>
                </a:cubicBezTo>
                <a:lnTo>
                  <a:pt x="1644" y="0"/>
                </a:lnTo>
                <a:close/>
              </a:path>
            </a:pathLst>
          </a:custGeom>
          <a:solidFill>
            <a:srgbClr val="A6292F"/>
          </a:solidFill>
          <a:ln w="12700" cmpd="sng">
            <a:noFill/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sz="16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任务闭环</a:t>
            </a:r>
          </a:p>
        </p:txBody>
      </p:sp>
      <p:sp>
        <p:nvSpPr>
          <p:cNvPr id="28" name="ï$ľîḑê">
            <a:extLst>
              <a:ext uri="{FF2B5EF4-FFF2-40B4-BE49-F238E27FC236}">
                <a16:creationId xmlns:a16="http://schemas.microsoft.com/office/drawing/2014/main" id="{BFC24F4A-0C42-448C-962D-8B26B0A53B80}"/>
              </a:ext>
            </a:extLst>
          </p:cNvPr>
          <p:cNvSpPr>
            <a:spLocks noGrp="1"/>
          </p:cNvSpPr>
          <p:nvPr/>
        </p:nvSpPr>
        <p:spPr>
          <a:xfrm>
            <a:off x="3883684" y="2198563"/>
            <a:ext cx="1655366" cy="1655365"/>
          </a:xfrm>
          <a:prstGeom prst="ellipse">
            <a:avLst/>
          </a:prstGeom>
          <a:noFill/>
          <a:ln w="38100" cmpd="sng">
            <a:solidFill>
              <a:srgbClr val="C00000">
                <a:alpha val="35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t">
            <a:normAutofit/>
          </a:bodyPr>
          <a:lstStyle/>
          <a:p>
            <a:pPr algn="ctr">
              <a:buNone/>
            </a:pPr>
            <a:r>
              <a:rPr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0.9GB</a:t>
            </a:r>
          </a:p>
        </p:txBody>
      </p:sp>
      <p:sp>
        <p:nvSpPr>
          <p:cNvPr id="29" name="îśḻïdé">
            <a:extLst>
              <a:ext uri="{FF2B5EF4-FFF2-40B4-BE49-F238E27FC236}">
                <a16:creationId xmlns:a16="http://schemas.microsoft.com/office/drawing/2014/main" id="{7F3CCA20-62D0-4C2D-A41B-21D5F3298679}"/>
              </a:ext>
            </a:extLst>
          </p:cNvPr>
          <p:cNvSpPr>
            <a:spLocks noGrp="1"/>
          </p:cNvSpPr>
          <p:nvPr/>
        </p:nvSpPr>
        <p:spPr>
          <a:xfrm>
            <a:off x="3883684" y="2998519"/>
            <a:ext cx="1655366" cy="855409"/>
          </a:xfrm>
          <a:custGeom>
            <a:avLst/>
            <a:gdLst>
              <a:gd name="connsiteX0" fmla="*/ 1644 w 1944216"/>
              <a:gd name="connsiteY0" fmla="*/ 0 h 1004672"/>
              <a:gd name="connsiteX1" fmla="*/ 1942572 w 1944216"/>
              <a:gd name="connsiteY1" fmla="*/ 0 h 1004672"/>
              <a:gd name="connsiteX2" fmla="*/ 1944216 w 1944216"/>
              <a:gd name="connsiteY2" fmla="*/ 32564 h 1004672"/>
              <a:gd name="connsiteX3" fmla="*/ 972108 w 1944216"/>
              <a:gd name="connsiteY3" fmla="*/ 1004672 h 1004672"/>
              <a:gd name="connsiteX4" fmla="*/ 0 w 1944216"/>
              <a:gd name="connsiteY4" fmla="*/ 32564 h 1004672"/>
              <a:gd name="connsiteX5" fmla="*/ 1644 w 1944216"/>
              <a:gd name="connsiteY5" fmla="*/ 0 h 1004672"/>
            </a:gdLst>
            <a:ahLst/>
            <a:cxnLst/>
            <a:rect l="l" t="t" r="r" b="b"/>
            <a:pathLst>
              <a:path w="1944216" h="1004672">
                <a:moveTo>
                  <a:pt x="1644" y="0"/>
                </a:moveTo>
                <a:lnTo>
                  <a:pt x="1942572" y="0"/>
                </a:lnTo>
                <a:lnTo>
                  <a:pt x="1944216" y="32564"/>
                </a:lnTo>
                <a:cubicBezTo>
                  <a:pt x="1944216" y="569444"/>
                  <a:pt x="1508988" y="1004672"/>
                  <a:pt x="972108" y="1004672"/>
                </a:cubicBezTo>
                <a:cubicBezTo>
                  <a:pt x="435228" y="1004672"/>
                  <a:pt x="0" y="569444"/>
                  <a:pt x="0" y="32564"/>
                </a:cubicBezTo>
                <a:lnTo>
                  <a:pt x="1644" y="0"/>
                </a:lnTo>
                <a:close/>
              </a:path>
            </a:pathLst>
          </a:custGeom>
          <a:solidFill>
            <a:srgbClr val="A6292F"/>
          </a:solidFill>
          <a:ln w="12700" cmpd="sng">
            <a:noFill/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sz="16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运行内存</a:t>
            </a:r>
          </a:p>
        </p:txBody>
      </p:sp>
      <p:sp>
        <p:nvSpPr>
          <p:cNvPr id="22" name="îṩlîďè">
            <a:extLst>
              <a:ext uri="{FF2B5EF4-FFF2-40B4-BE49-F238E27FC236}">
                <a16:creationId xmlns:a16="http://schemas.microsoft.com/office/drawing/2014/main" id="{ECB1FBED-5BC0-4E07-93BD-3F0C86AC2586}"/>
              </a:ext>
            </a:extLst>
          </p:cNvPr>
          <p:cNvSpPr>
            <a:spLocks noGrp="1"/>
          </p:cNvSpPr>
          <p:nvPr/>
        </p:nvSpPr>
        <p:spPr>
          <a:xfrm>
            <a:off x="6660751" y="2198563"/>
            <a:ext cx="1655366" cy="1655365"/>
          </a:xfrm>
          <a:prstGeom prst="ellipse">
            <a:avLst/>
          </a:prstGeom>
          <a:noFill/>
          <a:ln w="38100" cmpd="sng">
            <a:solidFill>
              <a:srgbClr val="C00000">
                <a:alpha val="35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t">
            <a:normAutofit/>
          </a:bodyPr>
          <a:lstStyle/>
          <a:p>
            <a:pPr algn="ctr">
              <a:buNone/>
            </a:pPr>
            <a:r>
              <a:rPr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42s</a:t>
            </a:r>
          </a:p>
        </p:txBody>
      </p:sp>
      <p:sp>
        <p:nvSpPr>
          <p:cNvPr id="23" name="îşḻíḓé">
            <a:extLst>
              <a:ext uri="{FF2B5EF4-FFF2-40B4-BE49-F238E27FC236}">
                <a16:creationId xmlns:a16="http://schemas.microsoft.com/office/drawing/2014/main" id="{12715F49-B0DE-4D3D-B0CB-B41282287453}"/>
              </a:ext>
            </a:extLst>
          </p:cNvPr>
          <p:cNvSpPr>
            <a:spLocks noGrp="1"/>
          </p:cNvSpPr>
          <p:nvPr/>
        </p:nvSpPr>
        <p:spPr>
          <a:xfrm>
            <a:off x="6660751" y="2998519"/>
            <a:ext cx="1655366" cy="855409"/>
          </a:xfrm>
          <a:custGeom>
            <a:avLst/>
            <a:gdLst>
              <a:gd name="connsiteX0" fmla="*/ 1644 w 1944216"/>
              <a:gd name="connsiteY0" fmla="*/ 0 h 1004672"/>
              <a:gd name="connsiteX1" fmla="*/ 1942572 w 1944216"/>
              <a:gd name="connsiteY1" fmla="*/ 0 h 1004672"/>
              <a:gd name="connsiteX2" fmla="*/ 1944216 w 1944216"/>
              <a:gd name="connsiteY2" fmla="*/ 32564 h 1004672"/>
              <a:gd name="connsiteX3" fmla="*/ 972108 w 1944216"/>
              <a:gd name="connsiteY3" fmla="*/ 1004672 h 1004672"/>
              <a:gd name="connsiteX4" fmla="*/ 0 w 1944216"/>
              <a:gd name="connsiteY4" fmla="*/ 32564 h 1004672"/>
              <a:gd name="connsiteX5" fmla="*/ 1644 w 1944216"/>
              <a:gd name="connsiteY5" fmla="*/ 0 h 1004672"/>
            </a:gdLst>
            <a:ahLst/>
            <a:cxnLst/>
            <a:rect l="l" t="t" r="r" b="b"/>
            <a:pathLst>
              <a:path w="1944216" h="1004672">
                <a:moveTo>
                  <a:pt x="1644" y="0"/>
                </a:moveTo>
                <a:lnTo>
                  <a:pt x="1942572" y="0"/>
                </a:lnTo>
                <a:lnTo>
                  <a:pt x="1944216" y="32564"/>
                </a:lnTo>
                <a:cubicBezTo>
                  <a:pt x="1944216" y="569444"/>
                  <a:pt x="1508988" y="1004672"/>
                  <a:pt x="972108" y="1004672"/>
                </a:cubicBezTo>
                <a:cubicBezTo>
                  <a:pt x="435228" y="1004672"/>
                  <a:pt x="0" y="569444"/>
                  <a:pt x="0" y="32564"/>
                </a:cubicBezTo>
                <a:lnTo>
                  <a:pt x="1644" y="0"/>
                </a:lnTo>
                <a:close/>
              </a:path>
            </a:pathLst>
          </a:custGeom>
          <a:solidFill>
            <a:srgbClr val="A6292F"/>
          </a:solidFill>
          <a:ln w="12700" cmpd="sng">
            <a:noFill/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sz="16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开机时长</a:t>
            </a:r>
          </a:p>
        </p:txBody>
      </p:sp>
      <p:sp>
        <p:nvSpPr>
          <p:cNvPr id="16" name="ïṧ1ïde">
            <a:extLst>
              <a:ext uri="{FF2B5EF4-FFF2-40B4-BE49-F238E27FC236}">
                <a16:creationId xmlns:a16="http://schemas.microsoft.com/office/drawing/2014/main" id="{82613B4D-479F-4AE5-BF3D-AD396E0C7011}"/>
              </a:ext>
            </a:extLst>
          </p:cNvPr>
          <p:cNvSpPr>
            <a:spLocks noGrp="1"/>
          </p:cNvSpPr>
          <p:nvPr/>
        </p:nvSpPr>
        <p:spPr>
          <a:xfrm>
            <a:off x="9437819" y="2198563"/>
            <a:ext cx="1655366" cy="1655365"/>
          </a:xfrm>
          <a:prstGeom prst="ellipse">
            <a:avLst/>
          </a:prstGeom>
          <a:noFill/>
          <a:ln w="38100" cmpd="sng">
            <a:solidFill>
              <a:srgbClr val="C00000">
                <a:alpha val="35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t">
            <a:normAutofit/>
          </a:bodyPr>
          <a:lstStyle/>
          <a:p>
            <a:pPr algn="ctr">
              <a:buNone/>
            </a:pPr>
            <a:r>
              <a:rPr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18.5ms</a:t>
            </a:r>
          </a:p>
        </p:txBody>
      </p:sp>
      <p:sp>
        <p:nvSpPr>
          <p:cNvPr id="17" name="ïŝľïde">
            <a:extLst>
              <a:ext uri="{FF2B5EF4-FFF2-40B4-BE49-F238E27FC236}">
                <a16:creationId xmlns:a16="http://schemas.microsoft.com/office/drawing/2014/main" id="{FDA6F86E-BD14-4774-B511-10BC99101FCD}"/>
              </a:ext>
            </a:extLst>
          </p:cNvPr>
          <p:cNvSpPr>
            <a:spLocks noGrp="1"/>
          </p:cNvSpPr>
          <p:nvPr/>
        </p:nvSpPr>
        <p:spPr>
          <a:xfrm>
            <a:off x="9437819" y="2998519"/>
            <a:ext cx="1655366" cy="855409"/>
          </a:xfrm>
          <a:custGeom>
            <a:avLst/>
            <a:gdLst>
              <a:gd name="connsiteX0" fmla="*/ 1644 w 1944216"/>
              <a:gd name="connsiteY0" fmla="*/ 0 h 1004672"/>
              <a:gd name="connsiteX1" fmla="*/ 1942572 w 1944216"/>
              <a:gd name="connsiteY1" fmla="*/ 0 h 1004672"/>
              <a:gd name="connsiteX2" fmla="*/ 1944216 w 1944216"/>
              <a:gd name="connsiteY2" fmla="*/ 32564 h 1004672"/>
              <a:gd name="connsiteX3" fmla="*/ 972108 w 1944216"/>
              <a:gd name="connsiteY3" fmla="*/ 1004672 h 1004672"/>
              <a:gd name="connsiteX4" fmla="*/ 0 w 1944216"/>
              <a:gd name="connsiteY4" fmla="*/ 32564 h 1004672"/>
              <a:gd name="connsiteX5" fmla="*/ 1644 w 1944216"/>
              <a:gd name="connsiteY5" fmla="*/ 0 h 1004672"/>
            </a:gdLst>
            <a:ahLst/>
            <a:cxnLst/>
            <a:rect l="l" t="t" r="r" b="b"/>
            <a:pathLst>
              <a:path w="1944216" h="1004672">
                <a:moveTo>
                  <a:pt x="1644" y="0"/>
                </a:moveTo>
                <a:lnTo>
                  <a:pt x="1942572" y="0"/>
                </a:lnTo>
                <a:lnTo>
                  <a:pt x="1944216" y="32564"/>
                </a:lnTo>
                <a:cubicBezTo>
                  <a:pt x="1944216" y="569444"/>
                  <a:pt x="1508988" y="1004672"/>
                  <a:pt x="972108" y="1004672"/>
                </a:cubicBezTo>
                <a:cubicBezTo>
                  <a:pt x="435228" y="1004672"/>
                  <a:pt x="0" y="569444"/>
                  <a:pt x="0" y="32564"/>
                </a:cubicBezTo>
                <a:lnTo>
                  <a:pt x="1644" y="0"/>
                </a:lnTo>
                <a:close/>
              </a:path>
            </a:pathLst>
          </a:custGeom>
          <a:solidFill>
            <a:srgbClr val="A6292F"/>
          </a:solidFill>
          <a:ln w="12700" cmpd="sng">
            <a:noFill/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sz="16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单次推理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965CECFF-ED8D-4D7A-B626-9D8A0526E281}"/>
              </a:ext>
            </a:extLst>
          </p:cNvPr>
          <p:cNvSpPr>
            <a:spLocks noGrp="1"/>
          </p:cNvSpPr>
          <p:nvPr/>
        </p:nvSpPr>
        <p:spPr>
          <a:xfrm>
            <a:off x="3320955" y="1989767"/>
            <a:ext cx="0" cy="3756878"/>
          </a:xfrm>
          <a:prstGeom prst="line">
            <a:avLst/>
          </a:prstGeom>
          <a:ln w="3175">
            <a:solidFill>
              <a:srgbClr val="A6292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B1E22B57-972B-48DB-9494-784EBC67CC6E}"/>
              </a:ext>
            </a:extLst>
          </p:cNvPr>
          <p:cNvSpPr>
            <a:spLocks noGrp="1"/>
          </p:cNvSpPr>
          <p:nvPr/>
        </p:nvSpPr>
        <p:spPr>
          <a:xfrm>
            <a:off x="6098022" y="1989767"/>
            <a:ext cx="0" cy="3756878"/>
          </a:xfrm>
          <a:prstGeom prst="line">
            <a:avLst/>
          </a:prstGeom>
          <a:ln w="3175">
            <a:solidFill>
              <a:srgbClr val="A6292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C70AA883-5A00-4AC5-A53F-6E886EFF0B8D}"/>
              </a:ext>
            </a:extLst>
          </p:cNvPr>
          <p:cNvSpPr>
            <a:spLocks noGrp="1"/>
          </p:cNvSpPr>
          <p:nvPr/>
        </p:nvSpPr>
        <p:spPr>
          <a:xfrm>
            <a:off x="8875089" y="1989767"/>
            <a:ext cx="0" cy="3756878"/>
          </a:xfrm>
          <a:prstGeom prst="line">
            <a:avLst/>
          </a:prstGeom>
          <a:ln w="3175">
            <a:solidFill>
              <a:srgbClr val="A6292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437BB57-2AA7-443E-A881-0E6DF87F1408}"/>
              </a:ext>
            </a:extLst>
          </p:cNvPr>
          <p:cNvSpPr>
            <a:spLocks noGrp="1"/>
          </p:cNvSpPr>
          <p:nvPr/>
        </p:nvSpPr>
        <p:spPr>
          <a:xfrm>
            <a:off x="1233808" y="4230290"/>
            <a:ext cx="1448161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20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任务闭环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6D02901-A64C-41BB-8D99-A1593B6E4685}"/>
              </a:ext>
            </a:extLst>
          </p:cNvPr>
          <p:cNvSpPr>
            <a:spLocks noGrp="1"/>
          </p:cNvSpPr>
          <p:nvPr/>
        </p:nvSpPr>
        <p:spPr>
          <a:xfrm>
            <a:off x="4010875" y="4230290"/>
            <a:ext cx="1448161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20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内存压缩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AE8D96A-A83C-4E7E-BC9D-4F4CCC140698}"/>
              </a:ext>
            </a:extLst>
          </p:cNvPr>
          <p:cNvSpPr>
            <a:spLocks noGrp="1"/>
          </p:cNvSpPr>
          <p:nvPr/>
        </p:nvSpPr>
        <p:spPr>
          <a:xfrm>
            <a:off x="6784187" y="4230290"/>
            <a:ext cx="1448161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20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启动加速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BB55188-B551-4973-BB0A-96E85C36F2BC}"/>
              </a:ext>
            </a:extLst>
          </p:cNvPr>
          <p:cNvSpPr>
            <a:spLocks noGrp="1"/>
          </p:cNvSpPr>
          <p:nvPr/>
        </p:nvSpPr>
        <p:spPr>
          <a:xfrm>
            <a:off x="9565010" y="4230290"/>
            <a:ext cx="1448161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20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推理性能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13D96B-7560-4259-8DD7-476E585BB17C}"/>
              </a:ext>
            </a:extLst>
          </p:cNvPr>
          <p:cNvSpPr>
            <a:spLocks noGrp="1"/>
          </p:cNvSpPr>
          <p:nvPr/>
        </p:nvSpPr>
        <p:spPr>
          <a:xfrm>
            <a:off x="911225" y="4739356"/>
            <a:ext cx="217791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系统 / CANN / YOLO / 优化</a:t>
            </a:r>
            <a:endParaRPr sz="1400" spc="100">
              <a:solidFill>
                <a:schemeClr val="tx1">
                  <a:lumMod val="95000"/>
                  <a:lumOff val="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形成可验收闭环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5E28006-BA18-4322-86B8-D1E08827FF3C}"/>
              </a:ext>
            </a:extLst>
          </p:cNvPr>
          <p:cNvSpPr>
            <a:spLocks noGrp="1"/>
          </p:cNvSpPr>
          <p:nvPr/>
        </p:nvSpPr>
        <p:spPr>
          <a:xfrm>
            <a:off x="3651793" y="4739356"/>
            <a:ext cx="217791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由约 1.7GB 降至约 0.9GB</a:t>
            </a:r>
            <a:endParaRPr sz="1400" spc="100">
              <a:solidFill>
                <a:schemeClr val="tx1">
                  <a:lumMod val="95000"/>
                  <a:lumOff val="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降幅约 47%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81F683A-2F9F-45D7-A5B3-887AE4A852F2}"/>
              </a:ext>
            </a:extLst>
          </p:cNvPr>
          <p:cNvSpPr>
            <a:spLocks noGrp="1"/>
          </p:cNvSpPr>
          <p:nvPr/>
        </p:nvSpPr>
        <p:spPr>
          <a:xfrm>
            <a:off x="6428860" y="4739356"/>
            <a:ext cx="2177918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由 50s 缩短至约 42s</a:t>
            </a:r>
            <a:endParaRPr sz="1400" spc="100">
              <a:solidFill>
                <a:schemeClr val="tx1">
                  <a:lumMod val="95000"/>
                  <a:lumOff val="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降幅 16%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600C558-7942-4F0E-A9A7-2B0CE2AFBFA3}"/>
              </a:ext>
            </a:extLst>
          </p:cNvPr>
          <p:cNvSpPr>
            <a:spLocks noGrp="1"/>
          </p:cNvSpPr>
          <p:nvPr/>
        </p:nvSpPr>
        <p:spPr>
          <a:xfrm>
            <a:off x="9244936" y="4739356"/>
            <a:ext cx="217791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示例检测 3 个目标</a:t>
            </a:r>
            <a:endParaRPr sz="1400" spc="100">
              <a:solidFill>
                <a:schemeClr val="tx1">
                  <a:lumMod val="95000"/>
                  <a:lumOff val="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NPU 推理延迟 18.532ms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37E78A9-1590-4CA7-B17A-127E24CB3280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4921248" cy="585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01 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基础性成果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成果总览</a:t>
            </a:r>
          </a:p>
        </p:txBody>
      </p:sp>
    </p:spTree>
    <p:extLst>
      <p:ext uri="{BB962C8B-B14F-4D97-AF65-F5344CB8AC3E}">
        <p14:creationId xmlns:p14="http://schemas.microsoft.com/office/powerpoint/2010/main" val="1613013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>
            <a:extLst>
              <a:ext uri="{FF2B5EF4-FFF2-40B4-BE49-F238E27FC236}">
                <a16:creationId xmlns:a16="http://schemas.microsoft.com/office/drawing/2014/main" id="{CBE0133F-37B3-45BE-877E-3BC70BA38F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9000"/>
            </a:blip>
            <a:srcRect/>
            <a:stretch>
              <a:fillRect/>
            </a:stretch>
          </a:blipFill>
          <a:ln w="1270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EBEBEA-50E2-4F2A-909D-E135BDEB15A9}"/>
              </a:ext>
            </a:extLst>
          </p:cNvPr>
          <p:cNvSpPr>
            <a:spLocks noGrp="1"/>
          </p:cNvSpPr>
          <p:nvPr/>
        </p:nvSpPr>
        <p:spPr>
          <a:xfrm>
            <a:off x="911225" y="1976086"/>
            <a:ext cx="2495604" cy="38662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EAD1A79-C7EC-4C6E-8486-D4C8842AD762}"/>
              </a:ext>
            </a:extLst>
          </p:cNvPr>
          <p:cNvSpPr>
            <a:spLocks noGrp="1"/>
          </p:cNvSpPr>
          <p:nvPr/>
        </p:nvSpPr>
        <p:spPr>
          <a:xfrm>
            <a:off x="1032812" y="4978238"/>
            <a:ext cx="2238141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1050"/>
            </a:pPr>
            <a:r>
              <a:rPr sz="105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OpenHarmony 5.0.3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1050"/>
            </a:pPr>
            <a:r>
              <a:rPr sz="105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GUI 桌面、1080p HDMI、USB 外设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DF110AA-48BF-401A-9CCA-58B9F37BA246}"/>
              </a:ext>
            </a:extLst>
          </p:cNvPr>
          <p:cNvSpPr>
            <a:spLocks noGrp="1"/>
          </p:cNvSpPr>
          <p:nvPr/>
        </p:nvSpPr>
        <p:spPr>
          <a:xfrm>
            <a:off x="911225" y="4847740"/>
            <a:ext cx="2495604" cy="994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41ED87-07E9-4834-B525-2B54CF383EE4}"/>
              </a:ext>
            </a:extLst>
          </p:cNvPr>
          <p:cNvSpPr>
            <a:spLocks noGrp="1"/>
          </p:cNvSpPr>
          <p:nvPr/>
        </p:nvSpPr>
        <p:spPr>
          <a:xfrm>
            <a:off x="1859288" y="2528965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7CA5ECE5-B534-4F26-B67E-2B5592E7C702}"/>
              </a:ext>
            </a:extLst>
          </p:cNvPr>
          <p:cNvSpPr>
            <a:spLocks noGrp="1"/>
          </p:cNvSpPr>
          <p:nvPr/>
        </p:nvSpPr>
        <p:spPr>
          <a:xfrm>
            <a:off x="2151885" y="3146702"/>
            <a:ext cx="7141" cy="27544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6262FE0-8051-4C91-B003-5352B0F7A02D}"/>
              </a:ext>
            </a:extLst>
          </p:cNvPr>
          <p:cNvSpPr>
            <a:spLocks noGrp="1"/>
          </p:cNvSpPr>
          <p:nvPr/>
        </p:nvSpPr>
        <p:spPr>
          <a:xfrm>
            <a:off x="1760018" y="3467297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系统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ED54303-250A-404A-9965-661FC46C7CCC}"/>
              </a:ext>
            </a:extLst>
          </p:cNvPr>
          <p:cNvSpPr>
            <a:spLocks noGrp="1"/>
          </p:cNvSpPr>
          <p:nvPr/>
        </p:nvSpPr>
        <p:spPr>
          <a:xfrm>
            <a:off x="1039955" y="3964529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75"/>
            </a:pPr>
            <a:r>
              <a:rPr sz="975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OPENHARMONY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FD4788C-F086-4305-971E-4D63A03B51C8}"/>
              </a:ext>
            </a:extLst>
          </p:cNvPr>
          <p:cNvSpPr>
            <a:spLocks noGrp="1"/>
          </p:cNvSpPr>
          <p:nvPr/>
        </p:nvSpPr>
        <p:spPr>
          <a:xfrm>
            <a:off x="6217046" y="1976086"/>
            <a:ext cx="2495604" cy="38662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B09F291-A41C-41CD-B578-8913C70CAB23}"/>
              </a:ext>
            </a:extLst>
          </p:cNvPr>
          <p:cNvSpPr>
            <a:spLocks noGrp="1"/>
          </p:cNvSpPr>
          <p:nvPr/>
        </p:nvSpPr>
        <p:spPr>
          <a:xfrm>
            <a:off x="6338633" y="4978234"/>
            <a:ext cx="2238141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1050"/>
            </a:pPr>
            <a:r>
              <a:rPr sz="105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ONNX→OM、HDC 输入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1050"/>
            </a:pPr>
            <a:r>
              <a:rPr sz="105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NPU 推理、NMS、结果绘制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FDE4D6E-3517-44C6-AF85-B0A7E865CBD0}"/>
              </a:ext>
            </a:extLst>
          </p:cNvPr>
          <p:cNvSpPr>
            <a:spLocks noGrp="1"/>
          </p:cNvSpPr>
          <p:nvPr/>
        </p:nvSpPr>
        <p:spPr>
          <a:xfrm>
            <a:off x="6217046" y="4847735"/>
            <a:ext cx="2495604" cy="994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573512C-3A66-498D-ABD8-CFB5999E15DF}"/>
              </a:ext>
            </a:extLst>
          </p:cNvPr>
          <p:cNvSpPr>
            <a:spLocks noGrp="1"/>
          </p:cNvSpPr>
          <p:nvPr/>
        </p:nvSpPr>
        <p:spPr>
          <a:xfrm>
            <a:off x="7155639" y="2528965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9DC2F7EE-8B0F-44F1-A7C9-DAC396FF3A5F}"/>
              </a:ext>
            </a:extLst>
          </p:cNvPr>
          <p:cNvSpPr>
            <a:spLocks noGrp="1"/>
          </p:cNvSpPr>
          <p:nvPr/>
        </p:nvSpPr>
        <p:spPr>
          <a:xfrm>
            <a:off x="7448236" y="3146702"/>
            <a:ext cx="7141" cy="27544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D87FD43-A303-4B1C-A97E-FC17A191950D}"/>
              </a:ext>
            </a:extLst>
          </p:cNvPr>
          <p:cNvSpPr>
            <a:spLocks noGrp="1"/>
          </p:cNvSpPr>
          <p:nvPr/>
        </p:nvSpPr>
        <p:spPr>
          <a:xfrm>
            <a:off x="7056369" y="3467297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688579A-F428-44C9-8E1F-ABF7DCA7B798}"/>
              </a:ext>
            </a:extLst>
          </p:cNvPr>
          <p:cNvSpPr>
            <a:spLocks noGrp="1"/>
          </p:cNvSpPr>
          <p:nvPr/>
        </p:nvSpPr>
        <p:spPr>
          <a:xfrm>
            <a:off x="6329165" y="3964529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75"/>
            </a:pPr>
            <a:r>
              <a:rPr sz="975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YOLOV5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36AEE97-8AF5-49AB-B3E7-F42418409C92}"/>
              </a:ext>
            </a:extLst>
          </p:cNvPr>
          <p:cNvSpPr>
            <a:spLocks noGrp="1"/>
          </p:cNvSpPr>
          <p:nvPr/>
        </p:nvSpPr>
        <p:spPr>
          <a:xfrm>
            <a:off x="8869957" y="1976086"/>
            <a:ext cx="2495604" cy="38662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6F22428-7C11-477C-A27A-0D3334776085}"/>
              </a:ext>
            </a:extLst>
          </p:cNvPr>
          <p:cNvSpPr>
            <a:spLocks noGrp="1"/>
          </p:cNvSpPr>
          <p:nvPr/>
        </p:nvSpPr>
        <p:spPr>
          <a:xfrm>
            <a:off x="8869956" y="4835883"/>
            <a:ext cx="2496348" cy="100645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4DF67E2-A6E1-45F6-A412-0F2A4A19D5E6}"/>
              </a:ext>
            </a:extLst>
          </p:cNvPr>
          <p:cNvSpPr>
            <a:spLocks noGrp="1"/>
          </p:cNvSpPr>
          <p:nvPr/>
        </p:nvSpPr>
        <p:spPr>
          <a:xfrm>
            <a:off x="8992287" y="4968158"/>
            <a:ext cx="223814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1050"/>
            </a:pPr>
            <a:r>
              <a:rPr sz="105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启动 50→42s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1050"/>
            </a:pPr>
            <a:r>
              <a:rPr sz="105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内存 1.7→0.9GB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762D55C-9671-4891-AA20-66CEBB895802}"/>
              </a:ext>
            </a:extLst>
          </p:cNvPr>
          <p:cNvSpPr>
            <a:spLocks noGrp="1"/>
          </p:cNvSpPr>
          <p:nvPr/>
        </p:nvSpPr>
        <p:spPr>
          <a:xfrm>
            <a:off x="9771945" y="2528964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D3698A15-4700-4118-A506-787FFF4D4FF7}"/>
              </a:ext>
            </a:extLst>
          </p:cNvPr>
          <p:cNvSpPr>
            <a:spLocks noGrp="1"/>
          </p:cNvSpPr>
          <p:nvPr/>
        </p:nvSpPr>
        <p:spPr>
          <a:xfrm>
            <a:off x="10064542" y="3146701"/>
            <a:ext cx="7141" cy="275444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5518F82E-BE15-4564-BF6A-2D5780D99CFF}"/>
              </a:ext>
            </a:extLst>
          </p:cNvPr>
          <p:cNvSpPr>
            <a:spLocks noGrp="1"/>
          </p:cNvSpPr>
          <p:nvPr/>
        </p:nvSpPr>
        <p:spPr>
          <a:xfrm>
            <a:off x="9672675" y="3467295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优化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7DBE0D-8E4D-64B6-4A08-94E280CF57C2}"/>
              </a:ext>
            </a:extLst>
          </p:cNvPr>
          <p:cNvSpPr>
            <a:spLocks noGrp="1"/>
          </p:cNvSpPr>
          <p:nvPr/>
        </p:nvSpPr>
        <p:spPr>
          <a:xfrm>
            <a:off x="3564134" y="1976080"/>
            <a:ext cx="2495604" cy="38662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4493D7C-E59A-4E31-9FA4-2C429F27D1C4}"/>
              </a:ext>
            </a:extLst>
          </p:cNvPr>
          <p:cNvSpPr>
            <a:spLocks noGrp="1"/>
          </p:cNvSpPr>
          <p:nvPr/>
        </p:nvSpPr>
        <p:spPr>
          <a:xfrm>
            <a:off x="8945471" y="3945867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75"/>
            </a:pPr>
            <a:r>
              <a:rPr sz="975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PERFORMANCE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47AFC5B-1D4B-451B-8866-3F68DD1A571E}"/>
              </a:ext>
            </a:extLst>
          </p:cNvPr>
          <p:cNvSpPr>
            <a:spLocks noGrp="1"/>
          </p:cNvSpPr>
          <p:nvPr/>
        </p:nvSpPr>
        <p:spPr>
          <a:xfrm>
            <a:off x="3562387" y="4847739"/>
            <a:ext cx="2495604" cy="851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1FF251E-3D9E-429D-82D3-A1753FE22484}"/>
              </a:ext>
            </a:extLst>
          </p:cNvPr>
          <p:cNvSpPr>
            <a:spLocks noGrp="1"/>
          </p:cNvSpPr>
          <p:nvPr/>
        </p:nvSpPr>
        <p:spPr>
          <a:xfrm>
            <a:off x="3677837" y="4978236"/>
            <a:ext cx="2238141" cy="548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1050"/>
            </a:pPr>
            <a:r>
              <a:rPr sz="1050">
                <a:latin typeface="微软雅黑"/>
                <a:ea typeface="微软雅黑"/>
                <a:cs typeface="微软雅黑"/>
              </a:rPr>
              <a:t>CANN 8.2.RC1+</a:t>
            </a:r>
            <a:endParaRPr sz="1400"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1050"/>
            </a:pPr>
            <a:r>
              <a:rPr sz="1050">
                <a:latin typeface="微软雅黑"/>
                <a:ea typeface="微软雅黑"/>
                <a:cs typeface="微软雅黑"/>
              </a:rPr>
              <a:t>驱动、npu-smi、pyACL 验证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36E3D44-BCCD-4D72-91EB-158F3F55A4AE}"/>
              </a:ext>
            </a:extLst>
          </p:cNvPr>
          <p:cNvSpPr>
            <a:spLocks noGrp="1"/>
          </p:cNvSpPr>
          <p:nvPr/>
        </p:nvSpPr>
        <p:spPr>
          <a:xfrm>
            <a:off x="4475594" y="2528965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34FEB326-0BD4-416B-B71F-1120A02F4193}"/>
              </a:ext>
            </a:extLst>
          </p:cNvPr>
          <p:cNvSpPr>
            <a:spLocks noGrp="1"/>
          </p:cNvSpPr>
          <p:nvPr/>
        </p:nvSpPr>
        <p:spPr>
          <a:xfrm>
            <a:off x="4768191" y="3146702"/>
            <a:ext cx="7141" cy="27544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F344A4A-80E4-4D27-9843-F27DA2CBEBB8}"/>
              </a:ext>
            </a:extLst>
          </p:cNvPr>
          <p:cNvSpPr>
            <a:spLocks noGrp="1"/>
          </p:cNvSpPr>
          <p:nvPr/>
        </p:nvSpPr>
        <p:spPr>
          <a:xfrm>
            <a:off x="4376324" y="3467297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NPU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7E05917-8A62-44EF-99A6-51028C881179}"/>
              </a:ext>
            </a:extLst>
          </p:cNvPr>
          <p:cNvSpPr>
            <a:spLocks noGrp="1"/>
          </p:cNvSpPr>
          <p:nvPr/>
        </p:nvSpPr>
        <p:spPr>
          <a:xfrm>
            <a:off x="3716697" y="3952088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75"/>
            </a:pPr>
            <a:r>
              <a:rPr sz="975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CANN / NNRT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2ABF74-15F5-DA12-0CA6-6AA20D4A7DF0}"/>
              </a:ext>
            </a:extLst>
          </p:cNvPr>
          <p:cNvSpPr>
            <a:spLocks noGrp="1"/>
          </p:cNvSpPr>
          <p:nvPr/>
        </p:nvSpPr>
        <p:spPr>
          <a:xfrm>
            <a:off x="3556991" y="4842972"/>
            <a:ext cx="2495604" cy="994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A5D7B4-DC32-47FE-8FE6-818CF5974C8E}"/>
              </a:ext>
            </a:extLst>
          </p:cNvPr>
          <p:cNvSpPr>
            <a:spLocks noGrp="1"/>
          </p:cNvSpPr>
          <p:nvPr/>
        </p:nvSpPr>
        <p:spPr>
          <a:xfrm>
            <a:off x="911225" y="1976086"/>
            <a:ext cx="10454337" cy="386625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25">
            <a:extLst>
              <a:ext uri="{FF2B5EF4-FFF2-40B4-BE49-F238E27FC236}">
                <a16:creationId xmlns:a16="http://schemas.microsoft.com/office/drawing/2014/main" id="{56933654-0A84-58BA-4EB4-F45192D8B7A5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4921248" cy="585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01 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基础性成果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任务交付</a:t>
            </a:r>
            <a:endParaRPr sz="26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22022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直角三角形 60">
            <a:extLst>
              <a:ext uri="{FF2B5EF4-FFF2-40B4-BE49-F238E27FC236}">
                <a16:creationId xmlns:a16="http://schemas.microsoft.com/office/drawing/2014/main" id="{A93DBE2E-EF10-42C5-9514-ADEEF77A4342}"/>
              </a:ext>
            </a:extLst>
          </p:cNvPr>
          <p:cNvSpPr>
            <a:spLocks noGrp="1"/>
          </p:cNvSpPr>
          <p:nvPr/>
        </p:nvSpPr>
        <p:spPr>
          <a:xfrm flipH="1">
            <a:off x="8907746" y="2090837"/>
            <a:ext cx="3638285" cy="5103962"/>
          </a:xfrm>
          <a:prstGeom prst="rtTriangle">
            <a:avLst/>
          </a:prstGeom>
          <a:noFill/>
          <a:ln w="12700">
            <a:solidFill>
              <a:srgbClr val="EE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60" name="直角三角形 59">
            <a:extLst>
              <a:ext uri="{FF2B5EF4-FFF2-40B4-BE49-F238E27FC236}">
                <a16:creationId xmlns:a16="http://schemas.microsoft.com/office/drawing/2014/main" id="{67D07D20-9B48-42CF-83A0-66FCD005B389}"/>
              </a:ext>
            </a:extLst>
          </p:cNvPr>
          <p:cNvSpPr>
            <a:spLocks noGrp="1"/>
          </p:cNvSpPr>
          <p:nvPr/>
        </p:nvSpPr>
        <p:spPr>
          <a:xfrm flipH="1">
            <a:off x="9397515" y="2979708"/>
            <a:ext cx="2790411" cy="3914523"/>
          </a:xfrm>
          <a:prstGeom prst="rtTriangle">
            <a:avLst/>
          </a:prstGeom>
          <a:solidFill>
            <a:schemeClr val="bg1">
              <a:lumMod val="95000"/>
              <a:alpha val="38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" name="îsḻîḓe">
            <a:extLst>
              <a:ext uri="{FF2B5EF4-FFF2-40B4-BE49-F238E27FC236}">
                <a16:creationId xmlns:a16="http://schemas.microsoft.com/office/drawing/2014/main" id="{E26FBD19-EAC3-4A1E-894E-302FEAEB75D1}"/>
              </a:ext>
            </a:extLst>
          </p:cNvPr>
          <p:cNvSpPr>
            <a:spLocks noGrp="1"/>
          </p:cNvSpPr>
          <p:nvPr/>
        </p:nvSpPr>
        <p:spPr>
          <a:xfrm>
            <a:off x="229360" y="3433541"/>
            <a:ext cx="10858500" cy="4453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txBody>
          <a:bodyPr vert="horz" wrap="square" lIns="91440" tIns="45720" rIns="91440" bIns="45720" anchor="t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endParaRPr sz="2160"/>
          </a:p>
        </p:txBody>
      </p:sp>
      <p:sp>
        <p:nvSpPr>
          <p:cNvPr id="5" name="iṥḷiďe">
            <a:extLst>
              <a:ext uri="{FF2B5EF4-FFF2-40B4-BE49-F238E27FC236}">
                <a16:creationId xmlns:a16="http://schemas.microsoft.com/office/drawing/2014/main" id="{13E67D8A-730E-49DE-9C11-6222B97D19E8}"/>
              </a:ext>
            </a:extLst>
          </p:cNvPr>
          <p:cNvSpPr>
            <a:spLocks noGrp="1"/>
          </p:cNvSpPr>
          <p:nvPr/>
        </p:nvSpPr>
        <p:spPr>
          <a:xfrm>
            <a:off x="1092034" y="3431828"/>
            <a:ext cx="1579289" cy="448778"/>
          </a:xfrm>
          <a:custGeom>
            <a:avLst/>
            <a:gdLst/>
            <a:ahLst/>
            <a:cxnLst/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A6292F"/>
          </a:solidFill>
          <a:ln w="9525">
            <a:noFill/>
          </a:ln>
        </p:spPr>
        <p:txBody>
          <a:bodyPr vert="horz" wrap="square" lIns="91440" tIns="45720" rIns="91440" bIns="45720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buNone/>
              <a:defRPr sz="1050"/>
            </a:pPr>
            <a:r>
              <a:rPr sz="10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OpenHarmony</a:t>
            </a:r>
            <a:endParaRPr sz="16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îšḷîḓe">
            <a:extLst>
              <a:ext uri="{FF2B5EF4-FFF2-40B4-BE49-F238E27FC236}">
                <a16:creationId xmlns:a16="http://schemas.microsoft.com/office/drawing/2014/main" id="{0C864A9E-7882-4FD7-89DC-F9222061FB9A}"/>
              </a:ext>
            </a:extLst>
          </p:cNvPr>
          <p:cNvSpPr>
            <a:spLocks noGrp="1"/>
          </p:cNvSpPr>
          <p:nvPr/>
        </p:nvSpPr>
        <p:spPr>
          <a:xfrm>
            <a:off x="2602807" y="3431828"/>
            <a:ext cx="1579289" cy="448778"/>
          </a:xfrm>
          <a:custGeom>
            <a:avLst/>
            <a:gdLst/>
            <a:ahLst/>
            <a:cxnLst/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183E50"/>
          </a:solidFill>
          <a:ln w="9525">
            <a:noFill/>
          </a:ln>
        </p:spPr>
        <p:txBody>
          <a:bodyPr vert="horz" wrap="square" lIns="91440" tIns="45720" rIns="91440" bIns="45720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buNone/>
              <a:defRPr sz="1050"/>
            </a:pPr>
            <a:r>
              <a:rPr sz="10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HDMI / USB</a:t>
            </a:r>
            <a:endParaRPr sz="16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íSḷîďé">
            <a:extLst>
              <a:ext uri="{FF2B5EF4-FFF2-40B4-BE49-F238E27FC236}">
                <a16:creationId xmlns:a16="http://schemas.microsoft.com/office/drawing/2014/main" id="{0554A06A-2EC7-424A-8519-D637589E2C18}"/>
              </a:ext>
            </a:extLst>
          </p:cNvPr>
          <p:cNvSpPr>
            <a:spLocks noGrp="1"/>
          </p:cNvSpPr>
          <p:nvPr/>
        </p:nvSpPr>
        <p:spPr>
          <a:xfrm>
            <a:off x="4113580" y="3431828"/>
            <a:ext cx="1579289" cy="448778"/>
          </a:xfrm>
          <a:custGeom>
            <a:avLst/>
            <a:gdLst/>
            <a:ahLst/>
            <a:cxnLst/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A6292F"/>
          </a:solidFill>
          <a:ln w="9525">
            <a:noFill/>
          </a:ln>
        </p:spPr>
        <p:txBody>
          <a:bodyPr vert="horz" wrap="square" lIns="91440" tIns="45720" rIns="91440" bIns="45720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buNone/>
              <a:defRPr sz="1050"/>
            </a:pPr>
            <a:r>
              <a:rPr sz="10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NPU 驱动</a:t>
            </a:r>
            <a:endParaRPr sz="16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íŝḻiḋê">
            <a:extLst>
              <a:ext uri="{FF2B5EF4-FFF2-40B4-BE49-F238E27FC236}">
                <a16:creationId xmlns:a16="http://schemas.microsoft.com/office/drawing/2014/main" id="{3F4F49FB-CEC2-4488-80EF-C5D762CF72EF}"/>
              </a:ext>
            </a:extLst>
          </p:cNvPr>
          <p:cNvSpPr>
            <a:spLocks noGrp="1"/>
          </p:cNvSpPr>
          <p:nvPr/>
        </p:nvSpPr>
        <p:spPr>
          <a:xfrm>
            <a:off x="5624353" y="3431828"/>
            <a:ext cx="1579289" cy="448778"/>
          </a:xfrm>
          <a:custGeom>
            <a:avLst/>
            <a:gdLst/>
            <a:ahLst/>
            <a:cxnLst/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183E50"/>
          </a:solidFill>
          <a:ln w="9525">
            <a:noFill/>
          </a:ln>
        </p:spPr>
        <p:txBody>
          <a:bodyPr vert="horz" wrap="square" lIns="91440" tIns="45720" rIns="91440" bIns="45720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buNone/>
              <a:defRPr sz="1050"/>
            </a:pPr>
            <a:r>
              <a:rPr sz="10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CANN Runtime</a:t>
            </a:r>
            <a:endParaRPr sz="16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ísľiḓè">
            <a:extLst>
              <a:ext uri="{FF2B5EF4-FFF2-40B4-BE49-F238E27FC236}">
                <a16:creationId xmlns:a16="http://schemas.microsoft.com/office/drawing/2014/main" id="{1D9E43B6-0CB6-41E6-A04C-B015E807CDD0}"/>
              </a:ext>
            </a:extLst>
          </p:cNvPr>
          <p:cNvSpPr>
            <a:spLocks noGrp="1"/>
          </p:cNvSpPr>
          <p:nvPr/>
        </p:nvSpPr>
        <p:spPr>
          <a:xfrm>
            <a:off x="7135126" y="3431828"/>
            <a:ext cx="1579289" cy="448778"/>
          </a:xfrm>
          <a:custGeom>
            <a:avLst/>
            <a:gdLst/>
            <a:ahLst/>
            <a:cxnLst/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A6292F"/>
          </a:solidFill>
          <a:ln w="9525">
            <a:noFill/>
          </a:ln>
        </p:spPr>
        <p:txBody>
          <a:bodyPr vert="horz" wrap="square" lIns="91440" tIns="45720" rIns="91440" bIns="45720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buNone/>
              <a:defRPr sz="1050"/>
            </a:pPr>
            <a:r>
              <a:rPr sz="10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推理服务</a:t>
            </a:r>
            <a:endParaRPr sz="16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íšḷiḋe">
            <a:extLst>
              <a:ext uri="{FF2B5EF4-FFF2-40B4-BE49-F238E27FC236}">
                <a16:creationId xmlns:a16="http://schemas.microsoft.com/office/drawing/2014/main" id="{87C48078-E2BF-4DAE-A206-4DD27F0C782E}"/>
              </a:ext>
            </a:extLst>
          </p:cNvPr>
          <p:cNvSpPr>
            <a:spLocks noGrp="1"/>
          </p:cNvSpPr>
          <p:nvPr/>
        </p:nvSpPr>
        <p:spPr>
          <a:xfrm>
            <a:off x="8645897" y="3431828"/>
            <a:ext cx="1579289" cy="448778"/>
          </a:xfrm>
          <a:custGeom>
            <a:avLst/>
            <a:gdLst/>
            <a:ahLst/>
            <a:cxnLst/>
            <a:rect l="0" t="0" r="r" b="b"/>
            <a:pathLst>
              <a:path w="461" h="131">
                <a:moveTo>
                  <a:pt x="70" y="123"/>
                </a:moveTo>
                <a:cubicBezTo>
                  <a:pt x="7" y="27"/>
                  <a:pt x="7" y="27"/>
                  <a:pt x="7" y="27"/>
                </a:cubicBezTo>
                <a:cubicBezTo>
                  <a:pt x="0" y="16"/>
                  <a:pt x="8" y="0"/>
                  <a:pt x="22" y="0"/>
                </a:cubicBezTo>
                <a:cubicBezTo>
                  <a:pt x="376" y="0"/>
                  <a:pt x="376" y="0"/>
                  <a:pt x="376" y="0"/>
                </a:cubicBezTo>
                <a:cubicBezTo>
                  <a:pt x="382" y="0"/>
                  <a:pt x="387" y="3"/>
                  <a:pt x="391" y="8"/>
                </a:cubicBezTo>
                <a:cubicBezTo>
                  <a:pt x="453" y="104"/>
                  <a:pt x="453" y="104"/>
                  <a:pt x="453" y="104"/>
                </a:cubicBezTo>
                <a:cubicBezTo>
                  <a:pt x="461" y="116"/>
                  <a:pt x="453" y="131"/>
                  <a:pt x="439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79" y="131"/>
                  <a:pt x="73" y="128"/>
                  <a:pt x="70" y="123"/>
                </a:cubicBezTo>
                <a:close/>
              </a:path>
            </a:pathLst>
          </a:custGeom>
          <a:solidFill>
            <a:srgbClr val="183E50"/>
          </a:solidFill>
          <a:ln w="9525">
            <a:noFill/>
          </a:ln>
        </p:spPr>
        <p:txBody>
          <a:bodyPr vert="horz" wrap="square" lIns="91440" tIns="45720" rIns="91440" bIns="45720" anchor="ctr">
            <a:norm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buNone/>
              <a:defRPr sz="1050"/>
            </a:pPr>
            <a:r>
              <a:rPr sz="10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ArkUI APP</a:t>
            </a:r>
            <a:endParaRPr sz="16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7FA165D3-BBE7-4E8A-9668-0809ABECAF53}"/>
              </a:ext>
            </a:extLst>
          </p:cNvPr>
          <p:cNvSpPr>
            <a:spLocks noGrp="1"/>
          </p:cNvSpPr>
          <p:nvPr/>
        </p:nvSpPr>
        <p:spPr>
          <a:xfrm flipV="1">
            <a:off x="1881678" y="2059032"/>
            <a:ext cx="0" cy="137279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AD05AF44-5FE2-47BD-AF76-C94BD4F2E3EE}"/>
              </a:ext>
            </a:extLst>
          </p:cNvPr>
          <p:cNvSpPr>
            <a:spLocks noGrp="1"/>
          </p:cNvSpPr>
          <p:nvPr/>
        </p:nvSpPr>
        <p:spPr>
          <a:xfrm flipV="1">
            <a:off x="4903224" y="2059032"/>
            <a:ext cx="0" cy="137279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E7BE7D9D-BA9F-48F8-92C1-C4CFD5449762}"/>
              </a:ext>
            </a:extLst>
          </p:cNvPr>
          <p:cNvSpPr>
            <a:spLocks noGrp="1"/>
          </p:cNvSpPr>
          <p:nvPr/>
        </p:nvSpPr>
        <p:spPr>
          <a:xfrm flipV="1">
            <a:off x="7924770" y="2059032"/>
            <a:ext cx="0" cy="137279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3CD7EB8A-BF78-4E31-8FC3-5CF8BBB8BD9A}"/>
              </a:ext>
            </a:extLst>
          </p:cNvPr>
          <p:cNvSpPr>
            <a:spLocks noGrp="1"/>
          </p:cNvSpPr>
          <p:nvPr/>
        </p:nvSpPr>
        <p:spPr>
          <a:xfrm flipV="1">
            <a:off x="9435541" y="3880606"/>
            <a:ext cx="0" cy="137279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BADB09F5-E7B6-48C9-BE9E-6DAC58FB3417}"/>
              </a:ext>
            </a:extLst>
          </p:cNvPr>
          <p:cNvSpPr>
            <a:spLocks noGrp="1"/>
          </p:cNvSpPr>
          <p:nvPr/>
        </p:nvSpPr>
        <p:spPr>
          <a:xfrm flipV="1">
            <a:off x="6413997" y="3880606"/>
            <a:ext cx="0" cy="137279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F727021C-F534-4DEC-9BEA-B5133D6A21DA}"/>
              </a:ext>
            </a:extLst>
          </p:cNvPr>
          <p:cNvSpPr>
            <a:spLocks noGrp="1"/>
          </p:cNvSpPr>
          <p:nvPr/>
        </p:nvSpPr>
        <p:spPr>
          <a:xfrm flipV="1">
            <a:off x="3392451" y="3880606"/>
            <a:ext cx="0" cy="137279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EDB51E8-BD0C-45AF-B9A4-8F1D0B684BDC}"/>
              </a:ext>
            </a:extLst>
          </p:cNvPr>
          <p:cNvSpPr>
            <a:spLocks noGrp="1"/>
          </p:cNvSpPr>
          <p:nvPr/>
        </p:nvSpPr>
        <p:spPr>
          <a:xfrm>
            <a:off x="2005656" y="1809514"/>
            <a:ext cx="1477106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  <a:defRPr sz="1200"/>
            </a:pPr>
            <a:r>
              <a:rPr sz="1200" b="1" spc="100">
                <a:latin typeface="微软雅黑"/>
                <a:ea typeface="微软雅黑"/>
                <a:cs typeface="微软雅黑"/>
              </a:rPr>
              <a:t>系统底座</a:t>
            </a:r>
            <a:endParaRPr b="1" spc="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A0C8EE-B9D8-4D64-ABA2-82B14AE9B661}"/>
              </a:ext>
            </a:extLst>
          </p:cNvPr>
          <p:cNvSpPr>
            <a:spLocks noGrp="1"/>
          </p:cNvSpPr>
          <p:nvPr/>
        </p:nvSpPr>
        <p:spPr>
          <a:xfrm>
            <a:off x="1998143" y="2217836"/>
            <a:ext cx="1761625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  <a:defRPr sz="975"/>
            </a:pPr>
            <a:r>
              <a:rPr sz="975" spc="100">
                <a:latin typeface="微软雅黑"/>
                <a:ea typeface="微软雅黑"/>
                <a:cs typeface="微软雅黑"/>
              </a:rPr>
              <a:t>5.0.3 启动链</a:t>
            </a:r>
          </a:p>
          <a:p>
            <a:pPr algn="l">
              <a:lnSpc>
                <a:spcPct val="125000"/>
              </a:lnSpc>
              <a:buNone/>
              <a:defRPr sz="975"/>
            </a:pPr>
            <a:r>
              <a:rPr sz="975" spc="100">
                <a:latin typeface="微软雅黑"/>
                <a:ea typeface="微软雅黑"/>
                <a:cs typeface="微软雅黑"/>
              </a:rPr>
              <a:t>板级镜像交付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791E41-9957-4697-8961-C6898287C373}"/>
              </a:ext>
            </a:extLst>
          </p:cNvPr>
          <p:cNvSpPr>
            <a:spLocks noGrp="1"/>
          </p:cNvSpPr>
          <p:nvPr/>
        </p:nvSpPr>
        <p:spPr>
          <a:xfrm>
            <a:off x="3549195" y="4666037"/>
            <a:ext cx="1477106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  <a:defRPr sz="1200"/>
            </a:pPr>
            <a:r>
              <a:rPr sz="1200" b="1" spc="100">
                <a:latin typeface="微软雅黑"/>
                <a:ea typeface="微软雅黑"/>
                <a:cs typeface="微软雅黑"/>
              </a:rPr>
              <a:t>外设链路</a:t>
            </a:r>
            <a:endParaRPr b="1" spc="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5CC0FB3-C71E-4F0F-A68F-222944E7B32C}"/>
              </a:ext>
            </a:extLst>
          </p:cNvPr>
          <p:cNvSpPr>
            <a:spLocks noGrp="1"/>
          </p:cNvSpPr>
          <p:nvPr/>
        </p:nvSpPr>
        <p:spPr>
          <a:xfrm>
            <a:off x="3541682" y="5074359"/>
            <a:ext cx="1761625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  <a:defRPr sz="975"/>
            </a:pPr>
            <a:r>
              <a:rPr sz="975" spc="100">
                <a:latin typeface="微软雅黑"/>
                <a:ea typeface="微软雅黑"/>
                <a:cs typeface="微软雅黑"/>
              </a:rPr>
              <a:t>1080p 显示</a:t>
            </a:r>
          </a:p>
          <a:p>
            <a:pPr algn="l">
              <a:lnSpc>
                <a:spcPct val="125000"/>
              </a:lnSpc>
              <a:buNone/>
              <a:defRPr sz="975"/>
            </a:pPr>
            <a:r>
              <a:rPr sz="975" spc="100">
                <a:latin typeface="微软雅黑"/>
                <a:ea typeface="微软雅黑"/>
                <a:cs typeface="微软雅黑"/>
              </a:rPr>
              <a:t>键鼠 / HDC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5CFA1BC-7BB1-4300-9F71-0E46358919ED}"/>
              </a:ext>
            </a:extLst>
          </p:cNvPr>
          <p:cNvSpPr>
            <a:spLocks noGrp="1"/>
          </p:cNvSpPr>
          <p:nvPr/>
        </p:nvSpPr>
        <p:spPr>
          <a:xfrm>
            <a:off x="5026301" y="1809514"/>
            <a:ext cx="1477106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  <a:defRPr sz="1200"/>
            </a:pPr>
            <a:r>
              <a:rPr sz="1200" b="1" spc="100">
                <a:latin typeface="微软雅黑"/>
                <a:ea typeface="微软雅黑"/>
                <a:cs typeface="微软雅黑"/>
              </a:rPr>
              <a:t>加速栈</a:t>
            </a:r>
            <a:endParaRPr b="1" spc="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131B346-6733-4CD2-B4E0-1A2DDF1FB964}"/>
              </a:ext>
            </a:extLst>
          </p:cNvPr>
          <p:cNvSpPr>
            <a:spLocks noGrp="1"/>
          </p:cNvSpPr>
          <p:nvPr/>
        </p:nvSpPr>
        <p:spPr>
          <a:xfrm>
            <a:off x="5018788" y="2217836"/>
            <a:ext cx="1761625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  <a:defRPr sz="975"/>
            </a:pPr>
            <a:r>
              <a:rPr sz="975" spc="100">
                <a:latin typeface="微软雅黑"/>
                <a:ea typeface="微软雅黑"/>
                <a:cs typeface="微软雅黑"/>
              </a:rPr>
              <a:t>310B 驱动</a:t>
            </a:r>
          </a:p>
          <a:p>
            <a:pPr algn="l">
              <a:lnSpc>
                <a:spcPct val="125000"/>
              </a:lnSpc>
              <a:buNone/>
              <a:defRPr sz="975"/>
            </a:pPr>
            <a:r>
              <a:rPr sz="975" spc="100">
                <a:latin typeface="微软雅黑"/>
                <a:ea typeface="微软雅黑"/>
                <a:cs typeface="微软雅黑"/>
              </a:rPr>
              <a:t>设备节点就绪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C5326EE-208B-4252-B160-3FDC4C28D801}"/>
              </a:ext>
            </a:extLst>
          </p:cNvPr>
          <p:cNvSpPr>
            <a:spLocks noGrp="1"/>
          </p:cNvSpPr>
          <p:nvPr/>
        </p:nvSpPr>
        <p:spPr>
          <a:xfrm>
            <a:off x="6570738" y="4666037"/>
            <a:ext cx="1477106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  <a:defRPr sz="1200"/>
            </a:pPr>
            <a:r>
              <a:rPr sz="1200" b="1" spc="100">
                <a:latin typeface="微软雅黑"/>
                <a:ea typeface="微软雅黑"/>
                <a:cs typeface="微软雅黑"/>
              </a:rPr>
              <a:t>运行时</a:t>
            </a:r>
            <a:endParaRPr b="1" spc="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81CB5AB-8871-4BCD-9473-3A05140093EE}"/>
              </a:ext>
            </a:extLst>
          </p:cNvPr>
          <p:cNvSpPr>
            <a:spLocks noGrp="1"/>
          </p:cNvSpPr>
          <p:nvPr/>
        </p:nvSpPr>
        <p:spPr>
          <a:xfrm>
            <a:off x="6563225" y="5074359"/>
            <a:ext cx="1761625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  <a:defRPr sz="975"/>
            </a:pPr>
            <a:r>
              <a:rPr sz="975" spc="100">
                <a:latin typeface="微软雅黑"/>
                <a:ea typeface="微软雅黑"/>
                <a:cs typeface="微软雅黑"/>
              </a:rPr>
              <a:t>CANN 8.2</a:t>
            </a:r>
          </a:p>
          <a:p>
            <a:pPr algn="l">
              <a:lnSpc>
                <a:spcPct val="125000"/>
              </a:lnSpc>
              <a:buNone/>
              <a:defRPr sz="975"/>
            </a:pPr>
            <a:r>
              <a:rPr sz="975" spc="100">
                <a:latin typeface="微软雅黑"/>
                <a:ea typeface="微软雅黑"/>
                <a:cs typeface="微软雅黑"/>
              </a:rPr>
              <a:t>镜像内置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7CA586D-810D-4D23-9072-B79683B51604}"/>
              </a:ext>
            </a:extLst>
          </p:cNvPr>
          <p:cNvSpPr>
            <a:spLocks noGrp="1"/>
          </p:cNvSpPr>
          <p:nvPr/>
        </p:nvSpPr>
        <p:spPr>
          <a:xfrm>
            <a:off x="8046946" y="1809514"/>
            <a:ext cx="1477106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  <a:defRPr sz="1200"/>
            </a:pPr>
            <a:r>
              <a:rPr sz="1200" b="1" spc="100">
                <a:latin typeface="微软雅黑"/>
                <a:ea typeface="微软雅黑"/>
                <a:cs typeface="微软雅黑"/>
              </a:rPr>
              <a:t>隔离层</a:t>
            </a:r>
            <a:endParaRPr b="1" spc="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CCDDFEC-A322-4226-9F10-0CB11A47F7A7}"/>
              </a:ext>
            </a:extLst>
          </p:cNvPr>
          <p:cNvSpPr>
            <a:spLocks noGrp="1"/>
          </p:cNvSpPr>
          <p:nvPr/>
        </p:nvSpPr>
        <p:spPr>
          <a:xfrm>
            <a:off x="8039433" y="2217836"/>
            <a:ext cx="1761625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  <a:defRPr sz="975"/>
            </a:pPr>
            <a:r>
              <a:rPr sz="975" spc="100">
                <a:latin typeface="微软雅黑"/>
                <a:ea typeface="微软雅黑"/>
                <a:cs typeface="微软雅黑"/>
              </a:rPr>
              <a:t>glibc 服务</a:t>
            </a:r>
          </a:p>
          <a:p>
            <a:pPr algn="l">
              <a:lnSpc>
                <a:spcPct val="125000"/>
              </a:lnSpc>
              <a:buNone/>
              <a:defRPr sz="975"/>
            </a:pPr>
            <a:r>
              <a:rPr sz="975" spc="100">
                <a:latin typeface="微软雅黑"/>
                <a:ea typeface="微软雅黑"/>
                <a:cs typeface="微软雅黑"/>
              </a:rPr>
              <a:t>二进制协议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F79134A-4C9E-48A8-A2D3-BCC9162A5437}"/>
              </a:ext>
            </a:extLst>
          </p:cNvPr>
          <p:cNvSpPr>
            <a:spLocks noGrp="1"/>
          </p:cNvSpPr>
          <p:nvPr/>
        </p:nvSpPr>
        <p:spPr>
          <a:xfrm>
            <a:off x="9592281" y="4666037"/>
            <a:ext cx="1477106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  <a:defRPr sz="1200"/>
            </a:pPr>
            <a:r>
              <a:rPr sz="1200" b="1" spc="100">
                <a:latin typeface="微软雅黑"/>
                <a:ea typeface="微软雅黑"/>
                <a:cs typeface="微软雅黑"/>
              </a:rPr>
              <a:t>交互呈现</a:t>
            </a:r>
            <a:endParaRPr b="1" spc="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903B3F5-4DC9-4C6A-AC4B-9A851E0EEE61}"/>
              </a:ext>
            </a:extLst>
          </p:cNvPr>
          <p:cNvSpPr>
            <a:spLocks noGrp="1"/>
          </p:cNvSpPr>
          <p:nvPr/>
        </p:nvSpPr>
        <p:spPr>
          <a:xfrm>
            <a:off x="9584768" y="5074359"/>
            <a:ext cx="1761625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  <a:defRPr sz="975"/>
            </a:pPr>
            <a:r>
              <a:rPr sz="975" spc="100">
                <a:latin typeface="微软雅黑"/>
                <a:ea typeface="微软雅黑"/>
                <a:cs typeface="微软雅黑"/>
              </a:rPr>
              <a:t>相机连续流</a:t>
            </a:r>
          </a:p>
          <a:p>
            <a:pPr algn="l">
              <a:lnSpc>
                <a:spcPct val="125000"/>
              </a:lnSpc>
              <a:buNone/>
              <a:defRPr sz="975"/>
            </a:pPr>
            <a:r>
              <a:rPr sz="975" spc="100">
                <a:latin typeface="微软雅黑"/>
                <a:ea typeface="微软雅黑"/>
                <a:cs typeface="微软雅黑"/>
              </a:rPr>
              <a:t>检测框叠加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76410AA-3DCB-4885-A8FB-7AFD6B5B00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59" name="直角三角形 58">
            <a:extLst>
              <a:ext uri="{FF2B5EF4-FFF2-40B4-BE49-F238E27FC236}">
                <a16:creationId xmlns:a16="http://schemas.microsoft.com/office/drawing/2014/main" id="{26DCE885-0711-4897-B7E0-CD1FA4863907}"/>
              </a:ext>
            </a:extLst>
          </p:cNvPr>
          <p:cNvSpPr>
            <a:spLocks noGrp="1"/>
          </p:cNvSpPr>
          <p:nvPr/>
        </p:nvSpPr>
        <p:spPr>
          <a:xfrm>
            <a:off x="9880" y="4913906"/>
            <a:ext cx="3959747" cy="1944094"/>
          </a:xfrm>
          <a:prstGeom prst="rtTriangle">
            <a:avLst/>
          </a:prstGeom>
          <a:solidFill>
            <a:srgbClr val="A6292F">
              <a:alpha val="14000"/>
            </a:srgb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63" name="直角三角形 62">
            <a:extLst>
              <a:ext uri="{FF2B5EF4-FFF2-40B4-BE49-F238E27FC236}">
                <a16:creationId xmlns:a16="http://schemas.microsoft.com/office/drawing/2014/main" id="{B0AE850F-A96C-4256-83D2-9DF5E8EA2229}"/>
              </a:ext>
            </a:extLst>
          </p:cNvPr>
          <p:cNvSpPr>
            <a:spLocks noGrp="1"/>
          </p:cNvSpPr>
          <p:nvPr/>
        </p:nvSpPr>
        <p:spPr>
          <a:xfrm>
            <a:off x="-467560" y="4472564"/>
            <a:ext cx="5542310" cy="2721076"/>
          </a:xfrm>
          <a:prstGeom prst="rtTriangle">
            <a:avLst/>
          </a:prstGeom>
          <a:noFill/>
          <a:ln w="12700">
            <a:solidFill>
              <a:srgbClr val="A6292F">
                <a:alpha val="21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文本框 25">
            <a:extLst>
              <a:ext uri="{FF2B5EF4-FFF2-40B4-BE49-F238E27FC236}">
                <a16:creationId xmlns:a16="http://schemas.microsoft.com/office/drawing/2014/main" id="{FFA934D0-A107-6AD9-7506-B308A42EED84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4921248" cy="585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01 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基础性成果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端到端架构</a:t>
            </a:r>
            <a:endParaRPr sz="26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02754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73F52ACA-FACF-4079-85B3-A93530FFAC9A}"/>
              </a:ext>
            </a:extLst>
          </p:cNvPr>
          <p:cNvSpPr>
            <a:spLocks noGrp="1"/>
          </p:cNvSpPr>
          <p:nvPr/>
        </p:nvSpPr>
        <p:spPr>
          <a:xfrm>
            <a:off x="63500" y="1669105"/>
            <a:ext cx="11921072" cy="2866787"/>
          </a:xfrm>
          <a:prstGeom prst="rect">
            <a:avLst/>
          </a:prstGeom>
          <a:noFill/>
          <a:ln w="12700">
            <a:gradFill>
              <a:gsLst>
                <a:gs pos="0">
                  <a:srgbClr val="A6292F">
                    <a:alpha val="52000"/>
                  </a:srgbClr>
                </a:gs>
                <a:gs pos="34000">
                  <a:srgbClr val="183E50">
                    <a:alpha val="52000"/>
                  </a:srgbClr>
                </a:gs>
                <a:gs pos="100000">
                  <a:srgbClr val="183E50">
                    <a:alpha val="52000"/>
                  </a:srgbClr>
                </a:gs>
                <a:gs pos="66000">
                  <a:srgbClr val="A6292F">
                    <a:alpha val="52000"/>
                  </a:srgbClr>
                </a:gs>
              </a:gsLst>
              <a:lin ang="12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652F0C6-D318-4180-9561-1BC2FCAF9E6F}"/>
              </a:ext>
            </a:extLst>
          </p:cNvPr>
          <p:cNvSpPr>
            <a:spLocks noGrp="1"/>
          </p:cNvSpPr>
          <p:nvPr/>
        </p:nvSpPr>
        <p:spPr>
          <a:xfrm>
            <a:off x="1679334" y="4570156"/>
            <a:ext cx="126928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桌面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5A0B4E-E965-4605-B5C6-FF19F1E85D65}"/>
              </a:ext>
            </a:extLst>
          </p:cNvPr>
          <p:cNvSpPr>
            <a:spLocks noGrp="1"/>
          </p:cNvSpPr>
          <p:nvPr/>
        </p:nvSpPr>
        <p:spPr>
          <a:xfrm>
            <a:off x="643853" y="5153060"/>
            <a:ext cx="2643826" cy="87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OpenHarmony 5.0.3</a:t>
            </a: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启动并进入 GUI 桌面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DA49354-658D-4012-B041-57C722553C42}"/>
              </a:ext>
            </a:extLst>
          </p:cNvPr>
          <p:cNvSpPr>
            <a:spLocks noGrp="1"/>
          </p:cNvSpPr>
          <p:nvPr/>
        </p:nvSpPr>
        <p:spPr>
          <a:xfrm>
            <a:off x="522594" y="6273829"/>
            <a:ext cx="2809535" cy="45717"/>
          </a:xfrm>
          <a:prstGeom prst="rect">
            <a:avLst/>
          </a:prstGeom>
          <a:solidFill>
            <a:srgbClr val="A629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DA43BC-50C5-45D5-858B-C0224884F855}"/>
              </a:ext>
            </a:extLst>
          </p:cNvPr>
          <p:cNvSpPr>
            <a:spLocks noGrp="1"/>
          </p:cNvSpPr>
          <p:nvPr/>
        </p:nvSpPr>
        <p:spPr>
          <a:xfrm>
            <a:off x="5629588" y="4570156"/>
            <a:ext cx="126928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 b="1" spc="100">
                <a:solidFill>
                  <a:srgbClr val="183E50"/>
                </a:solidFill>
                <a:latin typeface="微软雅黑"/>
                <a:ea typeface="微软雅黑"/>
                <a:cs typeface="微软雅黑"/>
              </a:rPr>
              <a:t>1080p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1BD1AB6-FFB7-43B3-B5D9-469C5638C047}"/>
              </a:ext>
            </a:extLst>
          </p:cNvPr>
          <p:cNvSpPr>
            <a:spLocks noGrp="1"/>
          </p:cNvSpPr>
          <p:nvPr/>
        </p:nvSpPr>
        <p:spPr>
          <a:xfrm>
            <a:off x="4847750" y="5153060"/>
            <a:ext cx="2643826" cy="87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真实 EDID 与首选模式</a:t>
            </a: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驱动 HDMI 稳定显示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8339AA8-CFED-4994-BD5A-671B146F6981}"/>
              </a:ext>
            </a:extLst>
          </p:cNvPr>
          <p:cNvSpPr>
            <a:spLocks noGrp="1"/>
          </p:cNvSpPr>
          <p:nvPr/>
        </p:nvSpPr>
        <p:spPr>
          <a:xfrm>
            <a:off x="4788728" y="6273828"/>
            <a:ext cx="2697007" cy="45718"/>
          </a:xfrm>
          <a:prstGeom prst="rect">
            <a:avLst/>
          </a:prstGeom>
          <a:solidFill>
            <a:srgbClr val="183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ED7E12D-2BF7-4B03-B488-93DCDEC08AC3}"/>
              </a:ext>
            </a:extLst>
          </p:cNvPr>
          <p:cNvSpPr>
            <a:spLocks noGrp="1"/>
          </p:cNvSpPr>
          <p:nvPr/>
        </p:nvSpPr>
        <p:spPr>
          <a:xfrm>
            <a:off x="9395779" y="4570157"/>
            <a:ext cx="865821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HDC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AFF35BE-34E3-4629-BD35-463F907A30F8}"/>
              </a:ext>
            </a:extLst>
          </p:cNvPr>
          <p:cNvSpPr>
            <a:spLocks noGrp="1"/>
          </p:cNvSpPr>
          <p:nvPr/>
        </p:nvSpPr>
        <p:spPr>
          <a:xfrm>
            <a:off x="8531746" y="5153061"/>
            <a:ext cx="2643826" cy="87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USB Gadget 正确初始化</a:t>
            </a: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主机侧可枚举目标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22D9C3D-6987-4701-9F2E-32E7B708E75A}"/>
              </a:ext>
            </a:extLst>
          </p:cNvPr>
          <p:cNvSpPr>
            <a:spLocks noGrp="1"/>
          </p:cNvSpPr>
          <p:nvPr/>
        </p:nvSpPr>
        <p:spPr>
          <a:xfrm>
            <a:off x="8377272" y="6273828"/>
            <a:ext cx="2798300" cy="45718"/>
          </a:xfrm>
          <a:prstGeom prst="rect">
            <a:avLst/>
          </a:prstGeom>
          <a:solidFill>
            <a:srgbClr val="A629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7428" y="1871933"/>
            <a:ext cx="4151558" cy="2495396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96093" y="1871932"/>
            <a:ext cx="4151560" cy="24953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CCA9B79-AE6E-6F44-0EA5-3D00C87BC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4828" y="2469879"/>
            <a:ext cx="2022569" cy="1405102"/>
          </a:xfrm>
          <a:prstGeom prst="rect">
            <a:avLst/>
          </a:prstGeom>
        </p:spPr>
      </p:pic>
      <p:sp>
        <p:nvSpPr>
          <p:cNvPr id="3" name="文本框 25">
            <a:extLst>
              <a:ext uri="{FF2B5EF4-FFF2-40B4-BE49-F238E27FC236}">
                <a16:creationId xmlns:a16="http://schemas.microsoft.com/office/drawing/2014/main" id="{ED8C8BBF-F7E1-8505-2831-E6C522FC989E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4921248" cy="585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01 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基础性成果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系统适配</a:t>
            </a:r>
            <a:endParaRPr sz="26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57686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5652F0C6-D318-4180-9561-1BC2FCAF9E6F}"/>
              </a:ext>
            </a:extLst>
          </p:cNvPr>
          <p:cNvSpPr>
            <a:spLocks noGrp="1"/>
          </p:cNvSpPr>
          <p:nvPr/>
        </p:nvSpPr>
        <p:spPr>
          <a:xfrm>
            <a:off x="1780934" y="4570156"/>
            <a:ext cx="126928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软件栈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5A0B4E-E965-4605-B5C6-FF19F1E85D65}"/>
              </a:ext>
            </a:extLst>
          </p:cNvPr>
          <p:cNvSpPr>
            <a:spLocks noGrp="1"/>
          </p:cNvSpPr>
          <p:nvPr/>
        </p:nvSpPr>
        <p:spPr>
          <a:xfrm>
            <a:off x="1170903" y="5153060"/>
            <a:ext cx="2643826" cy="87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驱动 / Runtime / Python</a:t>
            </a: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形成可复用 NPU 环境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DA49354-658D-4012-B041-57C722553C42}"/>
              </a:ext>
            </a:extLst>
          </p:cNvPr>
          <p:cNvSpPr>
            <a:spLocks noGrp="1"/>
          </p:cNvSpPr>
          <p:nvPr/>
        </p:nvSpPr>
        <p:spPr>
          <a:xfrm>
            <a:off x="1005194" y="6273829"/>
            <a:ext cx="2809535" cy="45717"/>
          </a:xfrm>
          <a:prstGeom prst="rect">
            <a:avLst/>
          </a:prstGeom>
          <a:solidFill>
            <a:srgbClr val="A629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DA43BC-50C5-45D5-858B-C0224884F855}"/>
              </a:ext>
            </a:extLst>
          </p:cNvPr>
          <p:cNvSpPr>
            <a:spLocks noGrp="1"/>
          </p:cNvSpPr>
          <p:nvPr/>
        </p:nvSpPr>
        <p:spPr>
          <a:xfrm>
            <a:off x="5502588" y="4570156"/>
            <a:ext cx="1912003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 b="1" spc="100">
                <a:solidFill>
                  <a:srgbClr val="183E50"/>
                </a:solidFill>
                <a:latin typeface="微软雅黑"/>
                <a:ea typeface="微软雅黑"/>
                <a:cs typeface="微软雅黑"/>
              </a:rPr>
              <a:t>Runtime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1BD1AB6-FFB7-43B3-B5D9-469C5638C047}"/>
              </a:ext>
            </a:extLst>
          </p:cNvPr>
          <p:cNvSpPr>
            <a:spLocks noGrp="1"/>
          </p:cNvSpPr>
          <p:nvPr/>
        </p:nvSpPr>
        <p:spPr>
          <a:xfrm>
            <a:off x="4854100" y="5153060"/>
            <a:ext cx="2643826" cy="87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镜像内置依赖与校验清单</a:t>
            </a: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开机幂等安装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8339AA8-CFED-4994-BD5A-671B146F6981}"/>
              </a:ext>
            </a:extLst>
          </p:cNvPr>
          <p:cNvSpPr>
            <a:spLocks noGrp="1"/>
          </p:cNvSpPr>
          <p:nvPr/>
        </p:nvSpPr>
        <p:spPr>
          <a:xfrm>
            <a:off x="4788728" y="6273828"/>
            <a:ext cx="2697007" cy="45718"/>
          </a:xfrm>
          <a:prstGeom prst="rect">
            <a:avLst/>
          </a:prstGeom>
          <a:solidFill>
            <a:srgbClr val="183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ED7E12D-2BF7-4B03-B488-93DCDEC08AC3}"/>
              </a:ext>
            </a:extLst>
          </p:cNvPr>
          <p:cNvSpPr>
            <a:spLocks noGrp="1"/>
          </p:cNvSpPr>
          <p:nvPr/>
        </p:nvSpPr>
        <p:spPr>
          <a:xfrm>
            <a:off x="9141779" y="4570157"/>
            <a:ext cx="126928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板端推理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AFF35BE-34E3-4629-BD35-463F907A30F8}"/>
              </a:ext>
            </a:extLst>
          </p:cNvPr>
          <p:cNvSpPr>
            <a:spLocks noGrp="1"/>
          </p:cNvSpPr>
          <p:nvPr/>
        </p:nvSpPr>
        <p:spPr>
          <a:xfrm>
            <a:off x="8531746" y="5153061"/>
            <a:ext cx="2643826" cy="87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npu-smi、pyACL 与样例</a:t>
            </a: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共同验证加速栈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22D9C3D-6987-4701-9F2E-32E7B708E75A}"/>
              </a:ext>
            </a:extLst>
          </p:cNvPr>
          <p:cNvSpPr>
            <a:spLocks noGrp="1"/>
          </p:cNvSpPr>
          <p:nvPr/>
        </p:nvSpPr>
        <p:spPr>
          <a:xfrm>
            <a:off x="8377272" y="6273828"/>
            <a:ext cx="2798300" cy="45718"/>
          </a:xfrm>
          <a:prstGeom prst="rect">
            <a:avLst/>
          </a:prstGeom>
          <a:solidFill>
            <a:srgbClr val="A629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645" y="1765454"/>
            <a:ext cx="4072791" cy="2707974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32827" y="1877025"/>
            <a:ext cx="3678738" cy="2450946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38781" y="1765454"/>
            <a:ext cx="3852421" cy="2568281"/>
          </a:xfrm>
          <a:prstGeom prst="rect">
            <a:avLst/>
          </a:prstGeom>
        </p:spPr>
      </p:pic>
      <p:sp>
        <p:nvSpPr>
          <p:cNvPr id="3" name="文本框 25">
            <a:extLst>
              <a:ext uri="{FF2B5EF4-FFF2-40B4-BE49-F238E27FC236}">
                <a16:creationId xmlns:a16="http://schemas.microsoft.com/office/drawing/2014/main" id="{4B167B7C-BF3B-312B-950F-203F12C0F2E4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4921248" cy="585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01 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基础性成果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——CANN</a:t>
            </a:r>
            <a:endParaRPr sz="26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27BE1A-1974-A85B-4AA4-FED08B6FF6E5}"/>
              </a:ext>
            </a:extLst>
          </p:cNvPr>
          <p:cNvSpPr>
            <a:spLocks noGrp="1"/>
          </p:cNvSpPr>
          <p:nvPr/>
        </p:nvSpPr>
        <p:spPr>
          <a:xfrm>
            <a:off x="63500" y="1669105"/>
            <a:ext cx="11921072" cy="2866787"/>
          </a:xfrm>
          <a:prstGeom prst="rect">
            <a:avLst/>
          </a:prstGeom>
          <a:noFill/>
          <a:ln w="12700">
            <a:gradFill>
              <a:gsLst>
                <a:gs pos="0">
                  <a:srgbClr val="A6292F">
                    <a:alpha val="52000"/>
                  </a:srgbClr>
                </a:gs>
                <a:gs pos="34000">
                  <a:srgbClr val="183E50">
                    <a:alpha val="52000"/>
                  </a:srgbClr>
                </a:gs>
                <a:gs pos="100000">
                  <a:srgbClr val="183E50">
                    <a:alpha val="52000"/>
                  </a:srgbClr>
                </a:gs>
                <a:gs pos="66000">
                  <a:srgbClr val="A6292F">
                    <a:alpha val="52000"/>
                  </a:srgbClr>
                </a:gs>
              </a:gsLst>
              <a:lin ang="12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7686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73F52ACA-FACF-4079-85B3-A93530FFAC9A}"/>
              </a:ext>
            </a:extLst>
          </p:cNvPr>
          <p:cNvSpPr>
            <a:spLocks noGrp="1"/>
          </p:cNvSpPr>
          <p:nvPr/>
        </p:nvSpPr>
        <p:spPr>
          <a:xfrm>
            <a:off x="678126" y="1669105"/>
            <a:ext cx="10835749" cy="2513552"/>
          </a:xfrm>
          <a:prstGeom prst="rect">
            <a:avLst/>
          </a:prstGeom>
          <a:noFill/>
          <a:ln w="12700">
            <a:gradFill>
              <a:gsLst>
                <a:gs pos="0">
                  <a:srgbClr val="A6292F">
                    <a:alpha val="52000"/>
                  </a:srgbClr>
                </a:gs>
                <a:gs pos="34000">
                  <a:srgbClr val="183E50">
                    <a:alpha val="52000"/>
                  </a:srgbClr>
                </a:gs>
                <a:gs pos="100000">
                  <a:srgbClr val="183E50">
                    <a:alpha val="52000"/>
                  </a:srgbClr>
                </a:gs>
                <a:gs pos="66000">
                  <a:srgbClr val="A6292F">
                    <a:alpha val="52000"/>
                  </a:srgbClr>
                </a:gs>
              </a:gsLst>
              <a:lin ang="12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652F0C6-D318-4180-9561-1BC2FCAF9E6F}"/>
              </a:ext>
            </a:extLst>
          </p:cNvPr>
          <p:cNvSpPr>
            <a:spLocks noGrp="1"/>
          </p:cNvSpPr>
          <p:nvPr/>
        </p:nvSpPr>
        <p:spPr>
          <a:xfrm>
            <a:off x="1780934" y="4570156"/>
            <a:ext cx="126928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模型转换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5A0B4E-E965-4605-B5C6-FF19F1E85D65}"/>
              </a:ext>
            </a:extLst>
          </p:cNvPr>
          <p:cNvSpPr>
            <a:spLocks noGrp="1"/>
          </p:cNvSpPr>
          <p:nvPr/>
        </p:nvSpPr>
        <p:spPr>
          <a:xfrm>
            <a:off x="1170903" y="5153060"/>
            <a:ext cx="2643826" cy="87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ATC 完成 ONNX→OM</a:t>
            </a: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固定输入与算子适配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DA49354-658D-4012-B041-57C722553C42}"/>
              </a:ext>
            </a:extLst>
          </p:cNvPr>
          <p:cNvSpPr>
            <a:spLocks noGrp="1"/>
          </p:cNvSpPr>
          <p:nvPr/>
        </p:nvSpPr>
        <p:spPr>
          <a:xfrm>
            <a:off x="1005194" y="6273829"/>
            <a:ext cx="2809535" cy="45717"/>
          </a:xfrm>
          <a:prstGeom prst="rect">
            <a:avLst/>
          </a:prstGeom>
          <a:solidFill>
            <a:srgbClr val="A629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DA43BC-50C5-45D5-858B-C0224884F855}"/>
              </a:ext>
            </a:extLst>
          </p:cNvPr>
          <p:cNvSpPr>
            <a:spLocks noGrp="1"/>
          </p:cNvSpPr>
          <p:nvPr/>
        </p:nvSpPr>
        <p:spPr>
          <a:xfrm>
            <a:off x="5502588" y="4570156"/>
            <a:ext cx="126928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 b="1" spc="100">
                <a:solidFill>
                  <a:srgbClr val="183E50"/>
                </a:solidFill>
                <a:latin typeface="微软雅黑"/>
                <a:ea typeface="微软雅黑"/>
                <a:cs typeface="微软雅黑"/>
              </a:rPr>
              <a:t>预处理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1BD1AB6-FFB7-43B3-B5D9-469C5638C047}"/>
              </a:ext>
            </a:extLst>
          </p:cNvPr>
          <p:cNvSpPr>
            <a:spLocks noGrp="1"/>
          </p:cNvSpPr>
          <p:nvPr/>
        </p:nvSpPr>
        <p:spPr>
          <a:xfrm>
            <a:off x="4854100" y="5153060"/>
            <a:ext cx="2643826" cy="87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HDC 推送图像</a:t>
            </a: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letterbox + uint8 NCHW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8339AA8-CFED-4994-BD5A-671B146F6981}"/>
              </a:ext>
            </a:extLst>
          </p:cNvPr>
          <p:cNvSpPr>
            <a:spLocks noGrp="1"/>
          </p:cNvSpPr>
          <p:nvPr/>
        </p:nvSpPr>
        <p:spPr>
          <a:xfrm>
            <a:off x="4788728" y="6273828"/>
            <a:ext cx="2697007" cy="45718"/>
          </a:xfrm>
          <a:prstGeom prst="rect">
            <a:avLst/>
          </a:prstGeom>
          <a:solidFill>
            <a:srgbClr val="183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ED7E12D-2BF7-4B03-B488-93DCDEC08AC3}"/>
              </a:ext>
            </a:extLst>
          </p:cNvPr>
          <p:cNvSpPr>
            <a:spLocks noGrp="1"/>
          </p:cNvSpPr>
          <p:nvPr/>
        </p:nvSpPr>
        <p:spPr>
          <a:xfrm>
            <a:off x="9141779" y="4570157"/>
            <a:ext cx="126928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检测结果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AFF35BE-34E3-4629-BD35-463F907A30F8}"/>
              </a:ext>
            </a:extLst>
          </p:cNvPr>
          <p:cNvSpPr>
            <a:spLocks noGrp="1"/>
          </p:cNvSpPr>
          <p:nvPr/>
        </p:nvSpPr>
        <p:spPr>
          <a:xfrm>
            <a:off x="8531746" y="5153061"/>
            <a:ext cx="2643826" cy="87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NPU 推理 + NMS + 绘制</a:t>
            </a: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latin typeface="微软雅黑"/>
                <a:ea typeface="微软雅黑"/>
                <a:cs typeface="微软雅黑"/>
              </a:rPr>
              <a:t>3 个目标 / 18.532ms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22D9C3D-6987-4701-9F2E-32E7B708E75A}"/>
              </a:ext>
            </a:extLst>
          </p:cNvPr>
          <p:cNvSpPr>
            <a:spLocks noGrp="1"/>
          </p:cNvSpPr>
          <p:nvPr/>
        </p:nvSpPr>
        <p:spPr>
          <a:xfrm>
            <a:off x="8377272" y="6273828"/>
            <a:ext cx="2798300" cy="45718"/>
          </a:xfrm>
          <a:prstGeom prst="rect">
            <a:avLst/>
          </a:prstGeom>
          <a:solidFill>
            <a:srgbClr val="A629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9872" y="1765454"/>
            <a:ext cx="3496564" cy="2324844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45826" y="1765454"/>
            <a:ext cx="3496565" cy="2329574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11781" y="1756733"/>
            <a:ext cx="3500347" cy="2333565"/>
          </a:xfrm>
          <a:prstGeom prst="rect">
            <a:avLst/>
          </a:prstGeom>
        </p:spPr>
      </p:pic>
      <p:sp>
        <p:nvSpPr>
          <p:cNvPr id="3" name="文本框 25">
            <a:extLst>
              <a:ext uri="{FF2B5EF4-FFF2-40B4-BE49-F238E27FC236}">
                <a16:creationId xmlns:a16="http://schemas.microsoft.com/office/drawing/2014/main" id="{A9BCFE8E-AA11-4F06-E028-B5B56F36EE55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4921248" cy="585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01 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基础性成果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——YOLOv5</a:t>
            </a:r>
            <a:endParaRPr sz="26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57686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03320" y="1542691"/>
            <a:ext cx="4800600" cy="53035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A6292F"/>
                </a:solidFill>
                <a:latin typeface="微软雅黑"/>
              </a:rPr>
              <a:t>性能优化闭环 · 内存占用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" y="2283355"/>
            <a:ext cx="10378440" cy="658368"/>
          </a:xfrm>
          <a:prstGeom prst="roundRect">
            <a:avLst/>
          </a:prstGeom>
          <a:solidFill>
            <a:srgbClr val="F2E9E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5256" y="2283355"/>
            <a:ext cx="73152" cy="658368"/>
          </a:xfrm>
          <a:prstGeom prst="rect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393083"/>
            <a:ext cx="9893808" cy="40233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83E50"/>
                </a:solidFill>
                <a:latin typeface="微软雅黑"/>
              </a:rPr>
              <a:t>为了让有限内存优先服务于 CANN/NPU 与实时应用，我们裁剪非必要桌面与服务，并把大块资源改为按需使用。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5600" y="3124602"/>
            <a:ext cx="5608320" cy="333793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3152035"/>
            <a:ext cx="14630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3E50"/>
                </a:solidFill>
                <a:latin typeface="微软雅黑"/>
              </a:rPr>
              <a:t>实测结果</a:t>
            </a:r>
          </a:p>
        </p:txBody>
      </p:sp>
      <p:sp>
        <p:nvSpPr>
          <p:cNvPr id="18" name="文本框 25">
            <a:extLst>
              <a:ext uri="{FF2B5EF4-FFF2-40B4-BE49-F238E27FC236}">
                <a16:creationId xmlns:a16="http://schemas.microsoft.com/office/drawing/2014/main" id="{254305FF-2E3A-6208-5037-0A3313899EEE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4921248" cy="585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01 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基础性成果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性能策略</a:t>
            </a:r>
            <a:endParaRPr sz="26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0FE2113-A086-E8E0-2FBE-5820B4A6D1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301" y="3417212"/>
            <a:ext cx="4972050" cy="288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57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03320" y="1548710"/>
            <a:ext cx="4800600" cy="53035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 err="1">
                <a:solidFill>
                  <a:srgbClr val="A6292F"/>
                </a:solidFill>
                <a:latin typeface="微软雅黑"/>
              </a:rPr>
              <a:t>性能优化闭环</a:t>
            </a:r>
            <a:r>
              <a:rPr sz="2300" b="1" i="0">
                <a:solidFill>
                  <a:srgbClr val="A6292F"/>
                </a:solidFill>
                <a:latin typeface="微软雅黑"/>
              </a:rPr>
              <a:t> · </a:t>
            </a:r>
            <a:r>
              <a:rPr sz="2300" b="1" i="0" err="1">
                <a:solidFill>
                  <a:srgbClr val="A6292F"/>
                </a:solidFill>
                <a:latin typeface="微软雅黑"/>
              </a:rPr>
              <a:t>启动时间</a:t>
            </a:r>
            <a:endParaRPr sz="2300" b="1" i="0">
              <a:solidFill>
                <a:srgbClr val="A6292F"/>
              </a:solidFill>
              <a:latin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05256" y="2274666"/>
            <a:ext cx="10378440" cy="658368"/>
          </a:xfrm>
          <a:prstGeom prst="roundRect">
            <a:avLst/>
          </a:prstGeom>
          <a:solidFill>
            <a:srgbClr val="F2E9E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5256" y="2274666"/>
            <a:ext cx="73152" cy="658368"/>
          </a:xfrm>
          <a:prstGeom prst="rect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384394"/>
            <a:ext cx="9893808" cy="40233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83E50"/>
                </a:solidFill>
                <a:latin typeface="微软雅黑"/>
              </a:rPr>
              <a:t>为了更快进入可用桌面和推理服务状态，我们移除固定等待，把非关键服务统一延迟到系统就绪之后。</a:t>
            </a:r>
          </a:p>
        </p:txBody>
      </p:sp>
      <p:sp>
        <p:nvSpPr>
          <p:cNvPr id="18" name="文本框 25">
            <a:extLst>
              <a:ext uri="{FF2B5EF4-FFF2-40B4-BE49-F238E27FC236}">
                <a16:creationId xmlns:a16="http://schemas.microsoft.com/office/drawing/2014/main" id="{334E5930-29CB-19CD-5B33-51B0FCFA7C9C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4921248" cy="585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01 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基础性成果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性能策略</a:t>
            </a:r>
            <a:endParaRPr sz="26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88712A27-E17C-2F4B-F95D-EA76C2E97D2C}"/>
              </a:ext>
            </a:extLst>
          </p:cNvPr>
          <p:cNvSpPr/>
          <p:nvPr/>
        </p:nvSpPr>
        <p:spPr>
          <a:xfrm>
            <a:off x="2895600" y="3124602"/>
            <a:ext cx="5608320" cy="333793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74C9C361-8150-74F5-441B-F1DB64C8CE41}"/>
              </a:ext>
            </a:extLst>
          </p:cNvPr>
          <p:cNvSpPr txBox="1"/>
          <p:nvPr/>
        </p:nvSpPr>
        <p:spPr>
          <a:xfrm>
            <a:off x="2971800" y="3152035"/>
            <a:ext cx="14630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3E50"/>
                </a:solidFill>
                <a:latin typeface="微软雅黑"/>
              </a:rPr>
              <a:t>实测结果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2DC33C98-5CCE-B035-2015-23B8DDBE1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3389778"/>
            <a:ext cx="5219700" cy="30265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45327" y="1199746"/>
            <a:ext cx="4709160" cy="39087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A6292F"/>
                </a:solidFill>
                <a:latin typeface="微软雅黑"/>
              </a:rPr>
              <a:t>从</a:t>
            </a:r>
            <a:r>
              <a:rPr lang="zh-CN" altLang="en-US" sz="2300" b="1">
                <a:solidFill>
                  <a:srgbClr val="A6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  <a:r>
              <a:rPr sz="2300" b="1">
                <a:solidFill>
                  <a:srgbClr val="A6292F"/>
                </a:solidFill>
                <a:latin typeface="微软雅黑"/>
              </a:rPr>
              <a:t>得到结果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1272" y="1802092"/>
            <a:ext cx="10378440" cy="566928"/>
          </a:xfrm>
          <a:prstGeom prst="roundRect">
            <a:avLst/>
          </a:prstGeom>
          <a:solidFill>
            <a:srgbClr val="F2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1272" y="1802092"/>
            <a:ext cx="73152" cy="566928"/>
          </a:xfrm>
          <a:prstGeom prst="rect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9872" y="1951762"/>
            <a:ext cx="9893808" cy="2492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183E50"/>
                </a:solidFill>
                <a:latin typeface="微软雅黑"/>
              </a:rPr>
              <a:t>应用侧把输入、推理和结果展示串起来，用户只需选择图片即可看到检测结果。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3256" y="2551900"/>
            <a:ext cx="3246120" cy="3310128"/>
          </a:xfrm>
          <a:prstGeom prst="roundRect">
            <a:avLst/>
          </a:prstGeom>
          <a:solidFill>
            <a:srgbClr val="F7F8F9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7848" y="2743924"/>
            <a:ext cx="393192" cy="393192"/>
          </a:xfrm>
          <a:prstGeom prst="ellipse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7848" y="2743924"/>
            <a:ext cx="393192" cy="3931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9056" y="2734780"/>
            <a:ext cx="22860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E50"/>
                </a:solidFill>
                <a:latin typeface="微软雅黑"/>
              </a:rPr>
              <a:t>进入应用</a:t>
            </a:r>
          </a:p>
        </p:txBody>
      </p:sp>
      <p:pic>
        <p:nvPicPr>
          <p:cNvPr id="12" name="Picture 11" descr="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48" y="3237700"/>
            <a:ext cx="2916936" cy="16276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6136" y="5204897"/>
            <a:ext cx="2852928" cy="21698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202A33"/>
                </a:solidFill>
                <a:latin typeface="微软雅黑"/>
              </a:rPr>
              <a:t>打开YOLOv5目标检测应用，选择图片。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7432" y="2551900"/>
            <a:ext cx="3246120" cy="3310128"/>
          </a:xfrm>
          <a:prstGeom prst="roundRect">
            <a:avLst/>
          </a:prstGeom>
          <a:solidFill>
            <a:srgbClr val="F7F8F9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42023" y="2743924"/>
            <a:ext cx="393192" cy="393192"/>
          </a:xfrm>
          <a:prstGeom prst="ellipse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2023" y="2743924"/>
            <a:ext cx="393192" cy="3931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3232" y="2734780"/>
            <a:ext cx="22860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E50"/>
                </a:solidFill>
                <a:latin typeface="微软雅黑"/>
              </a:rPr>
              <a:t>选择输入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0312" y="5020780"/>
            <a:ext cx="2852928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202A33"/>
                </a:solidFill>
                <a:latin typeface="微软雅黑"/>
              </a:rPr>
              <a:t>从系统相册选择图片，回到应用预览后点击“开始识别”。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1608" y="2551900"/>
            <a:ext cx="3246120" cy="3310128"/>
          </a:xfrm>
          <a:prstGeom prst="roundRect">
            <a:avLst/>
          </a:prstGeom>
          <a:solidFill>
            <a:srgbClr val="F7F8F9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36199" y="2743924"/>
            <a:ext cx="393192" cy="393192"/>
          </a:xfrm>
          <a:prstGeom prst="ellipse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6199" y="2743924"/>
            <a:ext cx="393192" cy="3931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7408" y="2734780"/>
            <a:ext cx="22860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E50"/>
                </a:solidFill>
                <a:latin typeface="微软雅黑"/>
              </a:rPr>
              <a:t>返回结果</a:t>
            </a:r>
          </a:p>
        </p:txBody>
      </p:sp>
      <p:pic>
        <p:nvPicPr>
          <p:cNvPr id="24" name="Picture 23" descr="frame-07.jpg"/>
          <p:cNvPicPr>
            <a:picLocks noChangeAspect="1"/>
          </p:cNvPicPr>
          <p:nvPr/>
        </p:nvPicPr>
        <p:blipFill>
          <a:blip r:embed="rId4"/>
          <a:srcRect b="10000"/>
          <a:stretch>
            <a:fillRect/>
          </a:stretch>
        </p:blipFill>
        <p:spPr>
          <a:xfrm>
            <a:off x="8336199" y="3237700"/>
            <a:ext cx="2916936" cy="16276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54487" y="5020780"/>
            <a:ext cx="2852928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202A33"/>
                </a:solidFill>
                <a:latin typeface="微软雅黑"/>
              </a:rPr>
              <a:t>检测框和置信度回到界面，并可查看已经保存的识别记录。</a:t>
            </a:r>
          </a:p>
        </p:txBody>
      </p:sp>
      <p:sp>
        <p:nvSpPr>
          <p:cNvPr id="26" name="Chevron 25"/>
          <p:cNvSpPr/>
          <p:nvPr/>
        </p:nvSpPr>
        <p:spPr>
          <a:xfrm>
            <a:off x="4175679" y="4088092"/>
            <a:ext cx="201168" cy="329184"/>
          </a:xfrm>
          <a:prstGeom prst="chevron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hevron 26"/>
          <p:cNvSpPr/>
          <p:nvPr/>
        </p:nvSpPr>
        <p:spPr>
          <a:xfrm>
            <a:off x="7869856" y="4088092"/>
            <a:ext cx="201168" cy="329184"/>
          </a:xfrm>
          <a:prstGeom prst="chevron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11272" y="6145492"/>
            <a:ext cx="10378440" cy="502920"/>
          </a:xfrm>
          <a:prstGeom prst="roundRect">
            <a:avLst/>
          </a:prstGeom>
          <a:solidFill>
            <a:srgbClr val="F2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39872" y="6227788"/>
            <a:ext cx="9893808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83E50"/>
                </a:solidFill>
                <a:latin typeface="微软雅黑"/>
              </a:rPr>
              <a:t>同一套本机NPU服务同时支撑图片推理和实时摄像头检测，应用只负责输入、展示与保存结果。</a:t>
            </a:r>
          </a:p>
        </p:txBody>
      </p:sp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5"/>
          <a:srcRect b="6179"/>
          <a:stretch>
            <a:fillRect/>
          </a:stretch>
        </p:blipFill>
        <p:spPr>
          <a:xfrm>
            <a:off x="4541465" y="3265132"/>
            <a:ext cx="3109070" cy="1627632"/>
          </a:xfrm>
          <a:prstGeom prst="rect">
            <a:avLst/>
          </a:prstGeom>
        </p:spPr>
      </p:pic>
      <p:sp>
        <p:nvSpPr>
          <p:cNvPr id="31" name="文本框 25">
            <a:extLst>
              <a:ext uri="{FF2B5EF4-FFF2-40B4-BE49-F238E27FC236}">
                <a16:creationId xmlns:a16="http://schemas.microsoft.com/office/drawing/2014/main" id="{DAFDFE6C-3D81-0B9B-D436-27E8AE706091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5791594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02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创新与增量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实时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APP</a:t>
            </a:r>
            <a:endParaRPr sz="26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04E5-B757-09D7-695C-91D470EBA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454E43-D503-37C0-024A-635333D288E6}"/>
              </a:ext>
            </a:extLst>
          </p:cNvPr>
          <p:cNvSpPr txBox="1"/>
          <p:nvPr/>
        </p:nvSpPr>
        <p:spPr>
          <a:xfrm>
            <a:off x="3645327" y="1199746"/>
            <a:ext cx="4709160" cy="39087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A6292F"/>
                </a:solidFill>
                <a:latin typeface="微软雅黑"/>
              </a:rPr>
              <a:t>从</a:t>
            </a:r>
            <a:r>
              <a:rPr lang="zh-CN" altLang="en-US" sz="2300" b="1">
                <a:solidFill>
                  <a:srgbClr val="A6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摄像头得到</a:t>
            </a:r>
            <a:r>
              <a:rPr lang="zh-CN" altLang="en-US" sz="2300" b="1">
                <a:solidFill>
                  <a:srgbClr val="A6292F"/>
                </a:solidFill>
                <a:latin typeface="微软雅黑"/>
                <a:ea typeface="微软雅黑" panose="020B0503020204020204" pitchFamily="34" charset="-122"/>
              </a:rPr>
              <a:t>实时反馈</a:t>
            </a:r>
            <a:endParaRPr sz="2300" b="1">
              <a:solidFill>
                <a:srgbClr val="A6292F"/>
              </a:solidFill>
              <a:latin typeface="微软雅黑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7675CD1-4658-6EF5-DDC5-2C5B392CE705}"/>
              </a:ext>
            </a:extLst>
          </p:cNvPr>
          <p:cNvSpPr/>
          <p:nvPr/>
        </p:nvSpPr>
        <p:spPr>
          <a:xfrm>
            <a:off x="911272" y="1802092"/>
            <a:ext cx="10378440" cy="566928"/>
          </a:xfrm>
          <a:prstGeom prst="roundRect">
            <a:avLst/>
          </a:prstGeom>
          <a:solidFill>
            <a:srgbClr val="F2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B2BF05-AB39-E981-8AEC-2C31BC7A6C37}"/>
              </a:ext>
            </a:extLst>
          </p:cNvPr>
          <p:cNvSpPr/>
          <p:nvPr/>
        </p:nvSpPr>
        <p:spPr>
          <a:xfrm>
            <a:off x="911272" y="1802092"/>
            <a:ext cx="73152" cy="566928"/>
          </a:xfrm>
          <a:prstGeom prst="rect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D9E68-27CE-B7AB-F8A1-A84625A9B00E}"/>
              </a:ext>
            </a:extLst>
          </p:cNvPr>
          <p:cNvSpPr txBox="1"/>
          <p:nvPr/>
        </p:nvSpPr>
        <p:spPr>
          <a:xfrm>
            <a:off x="1139872" y="1951762"/>
            <a:ext cx="9893808" cy="2492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183E50"/>
                </a:solidFill>
                <a:latin typeface="微软雅黑"/>
              </a:rPr>
              <a:t>应用侧把输入、推理和结果展示串起来，用户只需</a:t>
            </a:r>
            <a:r>
              <a:rPr lang="zh-CN" altLang="en-US" sz="1380" b="1">
                <a:solidFill>
                  <a:srgbClr val="183E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打开摄像头</a:t>
            </a:r>
            <a:r>
              <a:rPr sz="1380" b="1">
                <a:solidFill>
                  <a:srgbClr val="183E50"/>
                </a:solidFill>
                <a:latin typeface="微软雅黑"/>
              </a:rPr>
              <a:t>即可看到检测结果。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9B8CBD7-35B4-DBA3-8763-18576C65A8BC}"/>
              </a:ext>
            </a:extLst>
          </p:cNvPr>
          <p:cNvSpPr/>
          <p:nvPr/>
        </p:nvSpPr>
        <p:spPr>
          <a:xfrm>
            <a:off x="783256" y="2551900"/>
            <a:ext cx="3246120" cy="3310128"/>
          </a:xfrm>
          <a:prstGeom prst="roundRect">
            <a:avLst/>
          </a:prstGeom>
          <a:solidFill>
            <a:srgbClr val="F7F8F9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D712800-B025-5C21-1B15-01BD19E8D634}"/>
              </a:ext>
            </a:extLst>
          </p:cNvPr>
          <p:cNvSpPr/>
          <p:nvPr/>
        </p:nvSpPr>
        <p:spPr>
          <a:xfrm>
            <a:off x="947848" y="2743924"/>
            <a:ext cx="393192" cy="393192"/>
          </a:xfrm>
          <a:prstGeom prst="ellipse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60FC6-119B-7EE6-E0C2-972C5C713795}"/>
              </a:ext>
            </a:extLst>
          </p:cNvPr>
          <p:cNvSpPr txBox="1"/>
          <p:nvPr/>
        </p:nvSpPr>
        <p:spPr>
          <a:xfrm>
            <a:off x="947848" y="2743924"/>
            <a:ext cx="393192" cy="3931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5AF563-0D65-4B94-A766-7106BC5665C0}"/>
              </a:ext>
            </a:extLst>
          </p:cNvPr>
          <p:cNvSpPr txBox="1"/>
          <p:nvPr/>
        </p:nvSpPr>
        <p:spPr>
          <a:xfrm>
            <a:off x="1469056" y="2734780"/>
            <a:ext cx="22860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E50"/>
                </a:solidFill>
                <a:latin typeface="微软雅黑"/>
              </a:rPr>
              <a:t>进入应用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DD83D0-D5B1-D520-F28F-9DF515C29341}"/>
              </a:ext>
            </a:extLst>
          </p:cNvPr>
          <p:cNvSpPr txBox="1"/>
          <p:nvPr/>
        </p:nvSpPr>
        <p:spPr>
          <a:xfrm>
            <a:off x="966136" y="5114872"/>
            <a:ext cx="2852928" cy="397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202A33"/>
                </a:solidFill>
                <a:latin typeface="微软雅黑"/>
              </a:rPr>
              <a:t>打开YOLOv5目标检测应用，选择切换到实时摄像头。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39E571A-015F-87E5-FFCB-BD993F785971}"/>
              </a:ext>
            </a:extLst>
          </p:cNvPr>
          <p:cNvSpPr/>
          <p:nvPr/>
        </p:nvSpPr>
        <p:spPr>
          <a:xfrm>
            <a:off x="4477432" y="2551900"/>
            <a:ext cx="3246120" cy="3310128"/>
          </a:xfrm>
          <a:prstGeom prst="roundRect">
            <a:avLst/>
          </a:prstGeom>
          <a:solidFill>
            <a:srgbClr val="F7F8F9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04AE983-156C-400A-B8F9-D57B64C8F258}"/>
              </a:ext>
            </a:extLst>
          </p:cNvPr>
          <p:cNvSpPr/>
          <p:nvPr/>
        </p:nvSpPr>
        <p:spPr>
          <a:xfrm>
            <a:off x="4642023" y="2743924"/>
            <a:ext cx="393192" cy="393192"/>
          </a:xfrm>
          <a:prstGeom prst="ellipse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AEF6B8-D277-6CF2-0DB9-56B2F87B612A}"/>
              </a:ext>
            </a:extLst>
          </p:cNvPr>
          <p:cNvSpPr txBox="1"/>
          <p:nvPr/>
        </p:nvSpPr>
        <p:spPr>
          <a:xfrm>
            <a:off x="4642023" y="2743924"/>
            <a:ext cx="393192" cy="3931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DEDA92-9593-946E-5A66-2B80BA0DF339}"/>
              </a:ext>
            </a:extLst>
          </p:cNvPr>
          <p:cNvSpPr txBox="1"/>
          <p:nvPr/>
        </p:nvSpPr>
        <p:spPr>
          <a:xfrm>
            <a:off x="5163232" y="2783777"/>
            <a:ext cx="2286000" cy="2677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>
                <a:solidFill>
                  <a:srgbClr val="183E50"/>
                </a:solidFill>
                <a:latin typeface="微软雅黑"/>
                <a:ea typeface="微软雅黑" panose="020B0503020204020204" pitchFamily="34" charset="-122"/>
              </a:rPr>
              <a:t>正常监控</a:t>
            </a:r>
            <a:endParaRPr sz="1500" b="1">
              <a:solidFill>
                <a:srgbClr val="183E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5949F-2F53-5425-EC92-B84060CFCBA6}"/>
              </a:ext>
            </a:extLst>
          </p:cNvPr>
          <p:cNvSpPr txBox="1"/>
          <p:nvPr/>
        </p:nvSpPr>
        <p:spPr>
          <a:xfrm>
            <a:off x="4660312" y="5204897"/>
            <a:ext cx="2852928" cy="21698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70">
                <a:solidFill>
                  <a:srgbClr val="202A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检测框和置信度持续返回。</a:t>
            </a:r>
            <a:endParaRPr sz="1170" b="0">
              <a:solidFill>
                <a:srgbClr val="202A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95E5968-4AC3-3D7F-2F89-E679D7FB6056}"/>
              </a:ext>
            </a:extLst>
          </p:cNvPr>
          <p:cNvSpPr/>
          <p:nvPr/>
        </p:nvSpPr>
        <p:spPr>
          <a:xfrm>
            <a:off x="8171608" y="2551900"/>
            <a:ext cx="3246120" cy="3310128"/>
          </a:xfrm>
          <a:prstGeom prst="roundRect">
            <a:avLst/>
          </a:prstGeom>
          <a:solidFill>
            <a:srgbClr val="F7F8F9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6F3080-5040-E531-FCD2-B39DC93A0CC2}"/>
              </a:ext>
            </a:extLst>
          </p:cNvPr>
          <p:cNvSpPr/>
          <p:nvPr/>
        </p:nvSpPr>
        <p:spPr>
          <a:xfrm>
            <a:off x="8336199" y="2743924"/>
            <a:ext cx="393192" cy="393192"/>
          </a:xfrm>
          <a:prstGeom prst="ellipse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85E173-2603-8FCE-01DB-1CFE5EBD5F72}"/>
              </a:ext>
            </a:extLst>
          </p:cNvPr>
          <p:cNvSpPr txBox="1"/>
          <p:nvPr/>
        </p:nvSpPr>
        <p:spPr>
          <a:xfrm>
            <a:off x="8336199" y="2743924"/>
            <a:ext cx="393192" cy="3931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522E28-78F4-332D-EA4C-AEBD56F186A2}"/>
              </a:ext>
            </a:extLst>
          </p:cNvPr>
          <p:cNvSpPr txBox="1"/>
          <p:nvPr/>
        </p:nvSpPr>
        <p:spPr>
          <a:xfrm>
            <a:off x="8857408" y="2783777"/>
            <a:ext cx="2286000" cy="2677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>
                <a:solidFill>
                  <a:srgbClr val="183E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发现异常</a:t>
            </a:r>
            <a:endParaRPr sz="1500" b="1">
              <a:solidFill>
                <a:srgbClr val="183E50"/>
              </a:solidFill>
              <a:latin typeface="微软雅黑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898861-CD7C-89A7-2974-B445BB866213}"/>
              </a:ext>
            </a:extLst>
          </p:cNvPr>
          <p:cNvSpPr txBox="1"/>
          <p:nvPr/>
        </p:nvSpPr>
        <p:spPr>
          <a:xfrm>
            <a:off x="8354487" y="5114872"/>
            <a:ext cx="2852928" cy="397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70" b="0">
                <a:solidFill>
                  <a:srgbClr val="202A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对可能出现的异常情况进行语音报警</a:t>
            </a:r>
            <a:r>
              <a:rPr sz="1170" b="0">
                <a:solidFill>
                  <a:srgbClr val="202A33"/>
                </a:solidFill>
                <a:latin typeface="微软雅黑"/>
              </a:rPr>
              <a:t>。</a:t>
            </a:r>
            <a:r>
              <a:rPr lang="zh-CN" altLang="en-US" sz="1170">
                <a:solidFill>
                  <a:srgbClr val="202A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（连续十秒未检测到人，提示人员离岗）</a:t>
            </a:r>
            <a:endParaRPr sz="1170" b="0">
              <a:solidFill>
                <a:srgbClr val="202A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Chevron 25">
            <a:extLst>
              <a:ext uri="{FF2B5EF4-FFF2-40B4-BE49-F238E27FC236}">
                <a16:creationId xmlns:a16="http://schemas.microsoft.com/office/drawing/2014/main" id="{8763F704-F2EC-493E-BED7-E70D56C2C07F}"/>
              </a:ext>
            </a:extLst>
          </p:cNvPr>
          <p:cNvSpPr/>
          <p:nvPr/>
        </p:nvSpPr>
        <p:spPr>
          <a:xfrm>
            <a:off x="4175679" y="4088092"/>
            <a:ext cx="201168" cy="329184"/>
          </a:xfrm>
          <a:prstGeom prst="chevron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hevron 26">
            <a:extLst>
              <a:ext uri="{FF2B5EF4-FFF2-40B4-BE49-F238E27FC236}">
                <a16:creationId xmlns:a16="http://schemas.microsoft.com/office/drawing/2014/main" id="{FD7523E8-7308-0F9F-B916-47D39F3B6EC1}"/>
              </a:ext>
            </a:extLst>
          </p:cNvPr>
          <p:cNvSpPr/>
          <p:nvPr/>
        </p:nvSpPr>
        <p:spPr>
          <a:xfrm>
            <a:off x="7869856" y="4088092"/>
            <a:ext cx="201168" cy="329184"/>
          </a:xfrm>
          <a:prstGeom prst="chevron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E9ECAE5-600F-FA34-B7F6-6FE6CA34A2B4}"/>
              </a:ext>
            </a:extLst>
          </p:cNvPr>
          <p:cNvSpPr/>
          <p:nvPr/>
        </p:nvSpPr>
        <p:spPr>
          <a:xfrm>
            <a:off x="911272" y="6145492"/>
            <a:ext cx="10378440" cy="502920"/>
          </a:xfrm>
          <a:prstGeom prst="roundRect">
            <a:avLst/>
          </a:prstGeom>
          <a:solidFill>
            <a:srgbClr val="F2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118418-402F-82A8-9411-8A7FD91FB54B}"/>
              </a:ext>
            </a:extLst>
          </p:cNvPr>
          <p:cNvSpPr txBox="1"/>
          <p:nvPr/>
        </p:nvSpPr>
        <p:spPr>
          <a:xfrm>
            <a:off x="1139872" y="6227788"/>
            <a:ext cx="9893808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83E50"/>
                </a:solidFill>
                <a:latin typeface="微软雅黑"/>
              </a:rPr>
              <a:t>同一套本机NPU服务同时支撑图片推理和实时摄像头检测，应用只负责输入、展示与保存结果。</a:t>
            </a:r>
          </a:p>
        </p:txBody>
      </p:sp>
      <p:sp>
        <p:nvSpPr>
          <p:cNvPr id="31" name="文本框 25">
            <a:extLst>
              <a:ext uri="{FF2B5EF4-FFF2-40B4-BE49-F238E27FC236}">
                <a16:creationId xmlns:a16="http://schemas.microsoft.com/office/drawing/2014/main" id="{EB98A8C1-C623-AD80-3A98-8C75FEF5F501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5791594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02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创新与增量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实时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APP</a:t>
            </a:r>
            <a:endParaRPr sz="26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1901CB-7033-ECC5-40C0-6EF868C21D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61" y="3246844"/>
            <a:ext cx="3080310" cy="170078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7979E3CF-1660-E35D-898B-1AE4C268C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492" y="3245224"/>
            <a:ext cx="3034312" cy="1702404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76A69430-9564-FB70-8B01-D1600D5E09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984" y="3245224"/>
            <a:ext cx="3099368" cy="174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71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E97EE-3B20-A454-9EBA-4F3E015B5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28D310-AA9D-FA6D-4A8D-08CEE5B7E0DD}"/>
              </a:ext>
            </a:extLst>
          </p:cNvPr>
          <p:cNvSpPr txBox="1"/>
          <p:nvPr/>
        </p:nvSpPr>
        <p:spPr>
          <a:xfrm>
            <a:off x="3645327" y="1199746"/>
            <a:ext cx="4709160" cy="39087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300" b="1">
                <a:solidFill>
                  <a:srgbClr val="A6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</a:t>
            </a:r>
            <a:r>
              <a:rPr lang="zh-CN" altLang="en-US" sz="2300" b="1">
                <a:solidFill>
                  <a:srgbClr val="A6292F"/>
                </a:solidFill>
                <a:latin typeface="微软雅黑"/>
                <a:ea typeface="微软雅黑" panose="020B0503020204020204" pitchFamily="34" charset="-122"/>
              </a:rPr>
              <a:t>语音警报</a:t>
            </a:r>
            <a:endParaRPr sz="2300" b="1">
              <a:solidFill>
                <a:srgbClr val="A6292F"/>
              </a:solidFill>
              <a:latin typeface="微软雅黑"/>
            </a:endParaRPr>
          </a:p>
        </p:txBody>
      </p:sp>
      <p:sp>
        <p:nvSpPr>
          <p:cNvPr id="31" name="文本框 25">
            <a:extLst>
              <a:ext uri="{FF2B5EF4-FFF2-40B4-BE49-F238E27FC236}">
                <a16:creationId xmlns:a16="http://schemas.microsoft.com/office/drawing/2014/main" id="{A6BA3DAB-25EE-0B08-E72B-491229785E0F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5791594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02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创新与增量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实时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APP</a:t>
            </a:r>
            <a:endParaRPr sz="26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" name="疑似使用手机">
            <a:hlinkClick r:id="" action="ppaction://media"/>
            <a:extLst>
              <a:ext uri="{FF2B5EF4-FFF2-40B4-BE49-F238E27FC236}">
                <a16:creationId xmlns:a16="http://schemas.microsoft.com/office/drawing/2014/main" id="{AD7AC28A-1AC2-6D29-EADC-5D12FFC83F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54201" y="1670050"/>
            <a:ext cx="8318508" cy="468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2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03320" y="1259951"/>
            <a:ext cx="489204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err="1">
                <a:solidFill>
                  <a:srgbClr val="A6292F"/>
                </a:solidFill>
                <a:latin typeface="微软雅黑"/>
              </a:rPr>
              <a:t>开机即用：从启动到实时推理</a:t>
            </a:r>
            <a:endParaRPr sz="2300" b="1">
              <a:solidFill>
                <a:srgbClr val="A6292F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05256" y="2000615"/>
            <a:ext cx="10378440" cy="658368"/>
          </a:xfrm>
          <a:prstGeom prst="roundRect">
            <a:avLst/>
          </a:prstGeom>
          <a:solidFill>
            <a:srgbClr val="F2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5256" y="2000615"/>
            <a:ext cx="73152" cy="658368"/>
          </a:xfrm>
          <a:prstGeom prst="rect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3856" y="2110343"/>
            <a:ext cx="9893808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err="1">
                <a:solidFill>
                  <a:srgbClr val="183E50"/>
                </a:solidFill>
                <a:latin typeface="微软雅黑"/>
              </a:rPr>
              <a:t>我们把“开机、连接、服务、推理”串成一条开机即用的功能链路</a:t>
            </a:r>
            <a:r>
              <a:rPr sz="1420" b="1">
                <a:solidFill>
                  <a:srgbClr val="183E50"/>
                </a:solidFill>
                <a:latin typeface="微软雅黑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905871"/>
            <a:ext cx="2514600" cy="2148840"/>
          </a:xfrm>
          <a:prstGeom prst="roundRect">
            <a:avLst/>
          </a:prstGeom>
          <a:solidFill>
            <a:srgbClr val="F7F8F9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9264" y="3088751"/>
            <a:ext cx="411480" cy="411480"/>
          </a:xfrm>
          <a:prstGeom prst="ellipse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3088751"/>
            <a:ext cx="4114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3178171"/>
            <a:ext cx="1819656" cy="26007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err="1">
                <a:solidFill>
                  <a:srgbClr val="183E50"/>
                </a:solidFill>
                <a:latin typeface="微软雅黑"/>
              </a:rPr>
              <a:t>开机直接到可用界面</a:t>
            </a:r>
            <a:endParaRPr sz="1450" b="1">
              <a:solidFill>
                <a:srgbClr val="183E50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64823"/>
            <a:ext cx="2103120" cy="74481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E0000"/>
                </a:solidFill>
                <a:latin typeface="微软雅黑"/>
              </a:rPr>
              <a:t>删除锁屏</a:t>
            </a:r>
            <a:r>
              <a:rPr lang="zh-CN" altLang="en-US" sz="1150" b="0">
                <a:solidFill>
                  <a:srgbClr val="EE0000"/>
                </a:solidFill>
                <a:latin typeface="微软雅黑"/>
              </a:rPr>
              <a:t>、</a:t>
            </a:r>
            <a:r>
              <a:rPr sz="1150" b="0">
                <a:solidFill>
                  <a:srgbClr val="EE0000"/>
                </a:solidFill>
                <a:latin typeface="微软雅黑"/>
              </a:rPr>
              <a:t>桌面</a:t>
            </a:r>
            <a:r>
              <a:rPr sz="1150" b="0">
                <a:solidFill>
                  <a:srgbClr val="202A33"/>
                </a:solidFill>
                <a:latin typeface="微软雅黑"/>
              </a:rPr>
              <a:t>和无用预装</a:t>
            </a:r>
            <a:r>
              <a:rPr sz="1150" b="0" err="1">
                <a:solidFill>
                  <a:srgbClr val="202A33"/>
                </a:solidFill>
                <a:latin typeface="微软雅黑"/>
              </a:rPr>
              <a:t>，保留</a:t>
            </a:r>
            <a:r>
              <a:rPr sz="1150" b="0">
                <a:solidFill>
                  <a:srgbClr val="202A33"/>
                </a:solidFill>
                <a:latin typeface="微软雅黑"/>
              </a:rPr>
              <a:t> </a:t>
            </a:r>
            <a:r>
              <a:rPr sz="1150" b="0" err="1">
                <a:solidFill>
                  <a:srgbClr val="202A33"/>
                </a:solidFill>
                <a:latin typeface="微软雅黑"/>
              </a:rPr>
              <a:t>SystemUI、Launcher</a:t>
            </a:r>
            <a:r>
              <a:rPr sz="1150" b="0">
                <a:solidFill>
                  <a:srgbClr val="202A33"/>
                </a:solidFill>
                <a:latin typeface="微软雅黑"/>
              </a:rPr>
              <a:t> </a:t>
            </a:r>
            <a:r>
              <a:rPr sz="1150" b="0" err="1">
                <a:solidFill>
                  <a:srgbClr val="202A33"/>
                </a:solidFill>
                <a:latin typeface="微软雅黑"/>
              </a:rPr>
              <a:t>和项目应用；需要的应用与服务开机</a:t>
            </a:r>
            <a:r>
              <a:rPr sz="1150" b="0" err="1">
                <a:solidFill>
                  <a:srgbClr val="EE0000"/>
                </a:solidFill>
                <a:latin typeface="微软雅黑"/>
              </a:rPr>
              <a:t>自动拉起</a:t>
            </a:r>
            <a:r>
              <a:rPr sz="1150" b="0">
                <a:solidFill>
                  <a:srgbClr val="202A33"/>
                </a:solidFill>
                <a:latin typeface="微软雅黑"/>
              </a:rPr>
              <a:t>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3346703" y="3783695"/>
            <a:ext cx="164592" cy="310896"/>
          </a:xfrm>
          <a:prstGeom prst="chevron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93008" y="2905871"/>
            <a:ext cx="2514600" cy="2148840"/>
          </a:xfrm>
          <a:prstGeom prst="roundRect">
            <a:avLst/>
          </a:prstGeom>
          <a:solidFill>
            <a:srgbClr val="F7F8F9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57600" y="3088751"/>
            <a:ext cx="411480" cy="411480"/>
          </a:xfrm>
          <a:prstGeom prst="ellipse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3088751"/>
            <a:ext cx="4114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3070463"/>
            <a:ext cx="164592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err="1">
                <a:solidFill>
                  <a:srgbClr val="183E50"/>
                </a:solidFill>
                <a:latin typeface="微软雅黑"/>
              </a:rPr>
              <a:t>设备一插就能用</a:t>
            </a:r>
            <a:endParaRPr sz="1450" b="1">
              <a:solidFill>
                <a:srgbClr val="183E50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94176" y="3664823"/>
            <a:ext cx="2103120" cy="74481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02A33"/>
                </a:solidFill>
                <a:latin typeface="微软雅黑"/>
              </a:rPr>
              <a:t>HDMI </a:t>
            </a:r>
            <a:r>
              <a:rPr sz="1150" b="0" err="1">
                <a:solidFill>
                  <a:srgbClr val="202A33"/>
                </a:solidFill>
                <a:latin typeface="微软雅黑"/>
              </a:rPr>
              <a:t>显示、键鼠</a:t>
            </a:r>
            <a:r>
              <a:rPr lang="zh-CN" altLang="en-US" sz="1150" b="0">
                <a:solidFill>
                  <a:srgbClr val="202A33"/>
                </a:solidFill>
                <a:latin typeface="微软雅黑"/>
              </a:rPr>
              <a:t>、</a:t>
            </a:r>
            <a:r>
              <a:rPr lang="zh-CN" altLang="en-US" sz="1150" b="0">
                <a:solidFill>
                  <a:srgbClr val="E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触摸</a:t>
            </a:r>
            <a:r>
              <a:rPr sz="1150" b="0">
                <a:solidFill>
                  <a:srgbClr val="202A33"/>
                </a:solidFill>
                <a:latin typeface="微软雅黑"/>
              </a:rPr>
              <a:t>和 HDC USB Gadget </a:t>
            </a:r>
            <a:r>
              <a:rPr sz="1150" b="0" err="1">
                <a:solidFill>
                  <a:srgbClr val="202A33"/>
                </a:solidFill>
                <a:latin typeface="微软雅黑"/>
              </a:rPr>
              <a:t>自动就绪，不再手动反复挂载或等待设备出现</a:t>
            </a:r>
            <a:r>
              <a:rPr sz="1150" b="0">
                <a:solidFill>
                  <a:srgbClr val="202A33"/>
                </a:solidFill>
                <a:latin typeface="微软雅黑"/>
              </a:rPr>
              <a:t>。</a:t>
            </a:r>
          </a:p>
        </p:txBody>
      </p:sp>
      <p:sp>
        <p:nvSpPr>
          <p:cNvPr id="19" name="Chevron 18"/>
          <p:cNvSpPr/>
          <p:nvPr/>
        </p:nvSpPr>
        <p:spPr>
          <a:xfrm>
            <a:off x="6035040" y="3783695"/>
            <a:ext cx="164592" cy="310896"/>
          </a:xfrm>
          <a:prstGeom prst="chevron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81344" y="2905871"/>
            <a:ext cx="2514600" cy="2148840"/>
          </a:xfrm>
          <a:prstGeom prst="roundRect">
            <a:avLst/>
          </a:prstGeom>
          <a:solidFill>
            <a:srgbClr val="F7F8F9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45936" y="3088751"/>
            <a:ext cx="411480" cy="411480"/>
          </a:xfrm>
          <a:prstGeom prst="ellipse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45936" y="3088751"/>
            <a:ext cx="4114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070463"/>
            <a:ext cx="164592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err="1">
                <a:solidFill>
                  <a:srgbClr val="183E50"/>
                </a:solidFill>
                <a:latin typeface="微软雅黑"/>
              </a:rPr>
              <a:t>推理服务自动上线</a:t>
            </a:r>
            <a:endParaRPr sz="1450" b="1">
              <a:solidFill>
                <a:srgbClr val="183E50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82512" y="3664823"/>
            <a:ext cx="2103120" cy="5678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02A33"/>
                </a:solidFill>
                <a:latin typeface="微软雅黑"/>
              </a:rPr>
              <a:t>CANN </a:t>
            </a:r>
            <a:r>
              <a:rPr sz="1150" b="0" err="1">
                <a:solidFill>
                  <a:srgbClr val="202A33"/>
                </a:solidFill>
                <a:latin typeface="微软雅黑"/>
              </a:rPr>
              <a:t>运行时</a:t>
            </a:r>
            <a:r>
              <a:rPr sz="1150" b="0" err="1">
                <a:solidFill>
                  <a:srgbClr val="EE0000"/>
                </a:solidFill>
                <a:latin typeface="微软雅黑"/>
              </a:rPr>
              <a:t>随镜像部署</a:t>
            </a:r>
            <a:r>
              <a:rPr sz="1150" b="0" err="1">
                <a:solidFill>
                  <a:srgbClr val="202A33"/>
                </a:solidFill>
                <a:latin typeface="微软雅黑"/>
              </a:rPr>
              <a:t>，开机完成安装校验并启动</a:t>
            </a:r>
            <a:r>
              <a:rPr sz="1150" b="0">
                <a:solidFill>
                  <a:srgbClr val="202A33"/>
                </a:solidFill>
                <a:latin typeface="微软雅黑"/>
              </a:rPr>
              <a:t> 5001 </a:t>
            </a:r>
            <a:r>
              <a:rPr sz="1150" b="0" err="1">
                <a:solidFill>
                  <a:srgbClr val="202A33"/>
                </a:solidFill>
                <a:latin typeface="微软雅黑"/>
              </a:rPr>
              <a:t>本机服务，</a:t>
            </a:r>
            <a:r>
              <a:rPr sz="1150" b="0" err="1">
                <a:solidFill>
                  <a:srgbClr val="EE0000"/>
                </a:solidFill>
                <a:latin typeface="微软雅黑"/>
              </a:rPr>
              <a:t>NPU</a:t>
            </a:r>
            <a:r>
              <a:rPr sz="1150" b="0">
                <a:solidFill>
                  <a:srgbClr val="EE0000"/>
                </a:solidFill>
                <a:latin typeface="微软雅黑"/>
              </a:rPr>
              <a:t> </a:t>
            </a:r>
            <a:r>
              <a:rPr sz="1150" b="0" err="1">
                <a:solidFill>
                  <a:srgbClr val="EE0000"/>
                </a:solidFill>
                <a:latin typeface="微软雅黑"/>
              </a:rPr>
              <a:t>直接可用</a:t>
            </a:r>
            <a:r>
              <a:rPr sz="1150" b="0">
                <a:solidFill>
                  <a:srgbClr val="202A33"/>
                </a:solidFill>
                <a:latin typeface="微软雅黑"/>
              </a:rPr>
              <a:t>。</a:t>
            </a:r>
          </a:p>
        </p:txBody>
      </p:sp>
      <p:sp>
        <p:nvSpPr>
          <p:cNvPr id="25" name="Chevron 24"/>
          <p:cNvSpPr/>
          <p:nvPr/>
        </p:nvSpPr>
        <p:spPr>
          <a:xfrm>
            <a:off x="8723376" y="3783695"/>
            <a:ext cx="164592" cy="310896"/>
          </a:xfrm>
          <a:prstGeom prst="chevron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69680" y="2905871"/>
            <a:ext cx="2514600" cy="2148840"/>
          </a:xfrm>
          <a:prstGeom prst="roundRect">
            <a:avLst/>
          </a:prstGeom>
          <a:solidFill>
            <a:srgbClr val="F7F8F9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034272" y="3088751"/>
            <a:ext cx="411480" cy="411480"/>
          </a:xfrm>
          <a:prstGeom prst="ellipse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34272" y="3088751"/>
            <a:ext cx="4114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64624" y="3178171"/>
            <a:ext cx="1763108" cy="26007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err="1">
                <a:solidFill>
                  <a:srgbClr val="183E50"/>
                </a:solidFill>
                <a:latin typeface="微软雅黑"/>
              </a:rPr>
              <a:t>打开</a:t>
            </a:r>
            <a:r>
              <a:rPr sz="1450" b="1" err="1">
                <a:solidFill>
                  <a:srgbClr val="EE0000"/>
                </a:solidFill>
                <a:latin typeface="微软雅黑"/>
              </a:rPr>
              <a:t>相机</a:t>
            </a:r>
            <a:r>
              <a:rPr sz="1450" b="1" err="1">
                <a:solidFill>
                  <a:srgbClr val="183E50"/>
                </a:solidFill>
                <a:latin typeface="微软雅黑"/>
              </a:rPr>
              <a:t>就能看结果</a:t>
            </a:r>
            <a:endParaRPr sz="1450" b="1">
              <a:solidFill>
                <a:srgbClr val="183E50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70848" y="3664823"/>
            <a:ext cx="2103120" cy="5678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err="1">
                <a:solidFill>
                  <a:srgbClr val="202A33"/>
                </a:solidFill>
                <a:latin typeface="微软雅黑"/>
              </a:rPr>
              <a:t>连续取帧并完成格式转换，送入</a:t>
            </a:r>
            <a:r>
              <a:rPr sz="1150" b="0">
                <a:solidFill>
                  <a:srgbClr val="202A33"/>
                </a:solidFill>
                <a:latin typeface="微软雅黑"/>
              </a:rPr>
              <a:t> NPU </a:t>
            </a:r>
            <a:r>
              <a:rPr sz="1150" b="0" err="1">
                <a:solidFill>
                  <a:srgbClr val="202A33"/>
                </a:solidFill>
                <a:latin typeface="微软雅黑"/>
              </a:rPr>
              <a:t>做推理和</a:t>
            </a:r>
            <a:r>
              <a:rPr sz="1150" b="0">
                <a:solidFill>
                  <a:srgbClr val="202A33"/>
                </a:solidFill>
                <a:latin typeface="微软雅黑"/>
              </a:rPr>
              <a:t> </a:t>
            </a:r>
            <a:r>
              <a:rPr sz="1150" b="0" err="1">
                <a:solidFill>
                  <a:srgbClr val="202A33"/>
                </a:solidFill>
                <a:latin typeface="微软雅黑"/>
              </a:rPr>
              <a:t>NMS，</a:t>
            </a:r>
            <a:r>
              <a:rPr sz="1150" b="0" err="1">
                <a:solidFill>
                  <a:srgbClr val="EE0000"/>
                </a:solidFill>
                <a:latin typeface="微软雅黑"/>
              </a:rPr>
              <a:t>检测</a:t>
            </a:r>
            <a:r>
              <a:rPr sz="1150" b="0" err="1">
                <a:solidFill>
                  <a:srgbClr val="202A33"/>
                </a:solidFill>
                <a:latin typeface="微软雅黑"/>
              </a:rPr>
              <a:t>框与</a:t>
            </a:r>
            <a:r>
              <a:rPr sz="1150" b="0" err="1">
                <a:solidFill>
                  <a:srgbClr val="EE0000"/>
                </a:solidFill>
                <a:latin typeface="微软雅黑"/>
              </a:rPr>
              <a:t>语音</a:t>
            </a:r>
            <a:r>
              <a:rPr sz="1150" b="0" err="1">
                <a:solidFill>
                  <a:srgbClr val="202A33"/>
                </a:solidFill>
                <a:latin typeface="微软雅黑"/>
              </a:rPr>
              <a:t>结果</a:t>
            </a:r>
            <a:r>
              <a:rPr sz="1150" b="0" err="1">
                <a:solidFill>
                  <a:srgbClr val="EE0000"/>
                </a:solidFill>
                <a:latin typeface="微软雅黑"/>
              </a:rPr>
              <a:t>实时</a:t>
            </a:r>
            <a:r>
              <a:rPr sz="1150" b="0" err="1">
                <a:solidFill>
                  <a:srgbClr val="202A33"/>
                </a:solidFill>
                <a:latin typeface="微软雅黑"/>
              </a:rPr>
              <a:t>回到界面</a:t>
            </a:r>
            <a:r>
              <a:rPr sz="1150" b="0">
                <a:solidFill>
                  <a:srgbClr val="202A33"/>
                </a:solidFill>
                <a:latin typeface="微软雅黑"/>
              </a:rPr>
              <a:t>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" y="5338175"/>
            <a:ext cx="10378440" cy="667512"/>
          </a:xfrm>
          <a:prstGeom prst="roundRect">
            <a:avLst/>
          </a:prstGeom>
          <a:solidFill>
            <a:srgbClr val="F2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33856" y="5447903"/>
            <a:ext cx="9893808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183E50"/>
                </a:solidFill>
                <a:latin typeface="微软雅黑"/>
              </a:rPr>
              <a:t>功能保护：保留显示、触摸、相机、HDMI 音频、HDC、CANN/NPU 等主链路，目标是“开机即用”，不是只把系统变小。</a:t>
            </a:r>
          </a:p>
        </p:txBody>
      </p:sp>
      <p:sp>
        <p:nvSpPr>
          <p:cNvPr id="34" name="文本框 25">
            <a:extLst>
              <a:ext uri="{FF2B5EF4-FFF2-40B4-BE49-F238E27FC236}">
                <a16:creationId xmlns:a16="http://schemas.microsoft.com/office/drawing/2014/main" id="{2B5B879D-CAC8-9992-BDCC-5DE25BFD1097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5791594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02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创新与增量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额外工作</a:t>
            </a:r>
            <a:endParaRPr sz="26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>
            <a:extLst>
              <a:ext uri="{FF2B5EF4-FFF2-40B4-BE49-F238E27FC236}">
                <a16:creationId xmlns:a16="http://schemas.microsoft.com/office/drawing/2014/main" id="{CBE0133F-37B3-45BE-877E-3BC70BA38F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9000"/>
            </a:blip>
            <a:srcRect/>
            <a:stretch>
              <a:fillRect/>
            </a:stretch>
          </a:blipFill>
          <a:ln w="1270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EBEBEA-50E2-4F2A-909D-E135BDEB15A9}"/>
              </a:ext>
            </a:extLst>
          </p:cNvPr>
          <p:cNvSpPr>
            <a:spLocks noGrp="1"/>
          </p:cNvSpPr>
          <p:nvPr/>
        </p:nvSpPr>
        <p:spPr>
          <a:xfrm>
            <a:off x="911225" y="1976086"/>
            <a:ext cx="2495604" cy="38662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EAD1A79-C7EC-4C6E-8486-D4C8842AD762}"/>
              </a:ext>
            </a:extLst>
          </p:cNvPr>
          <p:cNvSpPr>
            <a:spLocks noGrp="1"/>
          </p:cNvSpPr>
          <p:nvPr/>
        </p:nvSpPr>
        <p:spPr>
          <a:xfrm>
            <a:off x="1032812" y="4978238"/>
            <a:ext cx="2238141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VideoOutput + ImageReceiver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YUV420 连续分析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DF110AA-48BF-401A-9CCA-58B9F37BA246}"/>
              </a:ext>
            </a:extLst>
          </p:cNvPr>
          <p:cNvSpPr>
            <a:spLocks noGrp="1"/>
          </p:cNvSpPr>
          <p:nvPr/>
        </p:nvSpPr>
        <p:spPr>
          <a:xfrm>
            <a:off x="911225" y="4847740"/>
            <a:ext cx="2495604" cy="994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41ED87-07E9-4834-B525-2B54CF383EE4}"/>
              </a:ext>
            </a:extLst>
          </p:cNvPr>
          <p:cNvSpPr>
            <a:spLocks noGrp="1"/>
          </p:cNvSpPr>
          <p:nvPr/>
        </p:nvSpPr>
        <p:spPr>
          <a:xfrm>
            <a:off x="1859288" y="2528965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7CA5ECE5-B534-4F26-B67E-2B5592E7C702}"/>
              </a:ext>
            </a:extLst>
          </p:cNvPr>
          <p:cNvSpPr>
            <a:spLocks noGrp="1"/>
          </p:cNvSpPr>
          <p:nvPr/>
        </p:nvSpPr>
        <p:spPr>
          <a:xfrm>
            <a:off x="2151885" y="3146702"/>
            <a:ext cx="7141" cy="27544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6262FE0-8051-4C91-B003-5352B0F7A02D}"/>
              </a:ext>
            </a:extLst>
          </p:cNvPr>
          <p:cNvSpPr>
            <a:spLocks noGrp="1"/>
          </p:cNvSpPr>
          <p:nvPr/>
        </p:nvSpPr>
        <p:spPr>
          <a:xfrm>
            <a:off x="1760018" y="3467297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取帧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ED54303-250A-404A-9965-661FC46C7CCC}"/>
              </a:ext>
            </a:extLst>
          </p:cNvPr>
          <p:cNvSpPr>
            <a:spLocks noGrp="1"/>
          </p:cNvSpPr>
          <p:nvPr/>
        </p:nvSpPr>
        <p:spPr>
          <a:xfrm>
            <a:off x="1039955" y="3964529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00"/>
            </a:pPr>
            <a:r>
              <a:rPr sz="9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CAMERA PIPELINE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FD4788C-F086-4305-971E-4D63A03B51C8}"/>
              </a:ext>
            </a:extLst>
          </p:cNvPr>
          <p:cNvSpPr>
            <a:spLocks noGrp="1"/>
          </p:cNvSpPr>
          <p:nvPr/>
        </p:nvSpPr>
        <p:spPr>
          <a:xfrm>
            <a:off x="6217046" y="1976086"/>
            <a:ext cx="2495604" cy="38662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B09F291-A41C-41CD-B578-8913C70CAB23}"/>
              </a:ext>
            </a:extLst>
          </p:cNvPr>
          <p:cNvSpPr>
            <a:spLocks noGrp="1"/>
          </p:cNvSpPr>
          <p:nvPr/>
        </p:nvSpPr>
        <p:spPr>
          <a:xfrm>
            <a:off x="6338633" y="4978234"/>
            <a:ext cx="223814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模型常驻内存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NMS 在服务端完成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FDE4D6E-3517-44C6-AF85-B0A7E865CBD0}"/>
              </a:ext>
            </a:extLst>
          </p:cNvPr>
          <p:cNvSpPr>
            <a:spLocks noGrp="1"/>
          </p:cNvSpPr>
          <p:nvPr/>
        </p:nvSpPr>
        <p:spPr>
          <a:xfrm>
            <a:off x="6217046" y="4847735"/>
            <a:ext cx="2495604" cy="994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573512C-3A66-498D-ABD8-CFB5999E15DF}"/>
              </a:ext>
            </a:extLst>
          </p:cNvPr>
          <p:cNvSpPr>
            <a:spLocks noGrp="1"/>
          </p:cNvSpPr>
          <p:nvPr/>
        </p:nvSpPr>
        <p:spPr>
          <a:xfrm>
            <a:off x="7155639" y="2528965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9DC2F7EE-8B0F-44F1-A7C9-DAC396FF3A5F}"/>
              </a:ext>
            </a:extLst>
          </p:cNvPr>
          <p:cNvSpPr>
            <a:spLocks noGrp="1"/>
          </p:cNvSpPr>
          <p:nvPr/>
        </p:nvSpPr>
        <p:spPr>
          <a:xfrm>
            <a:off x="7448236" y="3146702"/>
            <a:ext cx="7141" cy="27544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D87FD43-A303-4B1C-A97E-FC17A191950D}"/>
              </a:ext>
            </a:extLst>
          </p:cNvPr>
          <p:cNvSpPr>
            <a:spLocks noGrp="1"/>
          </p:cNvSpPr>
          <p:nvPr/>
        </p:nvSpPr>
        <p:spPr>
          <a:xfrm>
            <a:off x="7056369" y="3467297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服务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688579A-F428-44C9-8E1F-ABF7DCA7B798}"/>
              </a:ext>
            </a:extLst>
          </p:cNvPr>
          <p:cNvSpPr>
            <a:spLocks noGrp="1"/>
          </p:cNvSpPr>
          <p:nvPr/>
        </p:nvSpPr>
        <p:spPr>
          <a:xfrm>
            <a:off x="6329165" y="3964529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00"/>
            </a:pPr>
            <a:r>
              <a:rPr sz="9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LOCAL BINARY RPC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36AEE97-8AF5-49AB-B3E7-F42418409C92}"/>
              </a:ext>
            </a:extLst>
          </p:cNvPr>
          <p:cNvSpPr>
            <a:spLocks noGrp="1"/>
          </p:cNvSpPr>
          <p:nvPr/>
        </p:nvSpPr>
        <p:spPr>
          <a:xfrm>
            <a:off x="8869957" y="1976086"/>
            <a:ext cx="2495604" cy="38662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6F22428-7C11-477C-A27A-0D3334776085}"/>
              </a:ext>
            </a:extLst>
          </p:cNvPr>
          <p:cNvSpPr>
            <a:spLocks noGrp="1"/>
          </p:cNvSpPr>
          <p:nvPr/>
        </p:nvSpPr>
        <p:spPr>
          <a:xfrm>
            <a:off x="8869956" y="4835883"/>
            <a:ext cx="2496348" cy="100645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4DF67E2-A6E1-45F6-A412-0F2A4A19D5E6}"/>
              </a:ext>
            </a:extLst>
          </p:cNvPr>
          <p:cNvSpPr>
            <a:spLocks noGrp="1"/>
          </p:cNvSpPr>
          <p:nvPr/>
        </p:nvSpPr>
        <p:spPr>
          <a:xfrm>
            <a:off x="8992287" y="4968158"/>
            <a:ext cx="223814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坐标映射与检测框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实时状态反馈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762D55C-9671-4891-AA20-66CEBB895802}"/>
              </a:ext>
            </a:extLst>
          </p:cNvPr>
          <p:cNvSpPr>
            <a:spLocks noGrp="1"/>
          </p:cNvSpPr>
          <p:nvPr/>
        </p:nvSpPr>
        <p:spPr>
          <a:xfrm>
            <a:off x="9771945" y="2528964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D3698A15-4700-4118-A506-787FFF4D4FF7}"/>
              </a:ext>
            </a:extLst>
          </p:cNvPr>
          <p:cNvSpPr>
            <a:spLocks noGrp="1"/>
          </p:cNvSpPr>
          <p:nvPr/>
        </p:nvSpPr>
        <p:spPr>
          <a:xfrm>
            <a:off x="10064542" y="3146701"/>
            <a:ext cx="7141" cy="275444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239778-877B-27DE-D095-454863F429B3}"/>
              </a:ext>
            </a:extLst>
          </p:cNvPr>
          <p:cNvSpPr>
            <a:spLocks noGrp="1"/>
          </p:cNvSpPr>
          <p:nvPr/>
        </p:nvSpPr>
        <p:spPr>
          <a:xfrm>
            <a:off x="3549105" y="1976080"/>
            <a:ext cx="2495604" cy="38662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5518F82E-BE15-4564-BF6A-2D5780D99CFF}"/>
              </a:ext>
            </a:extLst>
          </p:cNvPr>
          <p:cNvSpPr>
            <a:spLocks noGrp="1"/>
          </p:cNvSpPr>
          <p:nvPr/>
        </p:nvSpPr>
        <p:spPr>
          <a:xfrm>
            <a:off x="9672675" y="3467295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叠框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4493D7C-E59A-4E31-9FA4-2C429F27D1C4}"/>
              </a:ext>
            </a:extLst>
          </p:cNvPr>
          <p:cNvSpPr>
            <a:spLocks noGrp="1"/>
          </p:cNvSpPr>
          <p:nvPr/>
        </p:nvSpPr>
        <p:spPr>
          <a:xfrm>
            <a:off x="8945471" y="3945867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00"/>
            </a:pPr>
            <a:r>
              <a:rPr sz="9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ARKUI OVERLAY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1FF251E-3D9E-429D-82D3-A1753FE22484}"/>
              </a:ext>
            </a:extLst>
          </p:cNvPr>
          <p:cNvSpPr>
            <a:spLocks noGrp="1"/>
          </p:cNvSpPr>
          <p:nvPr/>
        </p:nvSpPr>
        <p:spPr>
          <a:xfrm>
            <a:off x="3677837" y="4978236"/>
            <a:ext cx="2238141" cy="515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latin typeface="微软雅黑"/>
                <a:ea typeface="微软雅黑"/>
                <a:cs typeface="微软雅黑"/>
              </a:rPr>
              <a:t>动态宽高 / stride</a:t>
            </a:r>
            <a:endParaRPr sz="1400"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latin typeface="微软雅黑"/>
                <a:ea typeface="微软雅黑"/>
                <a:cs typeface="微软雅黑"/>
              </a:rPr>
              <a:t>覆盖帧立即归还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36E3D44-BCCD-4D72-91EB-158F3F55A4AE}"/>
              </a:ext>
            </a:extLst>
          </p:cNvPr>
          <p:cNvSpPr>
            <a:spLocks noGrp="1"/>
          </p:cNvSpPr>
          <p:nvPr/>
        </p:nvSpPr>
        <p:spPr>
          <a:xfrm>
            <a:off x="4475594" y="2528965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07BEFC-5EEE-F4EF-9A65-C82C53A05003}"/>
              </a:ext>
            </a:extLst>
          </p:cNvPr>
          <p:cNvSpPr>
            <a:spLocks noGrp="1"/>
          </p:cNvSpPr>
          <p:nvPr/>
        </p:nvSpPr>
        <p:spPr>
          <a:xfrm>
            <a:off x="3550046" y="4847735"/>
            <a:ext cx="2495604" cy="994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34FEB326-0BD4-416B-B71F-1120A02F4193}"/>
              </a:ext>
            </a:extLst>
          </p:cNvPr>
          <p:cNvSpPr>
            <a:spLocks noGrp="1"/>
          </p:cNvSpPr>
          <p:nvPr/>
        </p:nvSpPr>
        <p:spPr>
          <a:xfrm>
            <a:off x="4768191" y="3146702"/>
            <a:ext cx="7141" cy="27544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F344A4A-80E4-4D27-9843-F27DA2CBEBB8}"/>
              </a:ext>
            </a:extLst>
          </p:cNvPr>
          <p:cNvSpPr>
            <a:spLocks noGrp="1"/>
          </p:cNvSpPr>
          <p:nvPr/>
        </p:nvSpPr>
        <p:spPr>
          <a:xfrm>
            <a:off x="4376324" y="3467297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缓冲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7E05917-8A62-44EF-99A6-51028C881179}"/>
              </a:ext>
            </a:extLst>
          </p:cNvPr>
          <p:cNvSpPr>
            <a:spLocks noGrp="1"/>
          </p:cNvSpPr>
          <p:nvPr/>
        </p:nvSpPr>
        <p:spPr>
          <a:xfrm>
            <a:off x="3716697" y="3952088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00"/>
            </a:pPr>
            <a:r>
              <a:rPr sz="9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BUFFER LIFECYCLE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A5D7B4-DC32-47FE-8FE6-818CF5974C8E}"/>
              </a:ext>
            </a:extLst>
          </p:cNvPr>
          <p:cNvSpPr>
            <a:spLocks noGrp="1"/>
          </p:cNvSpPr>
          <p:nvPr/>
        </p:nvSpPr>
        <p:spPr>
          <a:xfrm>
            <a:off x="911225" y="1976086"/>
            <a:ext cx="10454337" cy="386625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25">
            <a:extLst>
              <a:ext uri="{FF2B5EF4-FFF2-40B4-BE49-F238E27FC236}">
                <a16:creationId xmlns:a16="http://schemas.microsoft.com/office/drawing/2014/main" id="{A0AF4D5A-D9BE-0930-271C-BDDC2AD3A53F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5791594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02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创新与增量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额外工作</a:t>
            </a:r>
            <a:endParaRPr sz="26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22022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6"/>
          <p:cNvGraphicFramePr/>
          <p:nvPr>
            <p:extLst>
              <p:ext uri="{D42A27DB-BD31-4B8C-83A1-F6EECF244321}">
                <p14:modId xmlns:p14="http://schemas.microsoft.com/office/powerpoint/2010/main" val="825633214"/>
              </p:ext>
            </p:extLst>
          </p:nvPr>
        </p:nvGraphicFramePr>
        <p:xfrm>
          <a:off x="1122615" y="2318205"/>
          <a:ext cx="9977616" cy="3691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2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2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2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2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8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A6292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系统底座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A6292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 b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NPU 栈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A6292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 b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模型推理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A6292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 b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实时应用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A6292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 b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ABI 边界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A6292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err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参考</a:t>
                      </a:r>
                      <a:r>
                        <a:rPr sz="2000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/ </a:t>
                      </a:r>
                      <a:r>
                        <a:rPr lang="zh-CN" altLang="en-US" sz="2000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</a:t>
                      </a:r>
                      <a:r>
                        <a:rPr sz="2000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OpenHarmony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厂商 BSP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CANN Runtime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官方 API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YOLOv5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ONNX 工具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ArkUI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CameraKit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 Socket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机制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err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队伍</a:t>
                      </a:r>
                      <a:r>
                        <a:rPr lang="zh-CN" altLang="en-US" sz="2000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</a:t>
                      </a:r>
                      <a:r>
                        <a:rPr sz="2000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量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启智01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启动链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镜像内置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服务化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OM / NMS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HDC CLI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YUV 流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NAPI / </a:t>
                      </a:r>
                      <a:r>
                        <a:rPr sz="135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叠框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musl / glibc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隔离协议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验证证据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桌面 / 1080p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USB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npu-smi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pyACL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检测图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18.5ms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实时演示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127.0.0.1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:5001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创新价值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A629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可启动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可交互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A629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开箱即用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A629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端到端闭环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A629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单图→实时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A629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稳定复用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CANN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A6292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3E61CC1-1DA2-4B28-8625-81154BD0ACD0}"/>
              </a:ext>
            </a:extLst>
          </p:cNvPr>
          <p:cNvSpPr>
            <a:spLocks noGrp="1"/>
          </p:cNvSpPr>
          <p:nvPr/>
        </p:nvSpPr>
        <p:spPr>
          <a:xfrm>
            <a:off x="5313347" y="1600409"/>
            <a:ext cx="2721006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pc="10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参考边界｜原创增量</a:t>
            </a:r>
          </a:p>
        </p:txBody>
      </p:sp>
      <p:sp>
        <p:nvSpPr>
          <p:cNvPr id="3" name="文本框 25">
            <a:extLst>
              <a:ext uri="{FF2B5EF4-FFF2-40B4-BE49-F238E27FC236}">
                <a16:creationId xmlns:a16="http://schemas.microsoft.com/office/drawing/2014/main" id="{42E40CF0-3EF1-DDE6-74AE-699885B01A8F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5791594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02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创新与增量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借鉴创新</a:t>
            </a:r>
            <a:endParaRPr sz="26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70719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íṡlîḓè">
            <a:extLst>
              <a:ext uri="{FF2B5EF4-FFF2-40B4-BE49-F238E27FC236}">
                <a16:creationId xmlns:a16="http://schemas.microsoft.com/office/drawing/2014/main" id="{49647C48-E2DA-44A7-B974-23C30C82256D}"/>
              </a:ext>
            </a:extLst>
          </p:cNvPr>
          <p:cNvSpPr>
            <a:spLocks noGrp="1"/>
          </p:cNvSpPr>
          <p:nvPr/>
        </p:nvSpPr>
        <p:spPr>
          <a:xfrm>
            <a:off x="4651255" y="2198563"/>
            <a:ext cx="1655366" cy="1655365"/>
          </a:xfrm>
          <a:prstGeom prst="ellipse">
            <a:avLst/>
          </a:prstGeom>
          <a:noFill/>
          <a:ln w="38100" cmpd="sng">
            <a:solidFill>
              <a:srgbClr val="C00000">
                <a:alpha val="35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t">
            <a:normAutofit/>
          </a:bodyPr>
          <a:lstStyle/>
          <a:p>
            <a:pPr algn="ctr">
              <a:buNone/>
            </a:pPr>
            <a:r>
              <a:rPr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71</a:t>
            </a:r>
          </a:p>
        </p:txBody>
      </p:sp>
      <p:sp>
        <p:nvSpPr>
          <p:cNvPr id="35" name="ïšļîḓê">
            <a:extLst>
              <a:ext uri="{FF2B5EF4-FFF2-40B4-BE49-F238E27FC236}">
                <a16:creationId xmlns:a16="http://schemas.microsoft.com/office/drawing/2014/main" id="{D7ABB9C6-140B-44FD-8CBD-9193A7C9EFB9}"/>
              </a:ext>
            </a:extLst>
          </p:cNvPr>
          <p:cNvSpPr>
            <a:spLocks noGrp="1"/>
          </p:cNvSpPr>
          <p:nvPr/>
        </p:nvSpPr>
        <p:spPr>
          <a:xfrm>
            <a:off x="4651255" y="2998519"/>
            <a:ext cx="1655366" cy="855409"/>
          </a:xfrm>
          <a:custGeom>
            <a:avLst/>
            <a:gdLst>
              <a:gd name="connsiteX0" fmla="*/ 1644 w 1944216"/>
              <a:gd name="connsiteY0" fmla="*/ 0 h 1004672"/>
              <a:gd name="connsiteX1" fmla="*/ 1942572 w 1944216"/>
              <a:gd name="connsiteY1" fmla="*/ 0 h 1004672"/>
              <a:gd name="connsiteX2" fmla="*/ 1944216 w 1944216"/>
              <a:gd name="connsiteY2" fmla="*/ 32564 h 1004672"/>
              <a:gd name="connsiteX3" fmla="*/ 972108 w 1944216"/>
              <a:gd name="connsiteY3" fmla="*/ 1004672 h 1004672"/>
              <a:gd name="connsiteX4" fmla="*/ 0 w 1944216"/>
              <a:gd name="connsiteY4" fmla="*/ 32564 h 1004672"/>
              <a:gd name="connsiteX5" fmla="*/ 1644 w 1944216"/>
              <a:gd name="connsiteY5" fmla="*/ 0 h 1004672"/>
            </a:gdLst>
            <a:ahLst/>
            <a:cxnLst/>
            <a:rect l="l" t="t" r="r" b="b"/>
            <a:pathLst>
              <a:path w="1944216" h="1004672">
                <a:moveTo>
                  <a:pt x="1644" y="0"/>
                </a:moveTo>
                <a:lnTo>
                  <a:pt x="1942572" y="0"/>
                </a:lnTo>
                <a:lnTo>
                  <a:pt x="1944216" y="32564"/>
                </a:lnTo>
                <a:cubicBezTo>
                  <a:pt x="1944216" y="569444"/>
                  <a:pt x="1508988" y="1004672"/>
                  <a:pt x="972108" y="1004672"/>
                </a:cubicBezTo>
                <a:cubicBezTo>
                  <a:pt x="435228" y="1004672"/>
                  <a:pt x="0" y="569444"/>
                  <a:pt x="0" y="32564"/>
                </a:cubicBezTo>
                <a:lnTo>
                  <a:pt x="1644" y="0"/>
                </a:lnTo>
                <a:close/>
              </a:path>
            </a:pathLst>
          </a:custGeom>
          <a:solidFill>
            <a:srgbClr val="A6292F"/>
          </a:solidFill>
          <a:ln w="12700" cmpd="sng">
            <a:noFill/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sz="16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COMMITS</a:t>
            </a:r>
          </a:p>
        </p:txBody>
      </p:sp>
      <p:sp>
        <p:nvSpPr>
          <p:cNvPr id="28" name="ï$ľîḑê">
            <a:extLst>
              <a:ext uri="{FF2B5EF4-FFF2-40B4-BE49-F238E27FC236}">
                <a16:creationId xmlns:a16="http://schemas.microsoft.com/office/drawing/2014/main" id="{BFC24F4A-0C42-448C-962D-8B26B0A53B80}"/>
              </a:ext>
            </a:extLst>
          </p:cNvPr>
          <p:cNvSpPr>
            <a:spLocks noGrp="1"/>
          </p:cNvSpPr>
          <p:nvPr/>
        </p:nvSpPr>
        <p:spPr>
          <a:xfrm>
            <a:off x="7428322" y="2198563"/>
            <a:ext cx="1655366" cy="1655365"/>
          </a:xfrm>
          <a:prstGeom prst="ellipse">
            <a:avLst/>
          </a:prstGeom>
          <a:noFill/>
          <a:ln w="38100" cmpd="sng">
            <a:solidFill>
              <a:srgbClr val="C00000">
                <a:alpha val="35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t">
            <a:normAutofit/>
          </a:bodyPr>
          <a:lstStyle/>
          <a:p>
            <a:pPr algn="ctr">
              <a:buNone/>
            </a:pPr>
            <a:r>
              <a:rPr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73</a:t>
            </a:r>
          </a:p>
        </p:txBody>
      </p:sp>
      <p:sp>
        <p:nvSpPr>
          <p:cNvPr id="29" name="îśḻïdé">
            <a:extLst>
              <a:ext uri="{FF2B5EF4-FFF2-40B4-BE49-F238E27FC236}">
                <a16:creationId xmlns:a16="http://schemas.microsoft.com/office/drawing/2014/main" id="{7F3CCA20-62D0-4C2D-A41B-21D5F3298679}"/>
              </a:ext>
            </a:extLst>
          </p:cNvPr>
          <p:cNvSpPr>
            <a:spLocks noGrp="1"/>
          </p:cNvSpPr>
          <p:nvPr/>
        </p:nvSpPr>
        <p:spPr>
          <a:xfrm>
            <a:off x="7428322" y="2998519"/>
            <a:ext cx="1655366" cy="855409"/>
          </a:xfrm>
          <a:custGeom>
            <a:avLst/>
            <a:gdLst>
              <a:gd name="connsiteX0" fmla="*/ 1644 w 1944216"/>
              <a:gd name="connsiteY0" fmla="*/ 0 h 1004672"/>
              <a:gd name="connsiteX1" fmla="*/ 1942572 w 1944216"/>
              <a:gd name="connsiteY1" fmla="*/ 0 h 1004672"/>
              <a:gd name="connsiteX2" fmla="*/ 1944216 w 1944216"/>
              <a:gd name="connsiteY2" fmla="*/ 32564 h 1004672"/>
              <a:gd name="connsiteX3" fmla="*/ 972108 w 1944216"/>
              <a:gd name="connsiteY3" fmla="*/ 1004672 h 1004672"/>
              <a:gd name="connsiteX4" fmla="*/ 0 w 1944216"/>
              <a:gd name="connsiteY4" fmla="*/ 32564 h 1004672"/>
              <a:gd name="connsiteX5" fmla="*/ 1644 w 1944216"/>
              <a:gd name="connsiteY5" fmla="*/ 0 h 1004672"/>
            </a:gdLst>
            <a:ahLst/>
            <a:cxnLst/>
            <a:rect l="l" t="t" r="r" b="b"/>
            <a:pathLst>
              <a:path w="1944216" h="1004672">
                <a:moveTo>
                  <a:pt x="1644" y="0"/>
                </a:moveTo>
                <a:lnTo>
                  <a:pt x="1942572" y="0"/>
                </a:lnTo>
                <a:lnTo>
                  <a:pt x="1944216" y="32564"/>
                </a:lnTo>
                <a:cubicBezTo>
                  <a:pt x="1944216" y="569444"/>
                  <a:pt x="1508988" y="1004672"/>
                  <a:pt x="972108" y="1004672"/>
                </a:cubicBezTo>
                <a:cubicBezTo>
                  <a:pt x="435228" y="1004672"/>
                  <a:pt x="0" y="569444"/>
                  <a:pt x="0" y="32564"/>
                </a:cubicBezTo>
                <a:lnTo>
                  <a:pt x="1644" y="0"/>
                </a:lnTo>
                <a:close/>
              </a:path>
            </a:pathLst>
          </a:custGeom>
          <a:solidFill>
            <a:srgbClr val="A6292F"/>
          </a:solidFill>
          <a:ln w="12700" cmpd="sng">
            <a:noFill/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sz="16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FILES</a:t>
            </a:r>
          </a:p>
        </p:txBody>
      </p:sp>
      <p:sp>
        <p:nvSpPr>
          <p:cNvPr id="22" name="îṩlîďè">
            <a:extLst>
              <a:ext uri="{FF2B5EF4-FFF2-40B4-BE49-F238E27FC236}">
                <a16:creationId xmlns:a16="http://schemas.microsoft.com/office/drawing/2014/main" id="{ECB1FBED-5BC0-4E07-93BD-3F0C86AC2586}"/>
              </a:ext>
            </a:extLst>
          </p:cNvPr>
          <p:cNvSpPr>
            <a:spLocks noGrp="1"/>
          </p:cNvSpPr>
          <p:nvPr/>
        </p:nvSpPr>
        <p:spPr>
          <a:xfrm>
            <a:off x="10205389" y="2198563"/>
            <a:ext cx="1655366" cy="1655365"/>
          </a:xfrm>
          <a:prstGeom prst="ellipse">
            <a:avLst/>
          </a:prstGeom>
          <a:noFill/>
          <a:ln w="38100" cmpd="sng">
            <a:solidFill>
              <a:srgbClr val="C00000">
                <a:alpha val="35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t">
            <a:normAutofit/>
          </a:bodyPr>
          <a:lstStyle/>
          <a:p>
            <a:pPr algn="ctr">
              <a:buNone/>
            </a:pPr>
            <a:r>
              <a:rPr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+7,332</a:t>
            </a:r>
          </a:p>
        </p:txBody>
      </p:sp>
      <p:sp>
        <p:nvSpPr>
          <p:cNvPr id="23" name="îşḻíḓé">
            <a:extLst>
              <a:ext uri="{FF2B5EF4-FFF2-40B4-BE49-F238E27FC236}">
                <a16:creationId xmlns:a16="http://schemas.microsoft.com/office/drawing/2014/main" id="{12715F49-B0DE-4D3D-B0CB-B41282287453}"/>
              </a:ext>
            </a:extLst>
          </p:cNvPr>
          <p:cNvSpPr>
            <a:spLocks noGrp="1"/>
          </p:cNvSpPr>
          <p:nvPr/>
        </p:nvSpPr>
        <p:spPr>
          <a:xfrm>
            <a:off x="10205389" y="2998519"/>
            <a:ext cx="1655366" cy="855409"/>
          </a:xfrm>
          <a:custGeom>
            <a:avLst/>
            <a:gdLst>
              <a:gd name="connsiteX0" fmla="*/ 1644 w 1944216"/>
              <a:gd name="connsiteY0" fmla="*/ 0 h 1004672"/>
              <a:gd name="connsiteX1" fmla="*/ 1942572 w 1944216"/>
              <a:gd name="connsiteY1" fmla="*/ 0 h 1004672"/>
              <a:gd name="connsiteX2" fmla="*/ 1944216 w 1944216"/>
              <a:gd name="connsiteY2" fmla="*/ 32564 h 1004672"/>
              <a:gd name="connsiteX3" fmla="*/ 972108 w 1944216"/>
              <a:gd name="connsiteY3" fmla="*/ 1004672 h 1004672"/>
              <a:gd name="connsiteX4" fmla="*/ 0 w 1944216"/>
              <a:gd name="connsiteY4" fmla="*/ 32564 h 1004672"/>
              <a:gd name="connsiteX5" fmla="*/ 1644 w 1944216"/>
              <a:gd name="connsiteY5" fmla="*/ 0 h 1004672"/>
            </a:gdLst>
            <a:ahLst/>
            <a:cxnLst/>
            <a:rect l="l" t="t" r="r" b="b"/>
            <a:pathLst>
              <a:path w="1944216" h="1004672">
                <a:moveTo>
                  <a:pt x="1644" y="0"/>
                </a:moveTo>
                <a:lnTo>
                  <a:pt x="1942572" y="0"/>
                </a:lnTo>
                <a:lnTo>
                  <a:pt x="1944216" y="32564"/>
                </a:lnTo>
                <a:cubicBezTo>
                  <a:pt x="1944216" y="569444"/>
                  <a:pt x="1508988" y="1004672"/>
                  <a:pt x="972108" y="1004672"/>
                </a:cubicBezTo>
                <a:cubicBezTo>
                  <a:pt x="435228" y="1004672"/>
                  <a:pt x="0" y="569444"/>
                  <a:pt x="0" y="32564"/>
                </a:cubicBezTo>
                <a:lnTo>
                  <a:pt x="1644" y="0"/>
                </a:lnTo>
                <a:close/>
              </a:path>
            </a:pathLst>
          </a:custGeom>
          <a:solidFill>
            <a:srgbClr val="A6292F"/>
          </a:solidFill>
          <a:ln w="12700" cmpd="sng">
            <a:noFill/>
            <a:prstDash val="solid"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sz="16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−158 行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965CECFF-ED8D-4D7A-B626-9D8A0526E281}"/>
              </a:ext>
            </a:extLst>
          </p:cNvPr>
          <p:cNvSpPr>
            <a:spLocks noGrp="1"/>
          </p:cNvSpPr>
          <p:nvPr/>
        </p:nvSpPr>
        <p:spPr>
          <a:xfrm>
            <a:off x="6865593" y="1989767"/>
            <a:ext cx="0" cy="3756878"/>
          </a:xfrm>
          <a:prstGeom prst="line">
            <a:avLst/>
          </a:prstGeom>
          <a:ln w="3175">
            <a:solidFill>
              <a:srgbClr val="A6292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B1E22B57-972B-48DB-9494-784EBC67CC6E}"/>
              </a:ext>
            </a:extLst>
          </p:cNvPr>
          <p:cNvSpPr>
            <a:spLocks noGrp="1"/>
          </p:cNvSpPr>
          <p:nvPr/>
        </p:nvSpPr>
        <p:spPr>
          <a:xfrm>
            <a:off x="9642660" y="1989767"/>
            <a:ext cx="0" cy="3756878"/>
          </a:xfrm>
          <a:prstGeom prst="line">
            <a:avLst/>
          </a:prstGeom>
          <a:ln w="3175">
            <a:solidFill>
              <a:srgbClr val="A6292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437BB57-2AA7-443E-A881-0E6DF87F1408}"/>
              </a:ext>
            </a:extLst>
          </p:cNvPr>
          <p:cNvSpPr>
            <a:spLocks noGrp="1"/>
          </p:cNvSpPr>
          <p:nvPr/>
        </p:nvSpPr>
        <p:spPr>
          <a:xfrm>
            <a:off x="4778446" y="4230290"/>
            <a:ext cx="1448161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20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提交留痕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6D02901-A64C-41BB-8D99-A1593B6E4685}"/>
              </a:ext>
            </a:extLst>
          </p:cNvPr>
          <p:cNvSpPr>
            <a:spLocks noGrp="1"/>
          </p:cNvSpPr>
          <p:nvPr/>
        </p:nvSpPr>
        <p:spPr>
          <a:xfrm>
            <a:off x="7555513" y="4230290"/>
            <a:ext cx="1448161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20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初赛增量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AE8D96A-A83C-4E7E-BC9D-4F4CCC140698}"/>
              </a:ext>
            </a:extLst>
          </p:cNvPr>
          <p:cNvSpPr>
            <a:spLocks noGrp="1"/>
          </p:cNvSpPr>
          <p:nvPr/>
        </p:nvSpPr>
        <p:spPr>
          <a:xfrm>
            <a:off x="10328825" y="4230290"/>
            <a:ext cx="1448161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</a:pPr>
            <a:r>
              <a:rPr sz="20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新增代码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13D96B-7560-4259-8DD7-476E585BB17C}"/>
              </a:ext>
            </a:extLst>
          </p:cNvPr>
          <p:cNvSpPr>
            <a:spLocks noGrp="1"/>
          </p:cNvSpPr>
          <p:nvPr/>
        </p:nvSpPr>
        <p:spPr>
          <a:xfrm>
            <a:off x="4455863" y="4739356"/>
            <a:ext cx="2177918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从系统移植到最终文档</a:t>
            </a:r>
            <a:endParaRPr sz="1400" spc="100">
              <a:solidFill>
                <a:schemeClr val="tx1">
                  <a:lumMod val="95000"/>
                  <a:lumOff val="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71 次提交可追溯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5E28006-BA18-4322-86B8-D1E08827FF3C}"/>
              </a:ext>
            </a:extLst>
          </p:cNvPr>
          <p:cNvSpPr>
            <a:spLocks noGrp="1"/>
          </p:cNvSpPr>
          <p:nvPr/>
        </p:nvSpPr>
        <p:spPr>
          <a:xfrm>
            <a:off x="7196431" y="4739356"/>
            <a:ext cx="2177918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初赛节点后 6 次提交</a:t>
            </a:r>
            <a:endParaRPr sz="1400" spc="100">
              <a:solidFill>
                <a:schemeClr val="tx1">
                  <a:lumMod val="95000"/>
                  <a:lumOff val="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覆盖 73 个文件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81F683A-2F9F-45D7-A5B3-887AE4A852F2}"/>
              </a:ext>
            </a:extLst>
          </p:cNvPr>
          <p:cNvSpPr>
            <a:spLocks noGrp="1"/>
          </p:cNvSpPr>
          <p:nvPr/>
        </p:nvSpPr>
        <p:spPr>
          <a:xfrm>
            <a:off x="9973498" y="4739356"/>
            <a:ext cx="2177918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新增实时</a:t>
            </a:r>
            <a:r>
              <a:rPr sz="1050" spc="10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50" spc="10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APP、服务与</a:t>
            </a:r>
            <a:endParaRPr sz="1400" spc="100">
              <a:solidFill>
                <a:schemeClr val="tx1">
                  <a:lumMod val="95000"/>
                  <a:lumOff val="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5000"/>
              </a:lnSpc>
              <a:buNone/>
              <a:defRPr sz="1050"/>
            </a:pPr>
            <a:r>
              <a:rPr sz="1050" spc="10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系统适配代码</a:t>
            </a:r>
            <a:endParaRPr sz="1050" spc="100">
              <a:solidFill>
                <a:schemeClr val="tx1">
                  <a:lumMod val="95000"/>
                  <a:lumOff val="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5">
            <a:extLst>
              <a:ext uri="{FF2B5EF4-FFF2-40B4-BE49-F238E27FC236}">
                <a16:creationId xmlns:a16="http://schemas.microsoft.com/office/drawing/2014/main" id="{D27284FE-3861-17F6-EE2D-1C8F9B7EFACB}"/>
              </a:ext>
            </a:extLst>
          </p:cNvPr>
          <p:cNvSpPr>
            <a:spLocks noGrp="1"/>
          </p:cNvSpPr>
          <p:nvPr/>
        </p:nvSpPr>
        <p:spPr>
          <a:xfrm>
            <a:off x="425452" y="395460"/>
            <a:ext cx="5791594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02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创新与增量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——Git</a:t>
            </a:r>
            <a:r>
              <a:rPr lang="zh-CN" altLang="en-US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证据</a:t>
            </a:r>
            <a:endParaRPr sz="26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CBF2BF11-70CD-6F2E-BCE9-E3D5B413A1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27"/>
          <a:stretch>
            <a:fillRect/>
          </a:stretch>
        </p:blipFill>
        <p:spPr>
          <a:xfrm>
            <a:off x="151929" y="2007790"/>
            <a:ext cx="3258021" cy="4445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15F84FD-E07E-07DF-B9B1-FF0D3535D3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48"/>
          <a:stretch>
            <a:fillRect/>
          </a:stretch>
        </p:blipFill>
        <p:spPr>
          <a:xfrm>
            <a:off x="348893" y="1790700"/>
            <a:ext cx="3267469" cy="4445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FF77BBBD-C4A1-E695-3DF8-497030AD68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4725"/>
          <a:stretch>
            <a:fillRect/>
          </a:stretch>
        </p:blipFill>
        <p:spPr>
          <a:xfrm>
            <a:off x="557106" y="1524000"/>
            <a:ext cx="3234370" cy="45402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5977997D-C7BF-72F6-C158-63EDCF9B95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210"/>
          <a:stretch>
            <a:fillRect/>
          </a:stretch>
        </p:blipFill>
        <p:spPr>
          <a:xfrm>
            <a:off x="765841" y="1291001"/>
            <a:ext cx="3221027" cy="46594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F7A2E6E3-EC04-AD4D-7B99-C71F05A233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747"/>
          <a:stretch>
            <a:fillRect/>
          </a:stretch>
        </p:blipFill>
        <p:spPr>
          <a:xfrm>
            <a:off x="942691" y="1121921"/>
            <a:ext cx="3290923" cy="46919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ED46594D-8424-C257-9CB6-DF66FE037F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883"/>
          <a:stretch>
            <a:fillRect/>
          </a:stretch>
        </p:blipFill>
        <p:spPr>
          <a:xfrm>
            <a:off x="1079103" y="1044125"/>
            <a:ext cx="3477095" cy="46594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13013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9955A-3A32-D5CC-4046-54E3DBC90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2D35FD-B035-5091-FA2C-87D5F73E1754}"/>
              </a:ext>
            </a:extLst>
          </p:cNvPr>
          <p:cNvSpPr txBox="1"/>
          <p:nvPr/>
        </p:nvSpPr>
        <p:spPr>
          <a:xfrm>
            <a:off x="3703320" y="1542691"/>
            <a:ext cx="4800600" cy="53035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A6292F"/>
                </a:solidFill>
                <a:latin typeface="微软雅黑"/>
              </a:rPr>
              <a:t>性能优化闭环 · 内存占用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371BB7-53E2-FE5F-12FF-CA0D695ACB2A}"/>
              </a:ext>
            </a:extLst>
          </p:cNvPr>
          <p:cNvSpPr/>
          <p:nvPr/>
        </p:nvSpPr>
        <p:spPr>
          <a:xfrm>
            <a:off x="905256" y="2283355"/>
            <a:ext cx="10378440" cy="658368"/>
          </a:xfrm>
          <a:prstGeom prst="roundRect">
            <a:avLst/>
          </a:prstGeom>
          <a:solidFill>
            <a:srgbClr val="F2E9E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365508-9928-28BB-EDEC-3F88A4476297}"/>
              </a:ext>
            </a:extLst>
          </p:cNvPr>
          <p:cNvSpPr/>
          <p:nvPr/>
        </p:nvSpPr>
        <p:spPr>
          <a:xfrm>
            <a:off x="905256" y="2283355"/>
            <a:ext cx="73152" cy="658368"/>
          </a:xfrm>
          <a:prstGeom prst="rect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553A9D-AA1F-45F1-86A8-9941915192CD}"/>
              </a:ext>
            </a:extLst>
          </p:cNvPr>
          <p:cNvSpPr txBox="1"/>
          <p:nvPr/>
        </p:nvSpPr>
        <p:spPr>
          <a:xfrm>
            <a:off x="1133856" y="2393083"/>
            <a:ext cx="9893808" cy="40233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83E50"/>
                </a:solidFill>
                <a:latin typeface="微软雅黑"/>
              </a:rPr>
              <a:t>为了让有限内存优先服务于 CANN/NPU 与实时应用，我们裁剪非必要桌面与服务，并把大块资源改为按需使用。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077781-DB90-D952-42F5-584406E422E8}"/>
              </a:ext>
            </a:extLst>
          </p:cNvPr>
          <p:cNvSpPr/>
          <p:nvPr/>
        </p:nvSpPr>
        <p:spPr>
          <a:xfrm>
            <a:off x="905256" y="3124603"/>
            <a:ext cx="5989320" cy="2487168"/>
          </a:xfrm>
          <a:prstGeom prst="rect">
            <a:avLst/>
          </a:prstGeom>
          <a:solidFill>
            <a:srgbClr val="F7F8F9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550EF6-AC5B-274E-E6EC-05473396F6C8}"/>
              </a:ext>
            </a:extLst>
          </p:cNvPr>
          <p:cNvSpPr/>
          <p:nvPr/>
        </p:nvSpPr>
        <p:spPr>
          <a:xfrm>
            <a:off x="905256" y="3124603"/>
            <a:ext cx="5989320" cy="457200"/>
          </a:xfrm>
          <a:prstGeom prst="rect">
            <a:avLst/>
          </a:prstGeom>
          <a:solidFill>
            <a:srgbClr val="18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E790EE-D320-FA3B-8186-C1161181000B}"/>
              </a:ext>
            </a:extLst>
          </p:cNvPr>
          <p:cNvSpPr txBox="1"/>
          <p:nvPr/>
        </p:nvSpPr>
        <p:spPr>
          <a:xfrm>
            <a:off x="1124712" y="3170323"/>
            <a:ext cx="2011680" cy="30175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</a:rPr>
              <a:t>具体怎么做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22646C-74C9-4057-0E3B-B2896C16FB2E}"/>
              </a:ext>
            </a:extLst>
          </p:cNvPr>
          <p:cNvSpPr txBox="1"/>
          <p:nvPr/>
        </p:nvSpPr>
        <p:spPr>
          <a:xfrm>
            <a:off x="1124712" y="3673243"/>
            <a:ext cx="5513832" cy="18105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80" b="0" i="0">
                <a:solidFill>
                  <a:srgbClr val="202A33"/>
                </a:solidFill>
                <a:latin typeface="微软雅黑"/>
              </a:rPr>
              <a:t>• MMZ 预留 3072→1536M；media/DVPP 从开机显式加载改为按需加载。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80" b="0" i="0">
                <a:solidFill>
                  <a:srgbClr val="202A33"/>
                </a:solidFill>
                <a:latin typeface="微软雅黑"/>
              </a:rPr>
              <a:t>• ZRAM 1024→512MB，启用 lz4；min_free_kbytes 10→64MB，并补充 VM 水位参数。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80" b="0" i="0">
                <a:solidFill>
                  <a:srgbClr val="202A33"/>
                </a:solidFill>
                <a:latin typeface="微软雅黑"/>
              </a:rPr>
              <a:t>• NAPI 预加载 81→26；预装应用 32→11，保留图形、触摸、相机、HDMI、HDC、CANN 链路。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80" b="0" i="0">
                <a:solidFill>
                  <a:srgbClr val="202A33"/>
                </a:solidFill>
                <a:latin typeface="微软雅黑"/>
              </a:rPr>
              <a:t>• 46 个非必要 SA 关闭 run-on-create，蓝牙/无障碍改为 ondemand。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19B1DF-EE24-34CF-8E8E-69EC34CF8C68}"/>
              </a:ext>
            </a:extLst>
          </p:cNvPr>
          <p:cNvSpPr/>
          <p:nvPr/>
        </p:nvSpPr>
        <p:spPr>
          <a:xfrm>
            <a:off x="7114032" y="3124603"/>
            <a:ext cx="4169663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DCB5AE-CC5E-B0B9-4FED-C0348B925848}"/>
              </a:ext>
            </a:extLst>
          </p:cNvPr>
          <p:cNvSpPr txBox="1"/>
          <p:nvPr/>
        </p:nvSpPr>
        <p:spPr>
          <a:xfrm>
            <a:off x="7306056" y="3206899"/>
            <a:ext cx="14630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3E50"/>
                </a:solidFill>
                <a:latin typeface="微软雅黑"/>
              </a:rPr>
              <a:t>实测结果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1090826-26B8-993C-FA08-D24152AB7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977" y="3437373"/>
            <a:ext cx="3743772" cy="2171975"/>
          </a:xfrm>
          <a:prstGeom prst="rect">
            <a:avLst/>
          </a:prstGeom>
        </p:spPr>
      </p:pic>
      <p:sp>
        <p:nvSpPr>
          <p:cNvPr id="4" name="文本框 25">
            <a:extLst>
              <a:ext uri="{FF2B5EF4-FFF2-40B4-BE49-F238E27FC236}">
                <a16:creationId xmlns:a16="http://schemas.microsoft.com/office/drawing/2014/main" id="{665CBA6B-B4AF-DAA6-4F82-7B66A0F3BD15}"/>
              </a:ext>
            </a:extLst>
          </p:cNvPr>
          <p:cNvSpPr>
            <a:spLocks noGrp="1"/>
          </p:cNvSpPr>
          <p:nvPr/>
        </p:nvSpPr>
        <p:spPr>
          <a:xfrm>
            <a:off x="425451" y="395460"/>
            <a:ext cx="5981699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03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难题与解法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内存占用优化</a:t>
            </a:r>
          </a:p>
        </p:txBody>
      </p:sp>
    </p:spTree>
    <p:extLst>
      <p:ext uri="{BB962C8B-B14F-4D97-AF65-F5344CB8AC3E}">
        <p14:creationId xmlns:p14="http://schemas.microsoft.com/office/powerpoint/2010/main" val="4061146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5A5C-C3A2-5FAC-F937-EC76B90F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F2771B-7FEB-AEF8-EE61-A65B056FC50E}"/>
              </a:ext>
            </a:extLst>
          </p:cNvPr>
          <p:cNvSpPr txBox="1"/>
          <p:nvPr/>
        </p:nvSpPr>
        <p:spPr>
          <a:xfrm>
            <a:off x="3703320" y="1548710"/>
            <a:ext cx="4800600" cy="53035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 err="1">
                <a:solidFill>
                  <a:srgbClr val="A6292F"/>
                </a:solidFill>
                <a:latin typeface="微软雅黑"/>
              </a:rPr>
              <a:t>性能优化闭环</a:t>
            </a:r>
            <a:r>
              <a:rPr sz="2300" b="1" i="0">
                <a:solidFill>
                  <a:srgbClr val="A6292F"/>
                </a:solidFill>
                <a:latin typeface="微软雅黑"/>
              </a:rPr>
              <a:t> · </a:t>
            </a:r>
            <a:r>
              <a:rPr sz="2300" b="1" i="0" err="1">
                <a:solidFill>
                  <a:srgbClr val="A6292F"/>
                </a:solidFill>
                <a:latin typeface="微软雅黑"/>
              </a:rPr>
              <a:t>启动时间</a:t>
            </a:r>
            <a:endParaRPr sz="2300" b="1" i="0">
              <a:solidFill>
                <a:srgbClr val="A6292F"/>
              </a:solidFill>
              <a:latin typeface="微软雅黑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BF42D4-61CC-1038-787F-8752A91615E2}"/>
              </a:ext>
            </a:extLst>
          </p:cNvPr>
          <p:cNvSpPr/>
          <p:nvPr/>
        </p:nvSpPr>
        <p:spPr>
          <a:xfrm>
            <a:off x="905256" y="2325466"/>
            <a:ext cx="10378440" cy="658368"/>
          </a:xfrm>
          <a:prstGeom prst="roundRect">
            <a:avLst/>
          </a:prstGeom>
          <a:solidFill>
            <a:srgbClr val="F2E9E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784FC-349F-E68C-B1A9-EC0C1C0C5AE9}"/>
              </a:ext>
            </a:extLst>
          </p:cNvPr>
          <p:cNvSpPr/>
          <p:nvPr/>
        </p:nvSpPr>
        <p:spPr>
          <a:xfrm>
            <a:off x="905256" y="2325466"/>
            <a:ext cx="73152" cy="658368"/>
          </a:xfrm>
          <a:prstGeom prst="rect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956E5-3DC6-17FA-39E2-BD27533749BE}"/>
              </a:ext>
            </a:extLst>
          </p:cNvPr>
          <p:cNvSpPr txBox="1"/>
          <p:nvPr/>
        </p:nvSpPr>
        <p:spPr>
          <a:xfrm>
            <a:off x="1133856" y="2435194"/>
            <a:ext cx="9893808" cy="40233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83E50"/>
                </a:solidFill>
                <a:latin typeface="微软雅黑"/>
              </a:rPr>
              <a:t>为了更快进入可用桌面和推理服务状态，我们移除固定等待，把非关键服务统一延迟到系统就绪之后。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C054D5-8CD0-CB92-89C5-7F4598936440}"/>
              </a:ext>
            </a:extLst>
          </p:cNvPr>
          <p:cNvSpPr/>
          <p:nvPr/>
        </p:nvSpPr>
        <p:spPr>
          <a:xfrm>
            <a:off x="905256" y="3166714"/>
            <a:ext cx="5989320" cy="2487168"/>
          </a:xfrm>
          <a:prstGeom prst="rect">
            <a:avLst/>
          </a:prstGeom>
          <a:solidFill>
            <a:srgbClr val="F7F8F9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D023CD-76F3-4149-74B1-5358426CF7BB}"/>
              </a:ext>
            </a:extLst>
          </p:cNvPr>
          <p:cNvSpPr/>
          <p:nvPr/>
        </p:nvSpPr>
        <p:spPr>
          <a:xfrm>
            <a:off x="905256" y="3166714"/>
            <a:ext cx="5989320" cy="457200"/>
          </a:xfrm>
          <a:prstGeom prst="rect">
            <a:avLst/>
          </a:prstGeom>
          <a:solidFill>
            <a:srgbClr val="18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D65F5F-D927-A865-FE0A-F3D770CFCB6D}"/>
              </a:ext>
            </a:extLst>
          </p:cNvPr>
          <p:cNvSpPr txBox="1"/>
          <p:nvPr/>
        </p:nvSpPr>
        <p:spPr>
          <a:xfrm>
            <a:off x="1124712" y="3212434"/>
            <a:ext cx="2011680" cy="30175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</a:rPr>
              <a:t>具体怎么做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C41F29-D0C6-84B2-2EEB-39003A2F8364}"/>
              </a:ext>
            </a:extLst>
          </p:cNvPr>
          <p:cNvSpPr txBox="1"/>
          <p:nvPr/>
        </p:nvSpPr>
        <p:spPr>
          <a:xfrm>
            <a:off x="1124712" y="3715354"/>
            <a:ext cx="5513832" cy="18105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80" b="0" i="0">
                <a:solidFill>
                  <a:srgbClr val="202A33"/>
                </a:solidFill>
                <a:latin typeface="微软雅黑"/>
              </a:rPr>
              <a:t>• 移除 6 次固定 sleep 与串行等待，减少启动关键路径阻塞。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80" b="0" i="0">
                <a:solidFill>
                  <a:srgbClr val="202A33"/>
                </a:solidFill>
                <a:latin typeface="微软雅黑"/>
              </a:rPr>
              <a:t>• 新增 ascend_post_boot.sh，在 bootevent.boot.completed=true 后再启动非关键服务。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80" b="0" i="0">
                <a:solidFill>
                  <a:srgbClr val="202A33"/>
                </a:solidFill>
                <a:latin typeface="微软雅黑"/>
              </a:rPr>
              <a:t>• 延迟服务从 8 个收敛到 proc_launcher、iammgr、dmp_daemon 3 个；CANN/NPU 依赖前移。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80" b="0" i="0">
                <a:solidFill>
                  <a:srgbClr val="202A33"/>
                </a:solidFill>
                <a:latin typeface="微软雅黑"/>
              </a:rPr>
              <a:t>• HDMI mixer、日志等改为后台执行，用 bootchart 对比启动链路。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198F8A-71C5-2C35-789E-BD3EE8F602CD}"/>
              </a:ext>
            </a:extLst>
          </p:cNvPr>
          <p:cNvSpPr/>
          <p:nvPr/>
        </p:nvSpPr>
        <p:spPr>
          <a:xfrm>
            <a:off x="7114032" y="3166714"/>
            <a:ext cx="4169663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D16CCB-C454-D871-1DCD-83418AE6792E}"/>
              </a:ext>
            </a:extLst>
          </p:cNvPr>
          <p:cNvSpPr txBox="1"/>
          <p:nvPr/>
        </p:nvSpPr>
        <p:spPr>
          <a:xfrm>
            <a:off x="7306056" y="3249010"/>
            <a:ext cx="14630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3E50"/>
                </a:solidFill>
                <a:latin typeface="微软雅黑"/>
              </a:rPr>
              <a:t>实测结果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BD2266-7FEA-C75E-F3A2-B377BE012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056" y="3486754"/>
            <a:ext cx="3695514" cy="2142777"/>
          </a:xfrm>
          <a:prstGeom prst="rect">
            <a:avLst/>
          </a:prstGeom>
        </p:spPr>
      </p:pic>
      <p:sp>
        <p:nvSpPr>
          <p:cNvPr id="4" name="文本框 25">
            <a:extLst>
              <a:ext uri="{FF2B5EF4-FFF2-40B4-BE49-F238E27FC236}">
                <a16:creationId xmlns:a16="http://schemas.microsoft.com/office/drawing/2014/main" id="{0D7FFDBD-D514-BD7B-4CE0-58FAD7ADF17B}"/>
              </a:ext>
            </a:extLst>
          </p:cNvPr>
          <p:cNvSpPr>
            <a:spLocks noGrp="1"/>
          </p:cNvSpPr>
          <p:nvPr/>
        </p:nvSpPr>
        <p:spPr>
          <a:xfrm>
            <a:off x="425451" y="395460"/>
            <a:ext cx="5981699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03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难题与解法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启动时间优化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744139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îṣḻïḓê">
            <a:extLst>
              <a:ext uri="{FF2B5EF4-FFF2-40B4-BE49-F238E27FC236}">
                <a16:creationId xmlns:a16="http://schemas.microsoft.com/office/drawing/2014/main" id="{7E00BA6A-8A82-48F6-BB80-1091805A0912}"/>
              </a:ext>
            </a:extLst>
          </p:cNvPr>
          <p:cNvSpPr>
            <a:spLocks noGrp="1"/>
          </p:cNvSpPr>
          <p:nvPr/>
        </p:nvSpPr>
        <p:spPr>
          <a:xfrm>
            <a:off x="1" y="5095923"/>
            <a:ext cx="12192000" cy="1762077"/>
          </a:xfrm>
          <a:prstGeom prst="trapezoid">
            <a:avLst>
              <a:gd name="adj" fmla="val 99668"/>
            </a:avLst>
          </a:prstGeom>
          <a:solidFill>
            <a:srgbClr val="AB2B2B">
              <a:alpha val="14000"/>
            </a:srgb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b">
            <a:normAutofit/>
          </a:bodyPr>
          <a:lstStyle/>
          <a:p>
            <a:pPr lvl="0" algn="ctr" defTabSz="913765">
              <a:lnSpc>
                <a:spcPct val="150000"/>
              </a:lnSpc>
              <a:buSzPct val="25000"/>
              <a:buNone/>
            </a:pPr>
            <a:endParaRPr sz="1200">
              <a:solidFill>
                <a:schemeClr val="tx1"/>
              </a:solidFill>
            </a:endParaRPr>
          </a:p>
        </p:txBody>
      </p:sp>
      <p:sp>
        <p:nvSpPr>
          <p:cNvPr id="5" name="iṧḻíďè">
            <a:extLst>
              <a:ext uri="{FF2B5EF4-FFF2-40B4-BE49-F238E27FC236}">
                <a16:creationId xmlns:a16="http://schemas.microsoft.com/office/drawing/2014/main" id="{3B2EE2A2-BCF5-4529-9A03-DB1BA4F02F89}"/>
              </a:ext>
            </a:extLst>
          </p:cNvPr>
          <p:cNvSpPr>
            <a:spLocks noGrp="1"/>
          </p:cNvSpPr>
          <p:nvPr/>
        </p:nvSpPr>
        <p:spPr>
          <a:xfrm>
            <a:off x="4669152" y="2630047"/>
            <a:ext cx="2853695" cy="3161994"/>
          </a:xfrm>
          <a:prstGeom prst="snip1Rect">
            <a:avLst>
              <a:gd name="adj" fmla="val 29383"/>
            </a:avLst>
          </a:prstGeom>
          <a:solidFill>
            <a:schemeClr val="bg1"/>
          </a:solidFill>
          <a:ln w="317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endParaRPr sz="1100">
              <a:solidFill>
                <a:schemeClr val="tx1"/>
              </a:solidFill>
            </a:endParaRPr>
          </a:p>
        </p:txBody>
      </p:sp>
      <p:sp>
        <p:nvSpPr>
          <p:cNvPr id="6" name="îşlïďê">
            <a:extLst>
              <a:ext uri="{FF2B5EF4-FFF2-40B4-BE49-F238E27FC236}">
                <a16:creationId xmlns:a16="http://schemas.microsoft.com/office/drawing/2014/main" id="{81591E47-7C09-4102-8AFA-809663C2E281}"/>
              </a:ext>
            </a:extLst>
          </p:cNvPr>
          <p:cNvSpPr>
            <a:spLocks noGrp="1"/>
          </p:cNvSpPr>
          <p:nvPr/>
        </p:nvSpPr>
        <p:spPr>
          <a:xfrm>
            <a:off x="5015966" y="2944077"/>
            <a:ext cx="1996399" cy="374373"/>
          </a:xfrm>
          <a:prstGeom prst="rect">
            <a:avLst/>
          </a:prstGeom>
        </p:spPr>
        <p:txBody>
          <a:bodyPr wrap="square" lIns="91440" tIns="45720" rIns="91440" bIns="45720" anchor="ctr">
            <a:normAutofit fontScale="92355" lnSpcReduction="20000"/>
          </a:bodyPr>
          <a:lstStyle/>
          <a:p>
            <a:pPr marL="0" indent="0" algn="ctr">
              <a:buNone/>
            </a:pPr>
            <a:r>
              <a:rPr sz="2400" b="1" i="1">
                <a:latin typeface="微软雅黑"/>
                <a:ea typeface="微软雅黑"/>
                <a:cs typeface="微软雅黑"/>
              </a:rPr>
              <a:t>定位真正断点</a:t>
            </a:r>
          </a:p>
        </p:txBody>
      </p:sp>
      <p:sp>
        <p:nvSpPr>
          <p:cNvPr id="7" name="iSḻîḋé">
            <a:extLst>
              <a:ext uri="{FF2B5EF4-FFF2-40B4-BE49-F238E27FC236}">
                <a16:creationId xmlns:a16="http://schemas.microsoft.com/office/drawing/2014/main" id="{C541E940-38DF-476D-9C95-9B95A08B09BE}"/>
              </a:ext>
            </a:extLst>
          </p:cNvPr>
          <p:cNvSpPr>
            <a:spLocks noGrp="1"/>
          </p:cNvSpPr>
          <p:nvPr/>
        </p:nvSpPr>
        <p:spPr>
          <a:xfrm>
            <a:off x="4669153" y="5668860"/>
            <a:ext cx="2853695" cy="123181"/>
          </a:xfrm>
          <a:prstGeom prst="rect">
            <a:avLst/>
          </a:prstGeom>
          <a:solidFill>
            <a:srgbClr val="183E50"/>
          </a:solidFill>
          <a:ln w="3175">
            <a:noFill/>
            <a:prstDash val="solid"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/>
          </a:p>
        </p:txBody>
      </p:sp>
      <p:sp>
        <p:nvSpPr>
          <p:cNvPr id="8" name="íŝḻïďé">
            <a:extLst>
              <a:ext uri="{FF2B5EF4-FFF2-40B4-BE49-F238E27FC236}">
                <a16:creationId xmlns:a16="http://schemas.microsoft.com/office/drawing/2014/main" id="{EA4E34A4-7B08-43D9-BFA0-2C17161A215F}"/>
              </a:ext>
            </a:extLst>
          </p:cNvPr>
          <p:cNvSpPr>
            <a:spLocks noGrp="1"/>
          </p:cNvSpPr>
          <p:nvPr/>
        </p:nvSpPr>
        <p:spPr>
          <a:xfrm>
            <a:off x="6802874" y="2630047"/>
            <a:ext cx="719975" cy="719975"/>
          </a:xfrm>
          <a:custGeom>
            <a:avLst/>
            <a:gdLst>
              <a:gd name="T0" fmla="*/ 608 w 608"/>
              <a:gd name="T1" fmla="*/ 0 h 608"/>
              <a:gd name="T2" fmla="*/ 0 w 608"/>
              <a:gd name="T3" fmla="*/ 0 h 608"/>
              <a:gd name="T4" fmla="*/ 608 w 608"/>
              <a:gd name="T5" fmla="*/ 608 h 608"/>
              <a:gd name="T6" fmla="*/ 608 w 608"/>
              <a:gd name="T7" fmla="*/ 0 h 608"/>
            </a:gdLst>
            <a:ahLst/>
            <a:cxnLst/>
            <a:rect l="0" t="0" r="r" b="b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183E50"/>
          </a:solidFill>
          <a:ln w="3175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/>
          <a:p>
            <a:pPr lvl="0" algn="r">
              <a:buNone/>
            </a:pPr>
            <a:r>
              <a:rPr sz="2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íṧḷíḑé">
            <a:extLst>
              <a:ext uri="{FF2B5EF4-FFF2-40B4-BE49-F238E27FC236}">
                <a16:creationId xmlns:a16="http://schemas.microsoft.com/office/drawing/2014/main" id="{92F7B095-31A2-44CE-A55A-C9DC3E281014}"/>
              </a:ext>
            </a:extLst>
          </p:cNvPr>
          <p:cNvSpPr>
            <a:spLocks noGrp="1"/>
          </p:cNvSpPr>
          <p:nvPr/>
        </p:nvSpPr>
        <p:spPr>
          <a:xfrm>
            <a:off x="1356784" y="2630047"/>
            <a:ext cx="2853695" cy="3161994"/>
          </a:xfrm>
          <a:prstGeom prst="snip1Rect">
            <a:avLst>
              <a:gd name="adj" fmla="val 29383"/>
            </a:avLst>
          </a:prstGeom>
          <a:solidFill>
            <a:schemeClr val="bg1"/>
          </a:solidFill>
          <a:ln w="3175">
            <a:solidFill>
              <a:srgbClr val="A629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endParaRPr sz="1100">
              <a:solidFill>
                <a:schemeClr val="tx1"/>
              </a:solidFill>
            </a:endParaRPr>
          </a:p>
        </p:txBody>
      </p:sp>
      <p:sp>
        <p:nvSpPr>
          <p:cNvPr id="10" name="íṩḷîḑe">
            <a:extLst>
              <a:ext uri="{FF2B5EF4-FFF2-40B4-BE49-F238E27FC236}">
                <a16:creationId xmlns:a16="http://schemas.microsoft.com/office/drawing/2014/main" id="{F096C595-AB77-400B-A88B-C2F400FC1C88}"/>
              </a:ext>
            </a:extLst>
          </p:cNvPr>
          <p:cNvSpPr>
            <a:spLocks noGrp="1"/>
          </p:cNvSpPr>
          <p:nvPr/>
        </p:nvSpPr>
        <p:spPr>
          <a:xfrm>
            <a:off x="1356785" y="5668860"/>
            <a:ext cx="2853695" cy="123181"/>
          </a:xfrm>
          <a:prstGeom prst="rect">
            <a:avLst/>
          </a:prstGeom>
          <a:solidFill>
            <a:srgbClr val="A6292F"/>
          </a:solidFill>
          <a:ln w="3175">
            <a:noFill/>
            <a:prstDash val="solid"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/>
          </a:p>
        </p:txBody>
      </p:sp>
      <p:sp>
        <p:nvSpPr>
          <p:cNvPr id="11" name="îṣľîḍe">
            <a:extLst>
              <a:ext uri="{FF2B5EF4-FFF2-40B4-BE49-F238E27FC236}">
                <a16:creationId xmlns:a16="http://schemas.microsoft.com/office/drawing/2014/main" id="{0A1A8CE0-2F17-42D9-8FFE-73301169970F}"/>
              </a:ext>
            </a:extLst>
          </p:cNvPr>
          <p:cNvSpPr>
            <a:spLocks noGrp="1"/>
          </p:cNvSpPr>
          <p:nvPr/>
        </p:nvSpPr>
        <p:spPr>
          <a:xfrm>
            <a:off x="3490506" y="2630047"/>
            <a:ext cx="719975" cy="719975"/>
          </a:xfrm>
          <a:custGeom>
            <a:avLst/>
            <a:gdLst>
              <a:gd name="T0" fmla="*/ 608 w 608"/>
              <a:gd name="T1" fmla="*/ 0 h 608"/>
              <a:gd name="T2" fmla="*/ 0 w 608"/>
              <a:gd name="T3" fmla="*/ 0 h 608"/>
              <a:gd name="T4" fmla="*/ 608 w 608"/>
              <a:gd name="T5" fmla="*/ 608 h 608"/>
              <a:gd name="T6" fmla="*/ 608 w 608"/>
              <a:gd name="T7" fmla="*/ 0 h 608"/>
            </a:gdLst>
            <a:ahLst/>
            <a:cxnLst/>
            <a:rect l="0" t="0" r="r" b="b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A6292F"/>
          </a:solidFill>
          <a:ln w="3175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/>
          <a:p>
            <a:pPr lvl="0" algn="r">
              <a:buNone/>
            </a:pPr>
            <a:r>
              <a:rPr sz="2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iṧlîḋè">
            <a:extLst>
              <a:ext uri="{FF2B5EF4-FFF2-40B4-BE49-F238E27FC236}">
                <a16:creationId xmlns:a16="http://schemas.microsoft.com/office/drawing/2014/main" id="{74DCE535-0087-4514-B223-AFEE80BE2117}"/>
              </a:ext>
            </a:extLst>
          </p:cNvPr>
          <p:cNvSpPr>
            <a:spLocks noGrp="1"/>
          </p:cNvSpPr>
          <p:nvPr/>
        </p:nvSpPr>
        <p:spPr>
          <a:xfrm>
            <a:off x="1703598" y="2944076"/>
            <a:ext cx="1996399" cy="374373"/>
          </a:xfrm>
          <a:prstGeom prst="rect">
            <a:avLst/>
          </a:prstGeom>
        </p:spPr>
        <p:txBody>
          <a:bodyPr wrap="square" lIns="91440" tIns="45720" rIns="91440" bIns="45720" anchor="ctr">
            <a:normAutofit fontScale="92355" lnSpcReduction="20000"/>
          </a:bodyPr>
          <a:lstStyle/>
          <a:p>
            <a:pPr marL="0" indent="0" algn="ctr">
              <a:buNone/>
            </a:pPr>
            <a:r>
              <a:rPr sz="2400" b="1" i="1">
                <a:latin typeface="微软雅黑"/>
                <a:ea typeface="微软雅黑"/>
                <a:cs typeface="微软雅黑"/>
              </a:rPr>
              <a:t>先证伪假设</a:t>
            </a:r>
          </a:p>
        </p:txBody>
      </p:sp>
      <p:sp>
        <p:nvSpPr>
          <p:cNvPr id="13" name="iSlíḑê">
            <a:extLst>
              <a:ext uri="{FF2B5EF4-FFF2-40B4-BE49-F238E27FC236}">
                <a16:creationId xmlns:a16="http://schemas.microsoft.com/office/drawing/2014/main" id="{9BA63A25-B2DD-43F6-BD8E-4B17AB9C45BE}"/>
              </a:ext>
            </a:extLst>
          </p:cNvPr>
          <p:cNvSpPr>
            <a:spLocks noGrp="1"/>
          </p:cNvSpPr>
          <p:nvPr/>
        </p:nvSpPr>
        <p:spPr>
          <a:xfrm>
            <a:off x="7981520" y="2630047"/>
            <a:ext cx="2853695" cy="3161994"/>
          </a:xfrm>
          <a:prstGeom prst="snip1Rect">
            <a:avLst>
              <a:gd name="adj" fmla="val 29383"/>
            </a:avLst>
          </a:prstGeom>
          <a:solidFill>
            <a:schemeClr val="bg1"/>
          </a:solidFill>
          <a:ln w="3175">
            <a:solidFill>
              <a:srgbClr val="A629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endParaRPr sz="1100">
              <a:solidFill>
                <a:schemeClr val="tx1"/>
              </a:solidFill>
            </a:endParaRPr>
          </a:p>
        </p:txBody>
      </p:sp>
      <p:sp>
        <p:nvSpPr>
          <p:cNvPr id="14" name="ïśḻíde">
            <a:extLst>
              <a:ext uri="{FF2B5EF4-FFF2-40B4-BE49-F238E27FC236}">
                <a16:creationId xmlns:a16="http://schemas.microsoft.com/office/drawing/2014/main" id="{35690D79-8850-42A7-956A-F3995EBCB714}"/>
              </a:ext>
            </a:extLst>
          </p:cNvPr>
          <p:cNvSpPr>
            <a:spLocks noGrp="1"/>
          </p:cNvSpPr>
          <p:nvPr/>
        </p:nvSpPr>
        <p:spPr>
          <a:xfrm>
            <a:off x="7981521" y="5668860"/>
            <a:ext cx="2853695" cy="123181"/>
          </a:xfrm>
          <a:prstGeom prst="rect">
            <a:avLst/>
          </a:prstGeom>
          <a:solidFill>
            <a:srgbClr val="A6292F"/>
          </a:solidFill>
          <a:ln w="3175">
            <a:noFill/>
            <a:prstDash val="solid"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/>
          </a:p>
        </p:txBody>
      </p:sp>
      <p:sp>
        <p:nvSpPr>
          <p:cNvPr id="15" name="íslîḍè">
            <a:extLst>
              <a:ext uri="{FF2B5EF4-FFF2-40B4-BE49-F238E27FC236}">
                <a16:creationId xmlns:a16="http://schemas.microsoft.com/office/drawing/2014/main" id="{08550DE4-0591-4E6F-BC21-581A2984BC3C}"/>
              </a:ext>
            </a:extLst>
          </p:cNvPr>
          <p:cNvSpPr>
            <a:spLocks noGrp="1"/>
          </p:cNvSpPr>
          <p:nvPr/>
        </p:nvSpPr>
        <p:spPr>
          <a:xfrm>
            <a:off x="10115242" y="2630047"/>
            <a:ext cx="719975" cy="719975"/>
          </a:xfrm>
          <a:custGeom>
            <a:avLst/>
            <a:gdLst>
              <a:gd name="T0" fmla="*/ 608 w 608"/>
              <a:gd name="T1" fmla="*/ 0 h 608"/>
              <a:gd name="T2" fmla="*/ 0 w 608"/>
              <a:gd name="T3" fmla="*/ 0 h 608"/>
              <a:gd name="T4" fmla="*/ 608 w 608"/>
              <a:gd name="T5" fmla="*/ 608 h 608"/>
              <a:gd name="T6" fmla="*/ 608 w 608"/>
              <a:gd name="T7" fmla="*/ 0 h 608"/>
            </a:gdLst>
            <a:ahLst/>
            <a:cxnLst/>
            <a:rect l="0" t="0" r="r" b="b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A6292F"/>
          </a:solidFill>
          <a:ln w="3175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/>
          <a:p>
            <a:pPr lvl="0" algn="r">
              <a:buNone/>
            </a:pPr>
            <a:r>
              <a:rPr sz="2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iṥľïďé">
            <a:extLst>
              <a:ext uri="{FF2B5EF4-FFF2-40B4-BE49-F238E27FC236}">
                <a16:creationId xmlns:a16="http://schemas.microsoft.com/office/drawing/2014/main" id="{358316C1-650B-43C6-873D-B8D005B2AC19}"/>
              </a:ext>
            </a:extLst>
          </p:cNvPr>
          <p:cNvSpPr>
            <a:spLocks noGrp="1"/>
          </p:cNvSpPr>
          <p:nvPr/>
        </p:nvSpPr>
        <p:spPr>
          <a:xfrm>
            <a:off x="8328333" y="2944077"/>
            <a:ext cx="1996399" cy="374373"/>
          </a:xfrm>
          <a:prstGeom prst="rect">
            <a:avLst/>
          </a:prstGeom>
        </p:spPr>
        <p:txBody>
          <a:bodyPr wrap="square" lIns="91440" tIns="45720" rIns="91440" bIns="45720" anchor="ctr">
            <a:normAutofit fontScale="92355" lnSpcReduction="20000"/>
          </a:bodyPr>
          <a:lstStyle/>
          <a:p>
            <a:pPr marL="0" indent="0" algn="ctr">
              <a:buNone/>
            </a:pPr>
            <a:r>
              <a:rPr sz="2400" b="1" i="1" err="1">
                <a:latin typeface="微软雅黑"/>
                <a:ea typeface="微软雅黑"/>
                <a:cs typeface="微软雅黑"/>
              </a:rPr>
              <a:t>让修复可验证</a:t>
            </a:r>
            <a:endParaRPr sz="2400" b="1" i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67DC9E70-CA0E-4DE6-AD70-E68B3511C9E3}"/>
              </a:ext>
            </a:extLst>
          </p:cNvPr>
          <p:cNvSpPr>
            <a:spLocks noGrp="1"/>
          </p:cNvSpPr>
          <p:nvPr/>
        </p:nvSpPr>
        <p:spPr>
          <a:xfrm flipV="1">
            <a:off x="1356782" y="4143434"/>
            <a:ext cx="2853696" cy="18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F7EB1E7D-F981-4862-A312-117BC9A7F647}"/>
              </a:ext>
            </a:extLst>
          </p:cNvPr>
          <p:cNvSpPr>
            <a:spLocks noGrp="1"/>
          </p:cNvSpPr>
          <p:nvPr/>
        </p:nvSpPr>
        <p:spPr>
          <a:xfrm flipV="1">
            <a:off x="1356782" y="4844210"/>
            <a:ext cx="2853696" cy="18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BC642E38-BCA8-4A39-979D-D68CF13CF9CB}"/>
              </a:ext>
            </a:extLst>
          </p:cNvPr>
          <p:cNvSpPr>
            <a:spLocks noGrp="1"/>
          </p:cNvSpPr>
          <p:nvPr/>
        </p:nvSpPr>
        <p:spPr>
          <a:xfrm flipV="1">
            <a:off x="4669151" y="4143434"/>
            <a:ext cx="2853696" cy="18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A0BF1451-B10B-428C-B453-1C35F1CDC16E}"/>
              </a:ext>
            </a:extLst>
          </p:cNvPr>
          <p:cNvSpPr>
            <a:spLocks noGrp="1"/>
          </p:cNvSpPr>
          <p:nvPr/>
        </p:nvSpPr>
        <p:spPr>
          <a:xfrm flipV="1">
            <a:off x="4669151" y="4844210"/>
            <a:ext cx="2853696" cy="18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EC61E9D1-9CCA-44CA-8526-691BB342665B}"/>
              </a:ext>
            </a:extLst>
          </p:cNvPr>
          <p:cNvSpPr>
            <a:spLocks noGrp="1"/>
          </p:cNvSpPr>
          <p:nvPr/>
        </p:nvSpPr>
        <p:spPr>
          <a:xfrm flipV="1">
            <a:off x="7981519" y="4143434"/>
            <a:ext cx="2853696" cy="18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B2E62CD8-F43B-4A9A-ABB7-F242BF194CD2}"/>
              </a:ext>
            </a:extLst>
          </p:cNvPr>
          <p:cNvSpPr>
            <a:spLocks noGrp="1"/>
          </p:cNvSpPr>
          <p:nvPr/>
        </p:nvSpPr>
        <p:spPr>
          <a:xfrm flipV="1">
            <a:off x="7981519" y="4844210"/>
            <a:ext cx="2853696" cy="18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5901D95-6F88-4E5B-87BC-42A6EC56F957}"/>
              </a:ext>
            </a:extLst>
          </p:cNvPr>
          <p:cNvSpPr>
            <a:spLocks noGrp="1"/>
          </p:cNvSpPr>
          <p:nvPr/>
        </p:nvSpPr>
        <p:spPr>
          <a:xfrm>
            <a:off x="1504673" y="3626836"/>
            <a:ext cx="270580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镜像中没有独立 drv_hdmi.ko，</a:t>
            </a:r>
            <a:endParaRPr sz="1600" spc="1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但 HDMI 符号已集成于 ascend_vdp_drm.ko；</a:t>
            </a:r>
            <a:endParaRPr sz="1600" spc="1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问题不是“少了一个模块”。</a:t>
            </a:r>
            <a:endParaRPr sz="1600" spc="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AA7BF8F-610B-4F2B-897E-21B8DF39E916}"/>
              </a:ext>
            </a:extLst>
          </p:cNvPr>
          <p:cNvSpPr>
            <a:spLocks noGrp="1"/>
          </p:cNvSpPr>
          <p:nvPr/>
        </p:nvSpPr>
        <p:spPr>
          <a:xfrm>
            <a:off x="4817042" y="3626836"/>
            <a:ext cx="270580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DTS compatible 大小写不匹配导致 ASoC 未 probe；</a:t>
            </a:r>
            <a:endParaRPr sz="1600" spc="1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同时 dtsi 未进入 BUILD.gn 输入，</a:t>
            </a:r>
            <a:endParaRPr sz="1600" spc="1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改源码后 Ninja 可能根本不重编。</a:t>
            </a:r>
            <a:endParaRPr sz="1600" spc="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E0F13A5-0FD9-410F-B314-231E826DC008}"/>
              </a:ext>
            </a:extLst>
          </p:cNvPr>
          <p:cNvSpPr>
            <a:spLocks noGrp="1"/>
          </p:cNvSpPr>
          <p:nvPr/>
        </p:nvSpPr>
        <p:spPr>
          <a:xfrm>
            <a:off x="8129410" y="3626835"/>
            <a:ext cx="2705805" cy="1100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 sz="1125"/>
            </a:pPr>
            <a:r>
              <a:rPr sz="1125" spc="100" err="1">
                <a:latin typeface="微软雅黑"/>
                <a:ea typeface="微软雅黑"/>
                <a:cs typeface="微软雅黑"/>
              </a:rPr>
              <a:t>统一</a:t>
            </a:r>
            <a:r>
              <a:rPr sz="1125" spc="100">
                <a:latin typeface="微软雅黑"/>
                <a:ea typeface="微软雅黑"/>
                <a:cs typeface="微软雅黑"/>
              </a:rPr>
              <a:t> </a:t>
            </a:r>
            <a:r>
              <a:rPr sz="1125" spc="100" err="1">
                <a:latin typeface="微软雅黑"/>
                <a:ea typeface="微软雅黑"/>
                <a:cs typeface="微软雅黑"/>
              </a:rPr>
              <a:t>compatible；补齐构建依赖与</a:t>
            </a:r>
            <a:r>
              <a:rPr sz="1125" spc="100">
                <a:latin typeface="微软雅黑"/>
                <a:ea typeface="微软雅黑"/>
                <a:cs typeface="微软雅黑"/>
              </a:rPr>
              <a:t> toolchain PATH；</a:t>
            </a:r>
            <a:endParaRPr sz="1600" spc="1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  <a:defRPr sz="1125"/>
            </a:pPr>
            <a:r>
              <a:rPr sz="1125" spc="100" err="1">
                <a:latin typeface="微软雅黑"/>
                <a:ea typeface="微软雅黑"/>
                <a:cs typeface="微软雅黑"/>
              </a:rPr>
              <a:t>用时间戳</a:t>
            </a:r>
            <a:r>
              <a:rPr sz="1125" spc="100">
                <a:latin typeface="微软雅黑"/>
                <a:ea typeface="微软雅黑"/>
                <a:cs typeface="微软雅黑"/>
              </a:rPr>
              <a:t>/</a:t>
            </a:r>
            <a:r>
              <a:rPr sz="1125" spc="100" err="1">
                <a:latin typeface="微软雅黑"/>
                <a:ea typeface="微软雅黑"/>
                <a:cs typeface="微软雅黑"/>
              </a:rPr>
              <a:t>dtb</a:t>
            </a:r>
            <a:r>
              <a:rPr sz="1125" spc="100">
                <a:latin typeface="微软雅黑"/>
                <a:ea typeface="微软雅黑"/>
                <a:cs typeface="微软雅黑"/>
              </a:rPr>
              <a:t>/</a:t>
            </a:r>
            <a:r>
              <a:rPr sz="1125" spc="100" err="1">
                <a:latin typeface="微软雅黑"/>
                <a:ea typeface="微软雅黑"/>
                <a:cs typeface="微软雅黑"/>
              </a:rPr>
              <a:t>日志校验每次构建</a:t>
            </a:r>
            <a:r>
              <a:rPr sz="1125" spc="100">
                <a:latin typeface="微软雅黑"/>
                <a:ea typeface="微软雅黑"/>
                <a:cs typeface="微软雅黑"/>
              </a:rPr>
              <a:t>，</a:t>
            </a:r>
            <a:endParaRPr sz="1600" spc="1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  <a:defRPr sz="1125"/>
            </a:pPr>
            <a:r>
              <a:rPr sz="1125" spc="100" err="1">
                <a:latin typeface="微软雅黑"/>
                <a:ea typeface="微软雅黑"/>
                <a:cs typeface="微软雅黑"/>
              </a:rPr>
              <a:t>把“已修改”变成“已进入镜像</a:t>
            </a:r>
            <a:r>
              <a:rPr sz="1125" spc="100">
                <a:latin typeface="微软雅黑"/>
                <a:ea typeface="微软雅黑"/>
                <a:cs typeface="微软雅黑"/>
              </a:rPr>
              <a:t>”。</a:t>
            </a:r>
            <a:endParaRPr sz="1600" spc="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E73EDFF-6D40-4566-A61D-7086CA2B59B2}"/>
              </a:ext>
            </a:extLst>
          </p:cNvPr>
          <p:cNvSpPr>
            <a:spLocks noGrp="1"/>
          </p:cNvSpPr>
          <p:nvPr/>
        </p:nvSpPr>
        <p:spPr>
          <a:xfrm>
            <a:off x="4540950" y="1569569"/>
            <a:ext cx="3237466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HDMI 音频构建</a:t>
            </a:r>
          </a:p>
        </p:txBody>
      </p:sp>
      <p:sp>
        <p:nvSpPr>
          <p:cNvPr id="3" name="文本框 25">
            <a:extLst>
              <a:ext uri="{FF2B5EF4-FFF2-40B4-BE49-F238E27FC236}">
                <a16:creationId xmlns:a16="http://schemas.microsoft.com/office/drawing/2014/main" id="{EF6BA6DD-3A95-5F9B-E225-185778D32500}"/>
              </a:ext>
            </a:extLst>
          </p:cNvPr>
          <p:cNvSpPr>
            <a:spLocks noGrp="1"/>
          </p:cNvSpPr>
          <p:nvPr/>
        </p:nvSpPr>
        <p:spPr>
          <a:xfrm>
            <a:off x="425451" y="395460"/>
            <a:ext cx="5981699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03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难题与解法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en-US" altLang="zh-CN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HDMI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音频构建</a:t>
            </a:r>
          </a:p>
        </p:txBody>
      </p:sp>
    </p:spTree>
    <p:extLst>
      <p:ext uri="{BB962C8B-B14F-4D97-AF65-F5344CB8AC3E}">
        <p14:creationId xmlns:p14="http://schemas.microsoft.com/office/powerpoint/2010/main" val="1102257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>
            <a:extLst>
              <a:ext uri="{FF2B5EF4-FFF2-40B4-BE49-F238E27FC236}">
                <a16:creationId xmlns:a16="http://schemas.microsoft.com/office/drawing/2014/main" id="{CBE0133F-37B3-45BE-877E-3BC70BA38F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9000"/>
            </a:blip>
            <a:srcRect/>
            <a:stretch>
              <a:fillRect/>
            </a:stretch>
          </a:blipFill>
          <a:ln w="1270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EBEBEA-50E2-4F2A-909D-E135BDEB15A9}"/>
              </a:ext>
            </a:extLst>
          </p:cNvPr>
          <p:cNvSpPr>
            <a:spLocks noGrp="1"/>
          </p:cNvSpPr>
          <p:nvPr/>
        </p:nvSpPr>
        <p:spPr>
          <a:xfrm>
            <a:off x="911225" y="1976086"/>
            <a:ext cx="2495604" cy="38662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EAD1A79-C7EC-4C6E-8486-D4C8842AD762}"/>
              </a:ext>
            </a:extLst>
          </p:cNvPr>
          <p:cNvSpPr>
            <a:spLocks noGrp="1"/>
          </p:cNvSpPr>
          <p:nvPr/>
        </p:nvSpPr>
        <p:spPr>
          <a:xfrm>
            <a:off x="1032812" y="4978238"/>
            <a:ext cx="223814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hdc list targets 为空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configfs gadget 不存在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DF110AA-48BF-401A-9CCA-58B9F37BA246}"/>
              </a:ext>
            </a:extLst>
          </p:cNvPr>
          <p:cNvSpPr>
            <a:spLocks noGrp="1"/>
          </p:cNvSpPr>
          <p:nvPr/>
        </p:nvSpPr>
        <p:spPr>
          <a:xfrm>
            <a:off x="911225" y="4847740"/>
            <a:ext cx="2495604" cy="994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41ED87-07E9-4834-B525-2B54CF383EE4}"/>
              </a:ext>
            </a:extLst>
          </p:cNvPr>
          <p:cNvSpPr>
            <a:spLocks noGrp="1"/>
          </p:cNvSpPr>
          <p:nvPr/>
        </p:nvSpPr>
        <p:spPr>
          <a:xfrm>
            <a:off x="1859288" y="2528965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7CA5ECE5-B534-4F26-B67E-2B5592E7C702}"/>
              </a:ext>
            </a:extLst>
          </p:cNvPr>
          <p:cNvSpPr>
            <a:spLocks noGrp="1"/>
          </p:cNvSpPr>
          <p:nvPr/>
        </p:nvSpPr>
        <p:spPr>
          <a:xfrm>
            <a:off x="2151885" y="3146702"/>
            <a:ext cx="7141" cy="27544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6262FE0-8051-4C91-B003-5352B0F7A02D}"/>
              </a:ext>
            </a:extLst>
          </p:cNvPr>
          <p:cNvSpPr>
            <a:spLocks noGrp="1"/>
          </p:cNvSpPr>
          <p:nvPr/>
        </p:nvSpPr>
        <p:spPr>
          <a:xfrm>
            <a:off x="1760018" y="3467297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症状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ED54303-250A-404A-9965-661FC46C7CCC}"/>
              </a:ext>
            </a:extLst>
          </p:cNvPr>
          <p:cNvSpPr>
            <a:spLocks noGrp="1"/>
          </p:cNvSpPr>
          <p:nvPr/>
        </p:nvSpPr>
        <p:spPr>
          <a:xfrm>
            <a:off x="1039955" y="3964529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00"/>
            </a:pPr>
            <a:r>
              <a:rPr sz="9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NO TARGET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FD4788C-F086-4305-971E-4D63A03B51C8}"/>
              </a:ext>
            </a:extLst>
          </p:cNvPr>
          <p:cNvSpPr>
            <a:spLocks noGrp="1"/>
          </p:cNvSpPr>
          <p:nvPr/>
        </p:nvSpPr>
        <p:spPr>
          <a:xfrm>
            <a:off x="6217046" y="1976086"/>
            <a:ext cx="2495604" cy="38662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B09F291-A41C-41CD-B578-8913C70CAB23}"/>
              </a:ext>
            </a:extLst>
          </p:cNvPr>
          <p:cNvSpPr>
            <a:spLocks noGrp="1"/>
          </p:cNvSpPr>
          <p:nvPr/>
        </p:nvSpPr>
        <p:spPr>
          <a:xfrm>
            <a:off x="6338633" y="4978234"/>
            <a:ext cx="223814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停止 hdcd→挂载 FFS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等待→启动 hdcd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FDE4D6E-3517-44C6-AF85-B0A7E865CBD0}"/>
              </a:ext>
            </a:extLst>
          </p:cNvPr>
          <p:cNvSpPr>
            <a:spLocks noGrp="1"/>
          </p:cNvSpPr>
          <p:nvPr/>
        </p:nvSpPr>
        <p:spPr>
          <a:xfrm>
            <a:off x="6217046" y="4847735"/>
            <a:ext cx="2495604" cy="994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573512C-3A66-498D-ABD8-CFB5999E15DF}"/>
              </a:ext>
            </a:extLst>
          </p:cNvPr>
          <p:cNvSpPr>
            <a:spLocks noGrp="1"/>
          </p:cNvSpPr>
          <p:nvPr/>
        </p:nvSpPr>
        <p:spPr>
          <a:xfrm>
            <a:off x="7155639" y="2528965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9DC2F7EE-8B0F-44F1-A7C9-DAC396FF3A5F}"/>
              </a:ext>
            </a:extLst>
          </p:cNvPr>
          <p:cNvSpPr>
            <a:spLocks noGrp="1"/>
          </p:cNvSpPr>
          <p:nvPr/>
        </p:nvSpPr>
        <p:spPr>
          <a:xfrm>
            <a:off x="7448236" y="3146702"/>
            <a:ext cx="7141" cy="27544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D87FD43-A303-4B1C-A97E-FC17A191950D}"/>
              </a:ext>
            </a:extLst>
          </p:cNvPr>
          <p:cNvSpPr>
            <a:spLocks noGrp="1"/>
          </p:cNvSpPr>
          <p:nvPr/>
        </p:nvSpPr>
        <p:spPr>
          <a:xfrm>
            <a:off x="7056369" y="3467297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时序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688579A-F428-44C9-8E1F-ABF7DCA7B798}"/>
              </a:ext>
            </a:extLst>
          </p:cNvPr>
          <p:cNvSpPr>
            <a:spLocks noGrp="1"/>
          </p:cNvSpPr>
          <p:nvPr/>
        </p:nvSpPr>
        <p:spPr>
          <a:xfrm>
            <a:off x="6329165" y="3964529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00"/>
            </a:pPr>
            <a:r>
              <a:rPr sz="9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ORDER MATTERS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36AEE97-8AF5-49AB-B3E7-F42418409C92}"/>
              </a:ext>
            </a:extLst>
          </p:cNvPr>
          <p:cNvSpPr>
            <a:spLocks noGrp="1"/>
          </p:cNvSpPr>
          <p:nvPr/>
        </p:nvSpPr>
        <p:spPr>
          <a:xfrm>
            <a:off x="8869957" y="1976086"/>
            <a:ext cx="2495604" cy="38662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6F22428-7C11-477C-A27A-0D3334776085}"/>
              </a:ext>
            </a:extLst>
          </p:cNvPr>
          <p:cNvSpPr>
            <a:spLocks noGrp="1"/>
          </p:cNvSpPr>
          <p:nvPr/>
        </p:nvSpPr>
        <p:spPr>
          <a:xfrm>
            <a:off x="8869956" y="4835883"/>
            <a:ext cx="2496348" cy="100645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4DF67E2-A6E1-45F6-A412-0F2A4A19D5E6}"/>
              </a:ext>
            </a:extLst>
          </p:cNvPr>
          <p:cNvSpPr>
            <a:spLocks noGrp="1"/>
          </p:cNvSpPr>
          <p:nvPr/>
        </p:nvSpPr>
        <p:spPr>
          <a:xfrm>
            <a:off x="8992287" y="4968158"/>
            <a:ext cx="223814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DTS required_mount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参数默认值 + 幂等初始化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762D55C-9671-4891-AA20-66CEBB895802}"/>
              </a:ext>
            </a:extLst>
          </p:cNvPr>
          <p:cNvSpPr>
            <a:spLocks noGrp="1"/>
          </p:cNvSpPr>
          <p:nvPr/>
        </p:nvSpPr>
        <p:spPr>
          <a:xfrm>
            <a:off x="9771945" y="2528964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D3698A15-4700-4118-A506-787FFF4D4FF7}"/>
              </a:ext>
            </a:extLst>
          </p:cNvPr>
          <p:cNvSpPr>
            <a:spLocks noGrp="1"/>
          </p:cNvSpPr>
          <p:nvPr/>
        </p:nvSpPr>
        <p:spPr>
          <a:xfrm>
            <a:off x="10064542" y="3146701"/>
            <a:ext cx="7141" cy="275444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5518F82E-BE15-4564-BF6A-2D5780D99CFF}"/>
              </a:ext>
            </a:extLst>
          </p:cNvPr>
          <p:cNvSpPr>
            <a:spLocks noGrp="1"/>
          </p:cNvSpPr>
          <p:nvPr/>
        </p:nvSpPr>
        <p:spPr>
          <a:xfrm>
            <a:off x="9672675" y="3467295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固化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4493D7C-E59A-4E31-9FA4-2C429F27D1C4}"/>
              </a:ext>
            </a:extLst>
          </p:cNvPr>
          <p:cNvSpPr>
            <a:spLocks noGrp="1"/>
          </p:cNvSpPr>
          <p:nvPr/>
        </p:nvSpPr>
        <p:spPr>
          <a:xfrm>
            <a:off x="8945471" y="3945867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00"/>
            </a:pPr>
            <a:r>
              <a:rPr sz="9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IDEMPOTENT BOOT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DE33FF-237F-6BAB-298F-7211109C3BCE}"/>
              </a:ext>
            </a:extLst>
          </p:cNvPr>
          <p:cNvSpPr>
            <a:spLocks noGrp="1"/>
          </p:cNvSpPr>
          <p:nvPr/>
        </p:nvSpPr>
        <p:spPr>
          <a:xfrm>
            <a:off x="3562746" y="1976086"/>
            <a:ext cx="2495604" cy="38662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1FF251E-3D9E-429D-82D3-A1753FE22484}"/>
              </a:ext>
            </a:extLst>
          </p:cNvPr>
          <p:cNvSpPr>
            <a:spLocks noGrp="1"/>
          </p:cNvSpPr>
          <p:nvPr/>
        </p:nvSpPr>
        <p:spPr>
          <a:xfrm>
            <a:off x="3677837" y="4978236"/>
            <a:ext cx="2238141" cy="515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latin typeface="微软雅黑"/>
                <a:ea typeface="微软雅黑"/>
                <a:cs typeface="微软雅黑"/>
              </a:rPr>
              <a:t>chip_prod 未挂载</a:t>
            </a:r>
            <a:endParaRPr sz="1400"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latin typeface="微软雅黑"/>
                <a:ea typeface="微软雅黑"/>
                <a:cs typeface="微软雅黑"/>
              </a:rPr>
              <a:t>UDC 未绑定 / FFS 未就绪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36E3D44-BCCD-4D72-91EB-158F3F55A4AE}"/>
              </a:ext>
            </a:extLst>
          </p:cNvPr>
          <p:cNvSpPr>
            <a:spLocks noGrp="1"/>
          </p:cNvSpPr>
          <p:nvPr/>
        </p:nvSpPr>
        <p:spPr>
          <a:xfrm>
            <a:off x="4475594" y="2528965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34FEB326-0BD4-416B-B71F-1120A02F4193}"/>
              </a:ext>
            </a:extLst>
          </p:cNvPr>
          <p:cNvSpPr>
            <a:spLocks noGrp="1"/>
          </p:cNvSpPr>
          <p:nvPr/>
        </p:nvSpPr>
        <p:spPr>
          <a:xfrm>
            <a:off x="4768191" y="3146702"/>
            <a:ext cx="7141" cy="27544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F344A4A-80E4-4D27-9843-F27DA2CBEBB8}"/>
              </a:ext>
            </a:extLst>
          </p:cNvPr>
          <p:cNvSpPr>
            <a:spLocks noGrp="1"/>
          </p:cNvSpPr>
          <p:nvPr/>
        </p:nvSpPr>
        <p:spPr>
          <a:xfrm>
            <a:off x="4376324" y="3467297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探针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7E05917-8A62-44EF-99A6-51028C881179}"/>
              </a:ext>
            </a:extLst>
          </p:cNvPr>
          <p:cNvSpPr>
            <a:spLocks noGrp="1"/>
          </p:cNvSpPr>
          <p:nvPr/>
        </p:nvSpPr>
        <p:spPr>
          <a:xfrm>
            <a:off x="3716697" y="3952088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00"/>
            </a:pPr>
            <a:r>
              <a:rPr sz="9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MOUNT / UDC / FFS</a:t>
            </a:r>
          </a:p>
        </p:txBody>
      </p:sp>
      <p:sp>
        <p:nvSpPr>
          <p:cNvPr id="5" name="文本框 35">
            <a:extLst>
              <a:ext uri="{FF2B5EF4-FFF2-40B4-BE49-F238E27FC236}">
                <a16:creationId xmlns:a16="http://schemas.microsoft.com/office/drawing/2014/main" id="{B5F3095A-BFB1-27E7-5D08-6CA1DF53DB6F}"/>
              </a:ext>
            </a:extLst>
          </p:cNvPr>
          <p:cNvSpPr>
            <a:spLocks noGrp="1"/>
          </p:cNvSpPr>
          <p:nvPr/>
        </p:nvSpPr>
        <p:spPr>
          <a:xfrm>
            <a:off x="4854450" y="1200858"/>
            <a:ext cx="2708058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spc="100">
                <a:solidFill>
                  <a:srgbClr val="A6292F"/>
                </a:solidFill>
                <a:latin typeface="微软雅黑"/>
                <a:ea typeface="微软雅黑"/>
              </a:rPr>
              <a:t>HDC </a:t>
            </a:r>
            <a:r>
              <a:rPr lang="zh-CN" altLang="en-US" sz="2400" b="1" spc="100">
                <a:solidFill>
                  <a:srgbClr val="A6292F"/>
                </a:solidFill>
                <a:latin typeface="微软雅黑"/>
                <a:ea typeface="微软雅黑"/>
              </a:rPr>
              <a:t>时序调整</a:t>
            </a:r>
            <a:endParaRPr sz="2400" b="1" spc="100">
              <a:solidFill>
                <a:srgbClr val="A6292F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25">
            <a:extLst>
              <a:ext uri="{FF2B5EF4-FFF2-40B4-BE49-F238E27FC236}">
                <a16:creationId xmlns:a16="http://schemas.microsoft.com/office/drawing/2014/main" id="{3C38208C-12F2-1A35-A86C-230F194290EC}"/>
              </a:ext>
            </a:extLst>
          </p:cNvPr>
          <p:cNvSpPr>
            <a:spLocks noGrp="1"/>
          </p:cNvSpPr>
          <p:nvPr/>
        </p:nvSpPr>
        <p:spPr>
          <a:xfrm>
            <a:off x="425451" y="395460"/>
            <a:ext cx="5981699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03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难题与解法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en-US" altLang="zh-CN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HDC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时序调整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BE3386-02E9-98FC-5D1C-4B92B9997B71}"/>
              </a:ext>
            </a:extLst>
          </p:cNvPr>
          <p:cNvSpPr>
            <a:spLocks noGrp="1"/>
          </p:cNvSpPr>
          <p:nvPr/>
        </p:nvSpPr>
        <p:spPr>
          <a:xfrm>
            <a:off x="3562746" y="4847735"/>
            <a:ext cx="2495604" cy="994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A5D7B4-DC32-47FE-8FE6-818CF5974C8E}"/>
              </a:ext>
            </a:extLst>
          </p:cNvPr>
          <p:cNvSpPr>
            <a:spLocks noGrp="1"/>
          </p:cNvSpPr>
          <p:nvPr/>
        </p:nvSpPr>
        <p:spPr>
          <a:xfrm>
            <a:off x="911225" y="1976086"/>
            <a:ext cx="10454337" cy="386625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022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îṣḻïḓê">
            <a:extLst>
              <a:ext uri="{FF2B5EF4-FFF2-40B4-BE49-F238E27FC236}">
                <a16:creationId xmlns:a16="http://schemas.microsoft.com/office/drawing/2014/main" id="{7E00BA6A-8A82-48F6-BB80-1091805A0912}"/>
              </a:ext>
            </a:extLst>
          </p:cNvPr>
          <p:cNvSpPr>
            <a:spLocks noGrp="1"/>
          </p:cNvSpPr>
          <p:nvPr/>
        </p:nvSpPr>
        <p:spPr>
          <a:xfrm>
            <a:off x="1" y="5095923"/>
            <a:ext cx="12192000" cy="1762077"/>
          </a:xfrm>
          <a:prstGeom prst="trapezoid">
            <a:avLst>
              <a:gd name="adj" fmla="val 99668"/>
            </a:avLst>
          </a:prstGeom>
          <a:solidFill>
            <a:srgbClr val="AB2B2B">
              <a:alpha val="14000"/>
            </a:srgb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b">
            <a:normAutofit/>
          </a:bodyPr>
          <a:lstStyle/>
          <a:p>
            <a:pPr lvl="0" algn="ctr" defTabSz="913765">
              <a:lnSpc>
                <a:spcPct val="150000"/>
              </a:lnSpc>
              <a:buSzPct val="25000"/>
              <a:buNone/>
            </a:pPr>
            <a:endParaRPr sz="1200">
              <a:solidFill>
                <a:schemeClr val="tx1"/>
              </a:solidFill>
            </a:endParaRPr>
          </a:p>
        </p:txBody>
      </p:sp>
      <p:sp>
        <p:nvSpPr>
          <p:cNvPr id="5" name="iṧḻíďè">
            <a:extLst>
              <a:ext uri="{FF2B5EF4-FFF2-40B4-BE49-F238E27FC236}">
                <a16:creationId xmlns:a16="http://schemas.microsoft.com/office/drawing/2014/main" id="{3B2EE2A2-BCF5-4529-9A03-DB1BA4F02F89}"/>
              </a:ext>
            </a:extLst>
          </p:cNvPr>
          <p:cNvSpPr>
            <a:spLocks noGrp="1"/>
          </p:cNvSpPr>
          <p:nvPr/>
        </p:nvSpPr>
        <p:spPr>
          <a:xfrm>
            <a:off x="4669152" y="2630047"/>
            <a:ext cx="2853695" cy="3161994"/>
          </a:xfrm>
          <a:prstGeom prst="snip1Rect">
            <a:avLst>
              <a:gd name="adj" fmla="val 29383"/>
            </a:avLst>
          </a:prstGeom>
          <a:solidFill>
            <a:schemeClr val="bg1"/>
          </a:solidFill>
          <a:ln w="317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endParaRPr sz="1100">
              <a:solidFill>
                <a:schemeClr val="tx1"/>
              </a:solidFill>
            </a:endParaRPr>
          </a:p>
        </p:txBody>
      </p:sp>
      <p:sp>
        <p:nvSpPr>
          <p:cNvPr id="6" name="îşlïďê">
            <a:extLst>
              <a:ext uri="{FF2B5EF4-FFF2-40B4-BE49-F238E27FC236}">
                <a16:creationId xmlns:a16="http://schemas.microsoft.com/office/drawing/2014/main" id="{81591E47-7C09-4102-8AFA-809663C2E281}"/>
              </a:ext>
            </a:extLst>
          </p:cNvPr>
          <p:cNvSpPr>
            <a:spLocks noGrp="1"/>
          </p:cNvSpPr>
          <p:nvPr/>
        </p:nvSpPr>
        <p:spPr>
          <a:xfrm>
            <a:off x="5015966" y="2944077"/>
            <a:ext cx="1996399" cy="374373"/>
          </a:xfrm>
          <a:prstGeom prst="rect">
            <a:avLst/>
          </a:prstGeom>
        </p:spPr>
        <p:txBody>
          <a:bodyPr wrap="square" lIns="91440" tIns="45720" rIns="91440" bIns="45720" anchor="ctr">
            <a:normAutofit fontScale="92355" lnSpcReduction="20000"/>
          </a:bodyPr>
          <a:lstStyle/>
          <a:p>
            <a:pPr marL="0" indent="0" algn="ctr">
              <a:buNone/>
            </a:pPr>
            <a:r>
              <a:rPr sz="2400" b="1" i="1">
                <a:latin typeface="微软雅黑"/>
                <a:ea typeface="微软雅黑"/>
                <a:cs typeface="微软雅黑"/>
              </a:rPr>
              <a:t>状态一致性</a:t>
            </a:r>
          </a:p>
        </p:txBody>
      </p:sp>
      <p:sp>
        <p:nvSpPr>
          <p:cNvPr id="7" name="iSḻîḋé">
            <a:extLst>
              <a:ext uri="{FF2B5EF4-FFF2-40B4-BE49-F238E27FC236}">
                <a16:creationId xmlns:a16="http://schemas.microsoft.com/office/drawing/2014/main" id="{C541E940-38DF-476D-9C95-9B95A08B09BE}"/>
              </a:ext>
            </a:extLst>
          </p:cNvPr>
          <p:cNvSpPr>
            <a:spLocks noGrp="1"/>
          </p:cNvSpPr>
          <p:nvPr/>
        </p:nvSpPr>
        <p:spPr>
          <a:xfrm>
            <a:off x="4669153" y="5668860"/>
            <a:ext cx="2853695" cy="123181"/>
          </a:xfrm>
          <a:prstGeom prst="rect">
            <a:avLst/>
          </a:prstGeom>
          <a:solidFill>
            <a:srgbClr val="183E50"/>
          </a:solidFill>
          <a:ln w="3175">
            <a:noFill/>
            <a:prstDash val="solid"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/>
          </a:p>
        </p:txBody>
      </p:sp>
      <p:sp>
        <p:nvSpPr>
          <p:cNvPr id="8" name="íŝḻïďé">
            <a:extLst>
              <a:ext uri="{FF2B5EF4-FFF2-40B4-BE49-F238E27FC236}">
                <a16:creationId xmlns:a16="http://schemas.microsoft.com/office/drawing/2014/main" id="{EA4E34A4-7B08-43D9-BFA0-2C17161A215F}"/>
              </a:ext>
            </a:extLst>
          </p:cNvPr>
          <p:cNvSpPr>
            <a:spLocks noGrp="1"/>
          </p:cNvSpPr>
          <p:nvPr/>
        </p:nvSpPr>
        <p:spPr>
          <a:xfrm>
            <a:off x="6802874" y="2630047"/>
            <a:ext cx="719975" cy="719975"/>
          </a:xfrm>
          <a:custGeom>
            <a:avLst/>
            <a:gdLst>
              <a:gd name="T0" fmla="*/ 608 w 608"/>
              <a:gd name="T1" fmla="*/ 0 h 608"/>
              <a:gd name="T2" fmla="*/ 0 w 608"/>
              <a:gd name="T3" fmla="*/ 0 h 608"/>
              <a:gd name="T4" fmla="*/ 608 w 608"/>
              <a:gd name="T5" fmla="*/ 608 h 608"/>
              <a:gd name="T6" fmla="*/ 608 w 608"/>
              <a:gd name="T7" fmla="*/ 0 h 608"/>
            </a:gdLst>
            <a:ahLst/>
            <a:cxnLst/>
            <a:rect l="0" t="0" r="r" b="b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183E50"/>
          </a:solidFill>
          <a:ln w="3175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/>
          <a:p>
            <a:pPr lvl="0" algn="r">
              <a:buNone/>
            </a:pPr>
            <a:r>
              <a:rPr sz="2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íṧḷíḑé">
            <a:extLst>
              <a:ext uri="{FF2B5EF4-FFF2-40B4-BE49-F238E27FC236}">
                <a16:creationId xmlns:a16="http://schemas.microsoft.com/office/drawing/2014/main" id="{92F7B095-31A2-44CE-A55A-C9DC3E281014}"/>
              </a:ext>
            </a:extLst>
          </p:cNvPr>
          <p:cNvSpPr>
            <a:spLocks noGrp="1"/>
          </p:cNvSpPr>
          <p:nvPr/>
        </p:nvSpPr>
        <p:spPr>
          <a:xfrm>
            <a:off x="1356784" y="2630047"/>
            <a:ext cx="2853695" cy="3161994"/>
          </a:xfrm>
          <a:prstGeom prst="snip1Rect">
            <a:avLst>
              <a:gd name="adj" fmla="val 29383"/>
            </a:avLst>
          </a:prstGeom>
          <a:solidFill>
            <a:schemeClr val="bg1"/>
          </a:solidFill>
          <a:ln w="3175">
            <a:solidFill>
              <a:srgbClr val="A629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endParaRPr sz="1100">
              <a:solidFill>
                <a:schemeClr val="tx1"/>
              </a:solidFill>
            </a:endParaRPr>
          </a:p>
        </p:txBody>
      </p:sp>
      <p:sp>
        <p:nvSpPr>
          <p:cNvPr id="10" name="íṩḷîḑe">
            <a:extLst>
              <a:ext uri="{FF2B5EF4-FFF2-40B4-BE49-F238E27FC236}">
                <a16:creationId xmlns:a16="http://schemas.microsoft.com/office/drawing/2014/main" id="{F096C595-AB77-400B-A88B-C2F400FC1C88}"/>
              </a:ext>
            </a:extLst>
          </p:cNvPr>
          <p:cNvSpPr>
            <a:spLocks noGrp="1"/>
          </p:cNvSpPr>
          <p:nvPr/>
        </p:nvSpPr>
        <p:spPr>
          <a:xfrm>
            <a:off x="1356785" y="5668860"/>
            <a:ext cx="2853695" cy="123181"/>
          </a:xfrm>
          <a:prstGeom prst="rect">
            <a:avLst/>
          </a:prstGeom>
          <a:solidFill>
            <a:srgbClr val="A6292F"/>
          </a:solidFill>
          <a:ln w="3175">
            <a:noFill/>
            <a:prstDash val="solid"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/>
          </a:p>
        </p:txBody>
      </p:sp>
      <p:sp>
        <p:nvSpPr>
          <p:cNvPr id="11" name="îṣľîḍe">
            <a:extLst>
              <a:ext uri="{FF2B5EF4-FFF2-40B4-BE49-F238E27FC236}">
                <a16:creationId xmlns:a16="http://schemas.microsoft.com/office/drawing/2014/main" id="{0A1A8CE0-2F17-42D9-8FFE-73301169970F}"/>
              </a:ext>
            </a:extLst>
          </p:cNvPr>
          <p:cNvSpPr>
            <a:spLocks noGrp="1"/>
          </p:cNvSpPr>
          <p:nvPr/>
        </p:nvSpPr>
        <p:spPr>
          <a:xfrm>
            <a:off x="3490506" y="2630047"/>
            <a:ext cx="719975" cy="719975"/>
          </a:xfrm>
          <a:custGeom>
            <a:avLst/>
            <a:gdLst>
              <a:gd name="T0" fmla="*/ 608 w 608"/>
              <a:gd name="T1" fmla="*/ 0 h 608"/>
              <a:gd name="T2" fmla="*/ 0 w 608"/>
              <a:gd name="T3" fmla="*/ 0 h 608"/>
              <a:gd name="T4" fmla="*/ 608 w 608"/>
              <a:gd name="T5" fmla="*/ 608 h 608"/>
              <a:gd name="T6" fmla="*/ 608 w 608"/>
              <a:gd name="T7" fmla="*/ 0 h 608"/>
            </a:gdLst>
            <a:ahLst/>
            <a:cxnLst/>
            <a:rect l="0" t="0" r="r" b="b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A6292F"/>
          </a:solidFill>
          <a:ln w="3175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/>
          <a:p>
            <a:pPr lvl="0" algn="r">
              <a:buNone/>
            </a:pPr>
            <a:r>
              <a:rPr sz="2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iṧlîḋè">
            <a:extLst>
              <a:ext uri="{FF2B5EF4-FFF2-40B4-BE49-F238E27FC236}">
                <a16:creationId xmlns:a16="http://schemas.microsoft.com/office/drawing/2014/main" id="{74DCE535-0087-4514-B223-AFEE80BE2117}"/>
              </a:ext>
            </a:extLst>
          </p:cNvPr>
          <p:cNvSpPr>
            <a:spLocks noGrp="1"/>
          </p:cNvSpPr>
          <p:nvPr/>
        </p:nvSpPr>
        <p:spPr>
          <a:xfrm>
            <a:off x="1703598" y="2944076"/>
            <a:ext cx="1996399" cy="374373"/>
          </a:xfrm>
          <a:prstGeom prst="rect">
            <a:avLst/>
          </a:prstGeom>
        </p:spPr>
        <p:txBody>
          <a:bodyPr wrap="square" lIns="91440" tIns="45720" rIns="91440" bIns="45720" anchor="ctr">
            <a:normAutofit fontScale="92355" lnSpcReduction="20000"/>
          </a:bodyPr>
          <a:lstStyle/>
          <a:p>
            <a:pPr marL="0" indent="0" algn="ctr">
              <a:buNone/>
            </a:pPr>
            <a:r>
              <a:rPr sz="2400" b="1" i="1">
                <a:latin typeface="微软雅黑"/>
                <a:ea typeface="微软雅黑"/>
                <a:cs typeface="微软雅黑"/>
              </a:rPr>
              <a:t>症状与误导</a:t>
            </a:r>
          </a:p>
        </p:txBody>
      </p:sp>
      <p:sp>
        <p:nvSpPr>
          <p:cNvPr id="13" name="iSlíḑê">
            <a:extLst>
              <a:ext uri="{FF2B5EF4-FFF2-40B4-BE49-F238E27FC236}">
                <a16:creationId xmlns:a16="http://schemas.microsoft.com/office/drawing/2014/main" id="{9BA63A25-B2DD-43F6-BD8E-4B17AB9C45BE}"/>
              </a:ext>
            </a:extLst>
          </p:cNvPr>
          <p:cNvSpPr>
            <a:spLocks noGrp="1"/>
          </p:cNvSpPr>
          <p:nvPr/>
        </p:nvSpPr>
        <p:spPr>
          <a:xfrm>
            <a:off x="7981520" y="2630047"/>
            <a:ext cx="2853695" cy="3161994"/>
          </a:xfrm>
          <a:prstGeom prst="snip1Rect">
            <a:avLst>
              <a:gd name="adj" fmla="val 29383"/>
            </a:avLst>
          </a:prstGeom>
          <a:solidFill>
            <a:schemeClr val="bg1"/>
          </a:solidFill>
          <a:ln w="3175">
            <a:solidFill>
              <a:srgbClr val="A629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endParaRPr sz="1100">
              <a:solidFill>
                <a:schemeClr val="tx1"/>
              </a:solidFill>
            </a:endParaRPr>
          </a:p>
        </p:txBody>
      </p:sp>
      <p:sp>
        <p:nvSpPr>
          <p:cNvPr id="14" name="ïśḻíde">
            <a:extLst>
              <a:ext uri="{FF2B5EF4-FFF2-40B4-BE49-F238E27FC236}">
                <a16:creationId xmlns:a16="http://schemas.microsoft.com/office/drawing/2014/main" id="{35690D79-8850-42A7-956A-F3995EBCB714}"/>
              </a:ext>
            </a:extLst>
          </p:cNvPr>
          <p:cNvSpPr>
            <a:spLocks noGrp="1"/>
          </p:cNvSpPr>
          <p:nvPr/>
        </p:nvSpPr>
        <p:spPr>
          <a:xfrm>
            <a:off x="7981521" y="5668860"/>
            <a:ext cx="2853695" cy="123181"/>
          </a:xfrm>
          <a:prstGeom prst="rect">
            <a:avLst/>
          </a:prstGeom>
          <a:solidFill>
            <a:srgbClr val="A6292F"/>
          </a:solidFill>
          <a:ln w="3175">
            <a:noFill/>
            <a:prstDash val="solid"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>
              <a:buNone/>
            </a:pPr>
            <a:endParaRPr/>
          </a:p>
        </p:txBody>
      </p:sp>
      <p:sp>
        <p:nvSpPr>
          <p:cNvPr id="15" name="íslîḍè">
            <a:extLst>
              <a:ext uri="{FF2B5EF4-FFF2-40B4-BE49-F238E27FC236}">
                <a16:creationId xmlns:a16="http://schemas.microsoft.com/office/drawing/2014/main" id="{08550DE4-0591-4E6F-BC21-581A2984BC3C}"/>
              </a:ext>
            </a:extLst>
          </p:cNvPr>
          <p:cNvSpPr>
            <a:spLocks noGrp="1"/>
          </p:cNvSpPr>
          <p:nvPr/>
        </p:nvSpPr>
        <p:spPr>
          <a:xfrm>
            <a:off x="10115242" y="2630047"/>
            <a:ext cx="719975" cy="719975"/>
          </a:xfrm>
          <a:custGeom>
            <a:avLst/>
            <a:gdLst>
              <a:gd name="T0" fmla="*/ 608 w 608"/>
              <a:gd name="T1" fmla="*/ 0 h 608"/>
              <a:gd name="T2" fmla="*/ 0 w 608"/>
              <a:gd name="T3" fmla="*/ 0 h 608"/>
              <a:gd name="T4" fmla="*/ 608 w 608"/>
              <a:gd name="T5" fmla="*/ 608 h 608"/>
              <a:gd name="T6" fmla="*/ 608 w 608"/>
              <a:gd name="T7" fmla="*/ 0 h 608"/>
            </a:gdLst>
            <a:ahLst/>
            <a:cxnLst/>
            <a:rect l="0" t="0" r="r" b="b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A6292F"/>
          </a:solidFill>
          <a:ln w="3175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/>
          <a:p>
            <a:pPr lvl="0" algn="r">
              <a:buNone/>
            </a:pPr>
            <a:r>
              <a:rPr sz="2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iṥľïďé">
            <a:extLst>
              <a:ext uri="{FF2B5EF4-FFF2-40B4-BE49-F238E27FC236}">
                <a16:creationId xmlns:a16="http://schemas.microsoft.com/office/drawing/2014/main" id="{358316C1-650B-43C6-873D-B8D005B2AC19}"/>
              </a:ext>
            </a:extLst>
          </p:cNvPr>
          <p:cNvSpPr>
            <a:spLocks noGrp="1"/>
          </p:cNvSpPr>
          <p:nvPr/>
        </p:nvSpPr>
        <p:spPr>
          <a:xfrm>
            <a:off x="8328333" y="2944077"/>
            <a:ext cx="1996399" cy="374373"/>
          </a:xfrm>
          <a:prstGeom prst="rect">
            <a:avLst/>
          </a:prstGeom>
        </p:spPr>
        <p:txBody>
          <a:bodyPr wrap="square" lIns="91440" tIns="45720" rIns="91440" bIns="45720" anchor="ctr">
            <a:normAutofit fontScale="92355" lnSpcReduction="20000"/>
          </a:bodyPr>
          <a:lstStyle/>
          <a:p>
            <a:pPr marL="0" indent="0" algn="ctr">
              <a:buNone/>
            </a:pPr>
            <a:r>
              <a:rPr sz="2400" b="1" i="1">
                <a:latin typeface="微软雅黑"/>
                <a:ea typeface="微软雅黑"/>
                <a:cs typeface="微软雅黑"/>
              </a:rPr>
              <a:t>提交前校验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67DC9E70-CA0E-4DE6-AD70-E68B3511C9E3}"/>
              </a:ext>
            </a:extLst>
          </p:cNvPr>
          <p:cNvSpPr>
            <a:spLocks noGrp="1"/>
          </p:cNvSpPr>
          <p:nvPr/>
        </p:nvSpPr>
        <p:spPr>
          <a:xfrm flipV="1">
            <a:off x="1356782" y="4143434"/>
            <a:ext cx="2853696" cy="18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F7EB1E7D-F981-4862-A312-117BC9A7F647}"/>
              </a:ext>
            </a:extLst>
          </p:cNvPr>
          <p:cNvSpPr>
            <a:spLocks noGrp="1"/>
          </p:cNvSpPr>
          <p:nvPr/>
        </p:nvSpPr>
        <p:spPr>
          <a:xfrm flipV="1">
            <a:off x="1356782" y="4844210"/>
            <a:ext cx="2853696" cy="18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BC642E38-BCA8-4A39-979D-D68CF13CF9CB}"/>
              </a:ext>
            </a:extLst>
          </p:cNvPr>
          <p:cNvSpPr>
            <a:spLocks noGrp="1"/>
          </p:cNvSpPr>
          <p:nvPr/>
        </p:nvSpPr>
        <p:spPr>
          <a:xfrm flipV="1">
            <a:off x="4669151" y="4143434"/>
            <a:ext cx="2853696" cy="18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A0BF1451-B10B-428C-B453-1C35F1CDC16E}"/>
              </a:ext>
            </a:extLst>
          </p:cNvPr>
          <p:cNvSpPr>
            <a:spLocks noGrp="1"/>
          </p:cNvSpPr>
          <p:nvPr/>
        </p:nvSpPr>
        <p:spPr>
          <a:xfrm flipV="1">
            <a:off x="4669151" y="4844210"/>
            <a:ext cx="2853696" cy="18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EC61E9D1-9CCA-44CA-8526-691BB342665B}"/>
              </a:ext>
            </a:extLst>
          </p:cNvPr>
          <p:cNvSpPr>
            <a:spLocks noGrp="1"/>
          </p:cNvSpPr>
          <p:nvPr/>
        </p:nvSpPr>
        <p:spPr>
          <a:xfrm flipV="1">
            <a:off x="7981519" y="4143434"/>
            <a:ext cx="2853696" cy="18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B2E62CD8-F43B-4A9A-ABB7-F242BF194CD2}"/>
              </a:ext>
            </a:extLst>
          </p:cNvPr>
          <p:cNvSpPr>
            <a:spLocks noGrp="1"/>
          </p:cNvSpPr>
          <p:nvPr/>
        </p:nvSpPr>
        <p:spPr>
          <a:xfrm flipV="1">
            <a:off x="7981519" y="4844210"/>
            <a:ext cx="2853696" cy="18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5901D95-6F88-4E5B-87BC-42A6EC56F957}"/>
              </a:ext>
            </a:extLst>
          </p:cNvPr>
          <p:cNvSpPr>
            <a:spLocks noGrp="1"/>
          </p:cNvSpPr>
          <p:nvPr/>
        </p:nvSpPr>
        <p:spPr>
          <a:xfrm>
            <a:off x="1504673" y="3626836"/>
            <a:ext cx="270580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AtomicCommit 返回 −22；用户态出现</a:t>
            </a:r>
            <a:endParaRPr sz="1600" spc="1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“已连接”输出但 EDID 为 0，</a:t>
            </a:r>
            <a:endParaRPr sz="1600" spc="1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伪模式让排查方向被误导。</a:t>
            </a:r>
            <a:endParaRPr sz="1600" spc="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AA7BF8F-610B-4F2B-897E-21B8DF39E916}"/>
              </a:ext>
            </a:extLst>
          </p:cNvPr>
          <p:cNvSpPr>
            <a:spLocks noGrp="1"/>
          </p:cNvSpPr>
          <p:nvPr/>
        </p:nvSpPr>
        <p:spPr>
          <a:xfrm>
            <a:off x="4817042" y="3626836"/>
            <a:ext cx="270580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根因包含不支持属性、跨 CRTC 对象混用；</a:t>
            </a:r>
            <a:endParaRPr sz="1600" spc="1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encoder possible_crtcs 被错误当作索引，</a:t>
            </a:r>
            <a:endParaRPr sz="1600" spc="1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发现与 hotplug 阶段选择不一致。</a:t>
            </a:r>
            <a:endParaRPr sz="1600" spc="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E0F13A5-0FD9-410F-B314-231E826DC008}"/>
              </a:ext>
            </a:extLst>
          </p:cNvPr>
          <p:cNvSpPr>
            <a:spLocks noGrp="1"/>
          </p:cNvSpPr>
          <p:nvPr/>
        </p:nvSpPr>
        <p:spPr>
          <a:xfrm>
            <a:off x="8129410" y="3626835"/>
            <a:ext cx="270580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只接受内核真实 mode；完整校验 EDID 头与校验和；</a:t>
            </a:r>
            <a:endParaRPr sz="1600" spc="1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按 bitmask 选择同一 CRTC；</a:t>
            </a:r>
            <a:endParaRPr sz="1600" spc="1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  <a:defRPr sz="1125"/>
            </a:pPr>
            <a:r>
              <a:rPr sz="1125" spc="100">
                <a:latin typeface="微软雅黑"/>
                <a:ea typeface="微软雅黑"/>
                <a:cs typeface="微软雅黑"/>
              </a:rPr>
              <a:t>无效状态拒绝提交并释放对象。</a:t>
            </a:r>
            <a:endParaRPr sz="1600" spc="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E73EDFF-6D40-4566-A61D-7086CA2B59B2}"/>
              </a:ext>
            </a:extLst>
          </p:cNvPr>
          <p:cNvSpPr>
            <a:spLocks noGrp="1"/>
          </p:cNvSpPr>
          <p:nvPr/>
        </p:nvSpPr>
        <p:spPr>
          <a:xfrm>
            <a:off x="4755514" y="1569569"/>
            <a:ext cx="2705805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DRM </a:t>
            </a:r>
            <a:r>
              <a:rPr sz="2400" b="1" spc="100" err="1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状态一致性</a:t>
            </a:r>
            <a:endParaRPr sz="2400" b="1" spc="100">
              <a:solidFill>
                <a:srgbClr val="A6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5">
            <a:extLst>
              <a:ext uri="{FF2B5EF4-FFF2-40B4-BE49-F238E27FC236}">
                <a16:creationId xmlns:a16="http://schemas.microsoft.com/office/drawing/2014/main" id="{295F6173-283B-CBBE-5496-DF5BFD4EF01E}"/>
              </a:ext>
            </a:extLst>
          </p:cNvPr>
          <p:cNvSpPr>
            <a:spLocks noGrp="1"/>
          </p:cNvSpPr>
          <p:nvPr/>
        </p:nvSpPr>
        <p:spPr>
          <a:xfrm>
            <a:off x="425451" y="395460"/>
            <a:ext cx="5981699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03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难题与解法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en-US" altLang="zh-CN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DRM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状态一致性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02257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>
            <a:extLst>
              <a:ext uri="{FF2B5EF4-FFF2-40B4-BE49-F238E27FC236}">
                <a16:creationId xmlns:a16="http://schemas.microsoft.com/office/drawing/2014/main" id="{CBE0133F-37B3-45BE-877E-3BC70BA38F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 amt="9000"/>
            </a:blip>
            <a:srcRect/>
            <a:stretch>
              <a:fillRect/>
            </a:stretch>
          </a:blipFill>
          <a:ln w="1270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EBEBEA-50E2-4F2A-909D-E135BDEB15A9}"/>
              </a:ext>
            </a:extLst>
          </p:cNvPr>
          <p:cNvSpPr>
            <a:spLocks noGrp="1"/>
          </p:cNvSpPr>
          <p:nvPr/>
        </p:nvSpPr>
        <p:spPr>
          <a:xfrm>
            <a:off x="911225" y="1976086"/>
            <a:ext cx="2495604" cy="38662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EAD1A79-C7EC-4C6E-8486-D4C8842AD762}"/>
              </a:ext>
            </a:extLst>
          </p:cNvPr>
          <p:cNvSpPr>
            <a:spLocks noGrp="1"/>
          </p:cNvSpPr>
          <p:nvPr/>
        </p:nvSpPr>
        <p:spPr>
          <a:xfrm>
            <a:off x="1032812" y="4978238"/>
            <a:ext cx="223814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修正格式识别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转换为 NV21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DF110AA-48BF-401A-9CCA-58B9F37BA246}"/>
              </a:ext>
            </a:extLst>
          </p:cNvPr>
          <p:cNvSpPr>
            <a:spLocks noGrp="1"/>
          </p:cNvSpPr>
          <p:nvPr/>
        </p:nvSpPr>
        <p:spPr>
          <a:xfrm>
            <a:off x="911225" y="4847740"/>
            <a:ext cx="2495604" cy="994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41ED87-07E9-4834-B525-2B54CF383EE4}"/>
              </a:ext>
            </a:extLst>
          </p:cNvPr>
          <p:cNvSpPr>
            <a:spLocks noGrp="1"/>
          </p:cNvSpPr>
          <p:nvPr/>
        </p:nvSpPr>
        <p:spPr>
          <a:xfrm>
            <a:off x="1859288" y="2528965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7CA5ECE5-B534-4F26-B67E-2B5592E7C702}"/>
              </a:ext>
            </a:extLst>
          </p:cNvPr>
          <p:cNvSpPr>
            <a:spLocks noGrp="1"/>
          </p:cNvSpPr>
          <p:nvPr/>
        </p:nvSpPr>
        <p:spPr>
          <a:xfrm>
            <a:off x="2151885" y="3146702"/>
            <a:ext cx="7141" cy="27544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6262FE0-8051-4C91-B003-5352B0F7A02D}"/>
              </a:ext>
            </a:extLst>
          </p:cNvPr>
          <p:cNvSpPr>
            <a:spLocks noGrp="1"/>
          </p:cNvSpPr>
          <p:nvPr/>
        </p:nvSpPr>
        <p:spPr>
          <a:xfrm>
            <a:off x="1760018" y="3467297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格式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ED54303-250A-404A-9965-661FC46C7CCC}"/>
              </a:ext>
            </a:extLst>
          </p:cNvPr>
          <p:cNvSpPr>
            <a:spLocks noGrp="1"/>
          </p:cNvSpPr>
          <p:nvPr/>
        </p:nvSpPr>
        <p:spPr>
          <a:xfrm>
            <a:off x="1039955" y="3964529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00"/>
            </a:pPr>
            <a:r>
              <a:rPr sz="9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YUYV ≠ YUV420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FD4788C-F086-4305-971E-4D63A03B51C8}"/>
              </a:ext>
            </a:extLst>
          </p:cNvPr>
          <p:cNvSpPr>
            <a:spLocks noGrp="1"/>
          </p:cNvSpPr>
          <p:nvPr/>
        </p:nvSpPr>
        <p:spPr>
          <a:xfrm>
            <a:off x="6217046" y="1976086"/>
            <a:ext cx="2495604" cy="38662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B09F291-A41C-41CD-B578-8913C70CAB23}"/>
              </a:ext>
            </a:extLst>
          </p:cNvPr>
          <p:cNvSpPr>
            <a:spLocks noGrp="1"/>
          </p:cNvSpPr>
          <p:nvPr/>
        </p:nvSpPr>
        <p:spPr>
          <a:xfrm>
            <a:off x="6338633" y="4978234"/>
            <a:ext cx="2238141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覆盖帧立即归还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ConsumerSurface 强引用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FDE4D6E-3517-44C6-AF85-B0A7E865CBD0}"/>
              </a:ext>
            </a:extLst>
          </p:cNvPr>
          <p:cNvSpPr>
            <a:spLocks noGrp="1"/>
          </p:cNvSpPr>
          <p:nvPr/>
        </p:nvSpPr>
        <p:spPr>
          <a:xfrm>
            <a:off x="6217046" y="4847735"/>
            <a:ext cx="2495604" cy="994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573512C-3A66-498D-ABD8-CFB5999E15DF}"/>
              </a:ext>
            </a:extLst>
          </p:cNvPr>
          <p:cNvSpPr>
            <a:spLocks noGrp="1"/>
          </p:cNvSpPr>
          <p:nvPr/>
        </p:nvSpPr>
        <p:spPr>
          <a:xfrm>
            <a:off x="7155639" y="2528965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9DC2F7EE-8B0F-44F1-A7C9-DAC396FF3A5F}"/>
              </a:ext>
            </a:extLst>
          </p:cNvPr>
          <p:cNvSpPr>
            <a:spLocks noGrp="1"/>
          </p:cNvSpPr>
          <p:nvPr/>
        </p:nvSpPr>
        <p:spPr>
          <a:xfrm>
            <a:off x="7448236" y="3146702"/>
            <a:ext cx="7141" cy="27544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D87FD43-A303-4B1C-A97E-FC17A191950D}"/>
              </a:ext>
            </a:extLst>
          </p:cNvPr>
          <p:cNvSpPr>
            <a:spLocks noGrp="1"/>
          </p:cNvSpPr>
          <p:nvPr/>
        </p:nvSpPr>
        <p:spPr>
          <a:xfrm>
            <a:off x="7056369" y="3467297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周期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688579A-F428-44C9-8E1F-ABF7DCA7B798}"/>
              </a:ext>
            </a:extLst>
          </p:cNvPr>
          <p:cNvSpPr>
            <a:spLocks noGrp="1"/>
          </p:cNvSpPr>
          <p:nvPr/>
        </p:nvSpPr>
        <p:spPr>
          <a:xfrm>
            <a:off x="6329165" y="3964529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00"/>
            </a:pPr>
            <a:r>
              <a:rPr sz="9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OWNERSHIP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36AEE97-8AF5-49AB-B3E7-F42418409C92}"/>
              </a:ext>
            </a:extLst>
          </p:cNvPr>
          <p:cNvSpPr>
            <a:spLocks noGrp="1"/>
          </p:cNvSpPr>
          <p:nvPr/>
        </p:nvSpPr>
        <p:spPr>
          <a:xfrm>
            <a:off x="8869957" y="1976086"/>
            <a:ext cx="2495604" cy="38662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6F22428-7C11-477C-A27A-0D3334776085}"/>
              </a:ext>
            </a:extLst>
          </p:cNvPr>
          <p:cNvSpPr>
            <a:spLocks noGrp="1"/>
          </p:cNvSpPr>
          <p:nvPr/>
        </p:nvSpPr>
        <p:spPr>
          <a:xfrm>
            <a:off x="8869956" y="4835883"/>
            <a:ext cx="2496348" cy="100645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4DF67E2-A6E1-45F6-A412-0F2A4A19D5E6}"/>
              </a:ext>
            </a:extLst>
          </p:cNvPr>
          <p:cNvSpPr>
            <a:spLocks noGrp="1"/>
          </p:cNvSpPr>
          <p:nvPr/>
        </p:nvSpPr>
        <p:spPr>
          <a:xfrm>
            <a:off x="8992287" y="4968158"/>
            <a:ext cx="223814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APP 不直载 ACL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本机服务常驻模型</a:t>
            </a: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762D55C-9671-4891-AA20-66CEBB895802}"/>
              </a:ext>
            </a:extLst>
          </p:cNvPr>
          <p:cNvSpPr>
            <a:spLocks noGrp="1"/>
          </p:cNvSpPr>
          <p:nvPr/>
        </p:nvSpPr>
        <p:spPr>
          <a:xfrm>
            <a:off x="9771945" y="2528964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D3698A15-4700-4118-A506-787FFF4D4FF7}"/>
              </a:ext>
            </a:extLst>
          </p:cNvPr>
          <p:cNvSpPr>
            <a:spLocks noGrp="1"/>
          </p:cNvSpPr>
          <p:nvPr/>
        </p:nvSpPr>
        <p:spPr>
          <a:xfrm>
            <a:off x="10064542" y="3146701"/>
            <a:ext cx="7141" cy="275444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5518F82E-BE15-4564-BF6A-2D5780D99CFF}"/>
              </a:ext>
            </a:extLst>
          </p:cNvPr>
          <p:cNvSpPr>
            <a:spLocks noGrp="1"/>
          </p:cNvSpPr>
          <p:nvPr/>
        </p:nvSpPr>
        <p:spPr>
          <a:xfrm>
            <a:off x="9672675" y="3467295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隔离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4493D7C-E59A-4E31-9FA4-2C429F27D1C4}"/>
              </a:ext>
            </a:extLst>
          </p:cNvPr>
          <p:cNvSpPr>
            <a:spLocks noGrp="1"/>
          </p:cNvSpPr>
          <p:nvPr/>
        </p:nvSpPr>
        <p:spPr>
          <a:xfrm>
            <a:off x="8945471" y="3945867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00"/>
            </a:pPr>
            <a:r>
              <a:rPr sz="9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MUSL ↔ GLIBC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A241C0-F72D-1858-07D1-ACBF4EB1F039}"/>
              </a:ext>
            </a:extLst>
          </p:cNvPr>
          <p:cNvSpPr>
            <a:spLocks noGrp="1"/>
          </p:cNvSpPr>
          <p:nvPr/>
        </p:nvSpPr>
        <p:spPr>
          <a:xfrm>
            <a:off x="3562746" y="1976086"/>
            <a:ext cx="2495604" cy="38662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1FF251E-3D9E-429D-82D3-A1753FE22484}"/>
              </a:ext>
            </a:extLst>
          </p:cNvPr>
          <p:cNvSpPr>
            <a:spLocks noGrp="1"/>
          </p:cNvSpPr>
          <p:nvPr/>
        </p:nvSpPr>
        <p:spPr>
          <a:xfrm>
            <a:off x="3677837" y="4978236"/>
            <a:ext cx="2238141" cy="515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latin typeface="微软雅黑"/>
                <a:ea typeface="微软雅黑"/>
                <a:cs typeface="微软雅黑"/>
              </a:rPr>
              <a:t>移除 1280×720 假设</a:t>
            </a:r>
            <a:endParaRPr sz="1400"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  <a:buNone/>
              <a:defRPr sz="975"/>
            </a:pPr>
            <a:r>
              <a:rPr sz="975">
                <a:latin typeface="微软雅黑"/>
                <a:ea typeface="微软雅黑"/>
                <a:cs typeface="微软雅黑"/>
              </a:rPr>
              <a:t>按帧元数据转换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0A91DC-E7E7-BC72-4A08-730126AF11FB}"/>
              </a:ext>
            </a:extLst>
          </p:cNvPr>
          <p:cNvSpPr>
            <a:spLocks noGrp="1"/>
          </p:cNvSpPr>
          <p:nvPr/>
        </p:nvSpPr>
        <p:spPr>
          <a:xfrm>
            <a:off x="3562746" y="4847735"/>
            <a:ext cx="2495604" cy="994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36E3D44-BCCD-4D72-91EB-158F3F55A4AE}"/>
              </a:ext>
            </a:extLst>
          </p:cNvPr>
          <p:cNvSpPr>
            <a:spLocks noGrp="1"/>
          </p:cNvSpPr>
          <p:nvPr/>
        </p:nvSpPr>
        <p:spPr>
          <a:xfrm>
            <a:off x="4475594" y="2528965"/>
            <a:ext cx="599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 b="1" spc="100">
                <a:solidFill>
                  <a:srgbClr val="A6292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34FEB326-0BD4-416B-B71F-1120A02F4193}"/>
              </a:ext>
            </a:extLst>
          </p:cNvPr>
          <p:cNvSpPr>
            <a:spLocks noGrp="1"/>
          </p:cNvSpPr>
          <p:nvPr/>
        </p:nvSpPr>
        <p:spPr>
          <a:xfrm>
            <a:off x="4768191" y="3146702"/>
            <a:ext cx="7141" cy="27544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F344A4A-80E4-4D27-9843-F27DA2CBEBB8}"/>
              </a:ext>
            </a:extLst>
          </p:cNvPr>
          <p:cNvSpPr>
            <a:spLocks noGrp="1"/>
          </p:cNvSpPr>
          <p:nvPr/>
        </p:nvSpPr>
        <p:spPr>
          <a:xfrm>
            <a:off x="4376324" y="3467297"/>
            <a:ext cx="918889" cy="47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000" b="1" spc="100">
                <a:latin typeface="微软雅黑"/>
                <a:ea typeface="微软雅黑"/>
                <a:cs typeface="微软雅黑"/>
              </a:rPr>
              <a:t>尺寸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7E05917-8A62-44EF-99A6-51028C881179}"/>
              </a:ext>
            </a:extLst>
          </p:cNvPr>
          <p:cNvSpPr>
            <a:spLocks noGrp="1"/>
          </p:cNvSpPr>
          <p:nvPr/>
        </p:nvSpPr>
        <p:spPr>
          <a:xfrm>
            <a:off x="3716697" y="3952088"/>
            <a:ext cx="2238141" cy="36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900"/>
            </a:pPr>
            <a:r>
              <a:rPr sz="9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WIDTH / STRIDE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A5D7B4-DC32-47FE-8FE6-818CF5974C8E}"/>
              </a:ext>
            </a:extLst>
          </p:cNvPr>
          <p:cNvSpPr>
            <a:spLocks noGrp="1"/>
          </p:cNvSpPr>
          <p:nvPr/>
        </p:nvSpPr>
        <p:spPr>
          <a:xfrm>
            <a:off x="911225" y="1976086"/>
            <a:ext cx="10454337" cy="386625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25">
            <a:extLst>
              <a:ext uri="{FF2B5EF4-FFF2-40B4-BE49-F238E27FC236}">
                <a16:creationId xmlns:a16="http://schemas.microsoft.com/office/drawing/2014/main" id="{6668D7FE-6C12-80FE-842A-01188B9FD2AE}"/>
              </a:ext>
            </a:extLst>
          </p:cNvPr>
          <p:cNvSpPr>
            <a:spLocks noGrp="1"/>
          </p:cNvSpPr>
          <p:nvPr/>
        </p:nvSpPr>
        <p:spPr>
          <a:xfrm>
            <a:off x="425451" y="395460"/>
            <a:ext cx="5981699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03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难题与解法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相机与</a:t>
            </a:r>
            <a:r>
              <a:rPr lang="en-US" altLang="zh-CN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ABI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22022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59E21-C634-0ACC-3D8D-6FA0883A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1CA33C-073E-C876-F31D-B4CD6F4307B6}"/>
              </a:ext>
            </a:extLst>
          </p:cNvPr>
          <p:cNvSpPr txBox="1"/>
          <p:nvPr/>
        </p:nvSpPr>
        <p:spPr>
          <a:xfrm>
            <a:off x="4733790" y="1576335"/>
            <a:ext cx="2739660" cy="39087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A6292F"/>
                </a:solidFill>
                <a:latin typeface="微软雅黑"/>
              </a:rPr>
              <a:t>优化闭环 · </a:t>
            </a:r>
            <a:r>
              <a:rPr sz="2300" b="1" i="0" err="1">
                <a:solidFill>
                  <a:srgbClr val="A6292F"/>
                </a:solidFill>
                <a:latin typeface="微软雅黑"/>
              </a:rPr>
              <a:t>工程固化</a:t>
            </a:r>
            <a:endParaRPr sz="2300" b="1" i="0">
              <a:solidFill>
                <a:srgbClr val="A6292F"/>
              </a:solidFill>
              <a:latin typeface="微软雅黑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F1E98A-3E38-6958-0845-6A440446E782}"/>
              </a:ext>
            </a:extLst>
          </p:cNvPr>
          <p:cNvSpPr/>
          <p:nvPr/>
        </p:nvSpPr>
        <p:spPr>
          <a:xfrm>
            <a:off x="905256" y="2403671"/>
            <a:ext cx="10378440" cy="658368"/>
          </a:xfrm>
          <a:prstGeom prst="roundRect">
            <a:avLst/>
          </a:prstGeom>
          <a:solidFill>
            <a:srgbClr val="F2E9E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462EEB-593F-8150-6F77-546A95183873}"/>
              </a:ext>
            </a:extLst>
          </p:cNvPr>
          <p:cNvSpPr/>
          <p:nvPr/>
        </p:nvSpPr>
        <p:spPr>
          <a:xfrm>
            <a:off x="905256" y="2403671"/>
            <a:ext cx="73152" cy="658368"/>
          </a:xfrm>
          <a:prstGeom prst="rect">
            <a:avLst/>
          </a:prstGeom>
          <a:solidFill>
            <a:srgbClr val="A6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2D9C7C-47FB-C49C-AD6C-9127C4492E71}"/>
              </a:ext>
            </a:extLst>
          </p:cNvPr>
          <p:cNvSpPr txBox="1"/>
          <p:nvPr/>
        </p:nvSpPr>
        <p:spPr>
          <a:xfrm>
            <a:off x="1133856" y="2513399"/>
            <a:ext cx="9893808" cy="40233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83E50"/>
                </a:solidFill>
                <a:latin typeface="微软雅黑"/>
              </a:rPr>
              <a:t>为了让优化可复现、可回归，我们把参数、补丁和校验脚本纳入产品构建，并用镜像证据逐项验收。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4D4EE0-09AE-9B22-8643-84962E9CF800}"/>
              </a:ext>
            </a:extLst>
          </p:cNvPr>
          <p:cNvSpPr/>
          <p:nvPr/>
        </p:nvSpPr>
        <p:spPr>
          <a:xfrm>
            <a:off x="905256" y="3244919"/>
            <a:ext cx="7022592" cy="2487168"/>
          </a:xfrm>
          <a:prstGeom prst="rect">
            <a:avLst/>
          </a:prstGeom>
          <a:solidFill>
            <a:srgbClr val="F7F8F9"/>
          </a:solidFill>
          <a:ln w="10160">
            <a:solidFill>
              <a:srgbClr val="D9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288F18-D827-EFFD-FD77-83B31C2BD7C1}"/>
              </a:ext>
            </a:extLst>
          </p:cNvPr>
          <p:cNvSpPr/>
          <p:nvPr/>
        </p:nvSpPr>
        <p:spPr>
          <a:xfrm>
            <a:off x="905256" y="3244919"/>
            <a:ext cx="7022592" cy="457200"/>
          </a:xfrm>
          <a:prstGeom prst="rect">
            <a:avLst/>
          </a:prstGeom>
          <a:solidFill>
            <a:srgbClr val="18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538E1-84E3-93E8-778B-818C06EA6605}"/>
              </a:ext>
            </a:extLst>
          </p:cNvPr>
          <p:cNvSpPr txBox="1"/>
          <p:nvPr/>
        </p:nvSpPr>
        <p:spPr>
          <a:xfrm>
            <a:off x="1124712" y="3290639"/>
            <a:ext cx="2011680" cy="30175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</a:rPr>
              <a:t>具体怎么做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2FDBA-6D8F-FA92-BAA8-C9C5AAC24C7B}"/>
              </a:ext>
            </a:extLst>
          </p:cNvPr>
          <p:cNvSpPr txBox="1"/>
          <p:nvPr/>
        </p:nvSpPr>
        <p:spPr>
          <a:xfrm>
            <a:off x="1124712" y="3793559"/>
            <a:ext cx="6547104" cy="18105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30" b="0" i="0">
                <a:solidFill>
                  <a:srgbClr val="202A33"/>
                </a:solidFill>
                <a:latin typeface="微软雅黑"/>
              </a:rPr>
              <a:t>• 补丁、产品 cfg、init 脚本与 BUILD.gn 一并纳入源码和产品依赖，避免手改不入镜像。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30" b="0" i="0">
                <a:solidFill>
                  <a:srgbClr val="202A33"/>
                </a:solidFill>
                <a:latin typeface="微软雅黑"/>
              </a:rPr>
              <a:t>• 对 JSON/CFG、Python、XML、bash 做静态检查，复核依赖顺序、输出名与安装名。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30" b="0" i="0">
                <a:solidFill>
                  <a:srgbClr val="202A33"/>
                </a:solidFill>
                <a:latin typeface="微软雅黑"/>
              </a:rPr>
              <a:t>• --build-only-gn=true 生成 87,463 个 target；Ninja dry-run 可达 images.stamp（55,017 actions）。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30" b="0" i="0">
                <a:solidFill>
                  <a:srgbClr val="202A33"/>
                </a:solidFill>
                <a:latin typeface="微软雅黑"/>
              </a:rPr>
              <a:t>• 用参数、时间戳、dtb、挂载、服务状态和 bootchart 逐项校验，并保留 Git 71 commits / 73 files 证据。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4D26AE-AD01-BEE2-2803-B7D626DB75B8}"/>
              </a:ext>
            </a:extLst>
          </p:cNvPr>
          <p:cNvSpPr/>
          <p:nvPr/>
        </p:nvSpPr>
        <p:spPr>
          <a:xfrm>
            <a:off x="8156448" y="3244919"/>
            <a:ext cx="3127248" cy="2487168"/>
          </a:xfrm>
          <a:prstGeom prst="rect">
            <a:avLst/>
          </a:prstGeom>
          <a:solidFill>
            <a:srgbClr val="183E50"/>
          </a:solidFill>
          <a:ln w="10160">
            <a:solidFill>
              <a:srgbClr val="18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A6EBA-3283-2852-5FB9-0D2496F92F54}"/>
              </a:ext>
            </a:extLst>
          </p:cNvPr>
          <p:cNvSpPr txBox="1"/>
          <p:nvPr/>
        </p:nvSpPr>
        <p:spPr>
          <a:xfrm>
            <a:off x="8412480" y="3400367"/>
            <a:ext cx="256032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</a:rPr>
              <a:t>验证证据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08DCCA-DE0C-A049-05AE-EAB1A11FEE6C}"/>
              </a:ext>
            </a:extLst>
          </p:cNvPr>
          <p:cNvSpPr txBox="1"/>
          <p:nvPr/>
        </p:nvSpPr>
        <p:spPr>
          <a:xfrm>
            <a:off x="8375904" y="3793559"/>
            <a:ext cx="2697480" cy="6217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</a:rPr>
              <a:t>87,463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6EDDF9-372C-EB7F-018A-5919C06637E8}"/>
              </a:ext>
            </a:extLst>
          </p:cNvPr>
          <p:cNvSpPr txBox="1"/>
          <p:nvPr/>
        </p:nvSpPr>
        <p:spPr>
          <a:xfrm>
            <a:off x="8412480" y="4461071"/>
            <a:ext cx="2560320" cy="34747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微软雅黑"/>
              </a:rPr>
              <a:t>GN targets 生成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1553E9-8551-391B-1228-7046843991E9}"/>
              </a:ext>
            </a:extLst>
          </p:cNvPr>
          <p:cNvSpPr/>
          <p:nvPr/>
        </p:nvSpPr>
        <p:spPr>
          <a:xfrm>
            <a:off x="8558784" y="4963991"/>
            <a:ext cx="2331720" cy="13716"/>
          </a:xfrm>
          <a:prstGeom prst="rect">
            <a:avLst/>
          </a:prstGeom>
          <a:solidFill>
            <a:srgbClr val="6D8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B13A85-7C3F-CBA9-FAC9-0F82B949289D}"/>
              </a:ext>
            </a:extLst>
          </p:cNvPr>
          <p:cNvSpPr txBox="1"/>
          <p:nvPr/>
        </p:nvSpPr>
        <p:spPr>
          <a:xfrm>
            <a:off x="8403336" y="5101151"/>
            <a:ext cx="2578608" cy="36576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D4D5"/>
                </a:solidFill>
                <a:latin typeface="微软雅黑"/>
              </a:rPr>
              <a:t>Ninja → images.stamp</a:t>
            </a:r>
          </a:p>
        </p:txBody>
      </p:sp>
      <p:sp>
        <p:nvSpPr>
          <p:cNvPr id="3" name="文本框 25">
            <a:extLst>
              <a:ext uri="{FF2B5EF4-FFF2-40B4-BE49-F238E27FC236}">
                <a16:creationId xmlns:a16="http://schemas.microsoft.com/office/drawing/2014/main" id="{460ED7F4-2014-F130-6825-0893EBD40D7C}"/>
              </a:ext>
            </a:extLst>
          </p:cNvPr>
          <p:cNvSpPr>
            <a:spLocks noGrp="1"/>
          </p:cNvSpPr>
          <p:nvPr/>
        </p:nvSpPr>
        <p:spPr>
          <a:xfrm>
            <a:off x="425451" y="395460"/>
            <a:ext cx="5981699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03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难题与解法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工程固化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669615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6"/>
          <p:cNvGraphicFramePr/>
          <p:nvPr>
            <p:extLst>
              <p:ext uri="{D42A27DB-BD31-4B8C-83A1-F6EECF244321}">
                <p14:modId xmlns:p14="http://schemas.microsoft.com/office/powerpoint/2010/main" val="2245222037"/>
              </p:ext>
            </p:extLst>
          </p:nvPr>
        </p:nvGraphicFramePr>
        <p:xfrm>
          <a:off x="836192" y="2318205"/>
          <a:ext cx="10403498" cy="4174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6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6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6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6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6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62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38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A6292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任务1 系统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A6292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 b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任务2 CANN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A6292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 b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任务3 CLI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A6292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 b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任务3 GUI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A6292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 b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任务4 启动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A6292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任务4 内存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A6292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err="1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核心验收</a:t>
                      </a:r>
                      <a:endParaRPr sz="2000">
                        <a:solidFill>
                          <a:srgbClr val="A6292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GUI 桌面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HDMI / USB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驱动 / Runtime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npu-smi / pyACL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OM 推理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NMS / 绘制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相机连续流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检测框叠加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缩短 ≥10%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 ≥10%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Desktop / 1080p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HDC 截图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镜像 / 清单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样例推理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 / 输出图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运行日志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ArkUI APP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演示视频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bootchart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对比数据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 记录</a:t>
                      </a:r>
                      <a:endParaRPr>
                        <a:solidFill>
                          <a:srgbClr val="A6292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参数配置</a:t>
                      </a:r>
                      <a:endParaRPr>
                        <a:solidFill>
                          <a:srgbClr val="A6292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F3CDC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A629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关键指标</a:t>
                      </a: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A629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1080p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A629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8.2.RC1+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A629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18.532ms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A629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实时链路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A629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50→42s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−16%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A6292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1.7→0.9GB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约−47%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80000" marR="180000" marT="108000" marB="108000" anchor="ctr">
                    <a:lnT w="9525" cmpd="sng">
                      <a:solidFill>
                        <a:srgbClr val="F3CDCF"/>
                      </a:solidFill>
                      <a:prstDash val="solid"/>
                    </a:lnT>
                    <a:lnB w="9525" cmpd="sng">
                      <a:solidFill>
                        <a:srgbClr val="A6292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3E61CC1-1DA2-4B28-8625-81154BD0ACD0}"/>
              </a:ext>
            </a:extLst>
          </p:cNvPr>
          <p:cNvSpPr>
            <a:spLocks noGrp="1"/>
          </p:cNvSpPr>
          <p:nvPr/>
        </p:nvSpPr>
        <p:spPr>
          <a:xfrm>
            <a:off x="5046644" y="1600409"/>
            <a:ext cx="2141556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spc="100">
                <a:solidFill>
                  <a:srgbClr val="A6292F"/>
                </a:solidFill>
                <a:latin typeface="微软雅黑"/>
                <a:ea typeface="微软雅黑"/>
              </a:rPr>
              <a:t>基础任务验收</a:t>
            </a:r>
            <a:endParaRPr sz="2400" b="1" spc="100">
              <a:solidFill>
                <a:srgbClr val="A6292F"/>
              </a:solidFill>
              <a:latin typeface="微软雅黑"/>
              <a:ea typeface="微软雅黑"/>
            </a:endParaRPr>
          </a:p>
        </p:txBody>
      </p:sp>
      <p:sp>
        <p:nvSpPr>
          <p:cNvPr id="3" name="文本框 25">
            <a:extLst>
              <a:ext uri="{FF2B5EF4-FFF2-40B4-BE49-F238E27FC236}">
                <a16:creationId xmlns:a16="http://schemas.microsoft.com/office/drawing/2014/main" id="{279DFC08-59C8-2FEA-C0D7-451D0981307B}"/>
              </a:ext>
            </a:extLst>
          </p:cNvPr>
          <p:cNvSpPr>
            <a:spLocks noGrp="1"/>
          </p:cNvSpPr>
          <p:nvPr/>
        </p:nvSpPr>
        <p:spPr>
          <a:xfrm>
            <a:off x="425451" y="395460"/>
            <a:ext cx="5981699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04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验收与展望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基础验收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707196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A4D61-F05E-0CF0-9879-821DB0567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5849200-19DD-F8DE-5AD7-E09F3CCB345E}"/>
              </a:ext>
            </a:extLst>
          </p:cNvPr>
          <p:cNvSpPr txBox="1"/>
          <p:nvPr/>
        </p:nvSpPr>
        <p:spPr>
          <a:xfrm>
            <a:off x="1676400" y="1295400"/>
            <a:ext cx="883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工作场景监控：从目标检测到主动告警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304DB1-7221-B465-0A35-24FF2A627BF2}"/>
              </a:ext>
            </a:extLst>
          </p:cNvPr>
          <p:cNvSpPr txBox="1"/>
          <p:nvPr/>
        </p:nvSpPr>
        <p:spPr>
          <a:xfrm>
            <a:off x="1778000" y="1778000"/>
            <a:ext cx="863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现有增量：相机连续流 </a:t>
            </a:r>
            <a:r>
              <a:rPr lang="en-US" altLang="zh-CN" sz="13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+ NPU </a:t>
            </a:r>
            <a:r>
              <a:rPr lang="zh-CN" altLang="en-US" sz="13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检测 </a:t>
            </a:r>
            <a:r>
              <a:rPr lang="en-US" altLang="zh-CN" sz="13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3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异常判断 </a:t>
            </a:r>
            <a:r>
              <a:rPr lang="en-US" altLang="zh-CN" sz="13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3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本地语音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143F240-BE3A-1FE5-0C72-6CCEE8CC1A8F}"/>
              </a:ext>
            </a:extLst>
          </p:cNvPr>
          <p:cNvSpPr/>
          <p:nvPr/>
        </p:nvSpPr>
        <p:spPr>
          <a:xfrm>
            <a:off x="609600" y="2413000"/>
            <a:ext cx="1905000" cy="2082800"/>
          </a:xfrm>
          <a:prstGeom prst="roundRect">
            <a:avLst>
              <a:gd name="adj" fmla="val 14000"/>
            </a:avLst>
          </a:prstGeom>
          <a:solidFill>
            <a:srgbClr val="F7F8F9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83D63D6-8E1A-97F0-2F29-B32E3854687D}"/>
              </a:ext>
            </a:extLst>
          </p:cNvPr>
          <p:cNvSpPr/>
          <p:nvPr/>
        </p:nvSpPr>
        <p:spPr>
          <a:xfrm>
            <a:off x="762000" y="2590800"/>
            <a:ext cx="381000" cy="381000"/>
          </a:xfrm>
          <a:prstGeom prst="ellipse">
            <a:avLst/>
          </a:prstGeom>
          <a:solidFill>
            <a:srgbClr val="A6292F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312666-0C4A-B6A3-7ABD-187A09F3B49A}"/>
              </a:ext>
            </a:extLst>
          </p:cNvPr>
          <p:cNvSpPr txBox="1"/>
          <p:nvPr/>
        </p:nvSpPr>
        <p:spPr>
          <a:xfrm>
            <a:off x="762000" y="2446418"/>
            <a:ext cx="38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73C579B-17F0-74B3-A22B-3A935B99CB35}"/>
              </a:ext>
            </a:extLst>
          </p:cNvPr>
          <p:cNvSpPr txBox="1"/>
          <p:nvPr/>
        </p:nvSpPr>
        <p:spPr>
          <a:xfrm>
            <a:off x="1244600" y="2565400"/>
            <a:ext cx="1117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实时取帧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72A1F3B-DAE3-DB6C-848E-0250FDF5AAB5}"/>
              </a:ext>
            </a:extLst>
          </p:cNvPr>
          <p:cNvCxnSpPr/>
          <p:nvPr/>
        </p:nvCxnSpPr>
        <p:spPr>
          <a:xfrm>
            <a:off x="787400" y="3136900"/>
            <a:ext cx="1549400" cy="0"/>
          </a:xfrm>
          <a:prstGeom prst="line">
            <a:avLst/>
          </a:prstGeom>
          <a:ln w="10160">
            <a:solidFill>
              <a:srgbClr val="E0D6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52366FD-2681-3BB4-1BC4-14A1BD7695A4}"/>
              </a:ext>
            </a:extLst>
          </p:cNvPr>
          <p:cNvSpPr txBox="1"/>
          <p:nvPr/>
        </p:nvSpPr>
        <p:spPr>
          <a:xfrm>
            <a:off x="787400" y="3302000"/>
            <a:ext cx="15494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CameraKit </a:t>
            </a:r>
            <a:r>
              <a:rPr lang="zh-CN" altLang="en-US" sz="12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连续流
</a:t>
            </a:r>
            <a:r>
              <a:rPr lang="en-US" altLang="zh-CN" sz="12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YUV </a:t>
            </a:r>
            <a:r>
              <a:rPr lang="zh-CN" altLang="en-US" sz="12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帧及时归还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966518B-37CE-07C2-E687-0B1BE4BBFDAF}"/>
              </a:ext>
            </a:extLst>
          </p:cNvPr>
          <p:cNvSpPr txBox="1"/>
          <p:nvPr/>
        </p:nvSpPr>
        <p:spPr>
          <a:xfrm>
            <a:off x="2527300" y="3175000"/>
            <a:ext cx="330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2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2FFA349-03A2-73FC-B8F9-18BAF3F314CB}"/>
              </a:ext>
            </a:extLst>
          </p:cNvPr>
          <p:cNvSpPr/>
          <p:nvPr/>
        </p:nvSpPr>
        <p:spPr>
          <a:xfrm>
            <a:off x="2857500" y="2413000"/>
            <a:ext cx="1905000" cy="2082800"/>
          </a:xfrm>
          <a:prstGeom prst="roundRect">
            <a:avLst>
              <a:gd name="adj" fmla="val 14000"/>
            </a:avLst>
          </a:prstGeom>
          <a:solidFill>
            <a:srgbClr val="F7F8F9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2F2C88E-7079-D550-0663-09D0F0F802B5}"/>
              </a:ext>
            </a:extLst>
          </p:cNvPr>
          <p:cNvSpPr/>
          <p:nvPr/>
        </p:nvSpPr>
        <p:spPr>
          <a:xfrm>
            <a:off x="2999204" y="2590800"/>
            <a:ext cx="381000" cy="381000"/>
          </a:xfrm>
          <a:prstGeom prst="ellipse">
            <a:avLst/>
          </a:prstGeom>
          <a:solidFill>
            <a:srgbClr val="A6292F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8B5FE00-2AC8-D276-749C-175C2A8BA0B5}"/>
              </a:ext>
            </a:extLst>
          </p:cNvPr>
          <p:cNvSpPr txBox="1"/>
          <p:nvPr/>
        </p:nvSpPr>
        <p:spPr>
          <a:xfrm>
            <a:off x="2991852" y="2452437"/>
            <a:ext cx="38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1650E98-5B17-F3F3-9F22-BFFF3E2D789B}"/>
              </a:ext>
            </a:extLst>
          </p:cNvPr>
          <p:cNvSpPr txBox="1"/>
          <p:nvPr/>
        </p:nvSpPr>
        <p:spPr>
          <a:xfrm>
            <a:off x="3481804" y="2446417"/>
            <a:ext cx="1117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NPU </a:t>
            </a:r>
            <a:r>
              <a:rPr lang="zh-CN" altLang="en-US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检测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813F782-E7DB-F502-852E-DAA6024568E8}"/>
              </a:ext>
            </a:extLst>
          </p:cNvPr>
          <p:cNvCxnSpPr/>
          <p:nvPr/>
        </p:nvCxnSpPr>
        <p:spPr>
          <a:xfrm>
            <a:off x="3035300" y="3136900"/>
            <a:ext cx="1549400" cy="0"/>
          </a:xfrm>
          <a:prstGeom prst="line">
            <a:avLst/>
          </a:prstGeom>
          <a:ln w="10160">
            <a:solidFill>
              <a:srgbClr val="E0D6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E1E86BD-832A-03EA-071C-4F31D03CDBC2}"/>
              </a:ext>
            </a:extLst>
          </p:cNvPr>
          <p:cNvSpPr txBox="1"/>
          <p:nvPr/>
        </p:nvSpPr>
        <p:spPr>
          <a:xfrm>
            <a:off x="3035300" y="3302000"/>
            <a:ext cx="15494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YOLOv5 </a:t>
            </a:r>
            <a:r>
              <a:rPr lang="zh-CN" altLang="en-US" sz="12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常驻 </a:t>
            </a:r>
            <a:r>
              <a:rPr lang="en-US" altLang="zh-CN" sz="12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NPU
</a:t>
            </a:r>
            <a:r>
              <a:rPr lang="zh-CN" altLang="en-US" sz="12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实时识别人 </a:t>
            </a:r>
            <a:r>
              <a:rPr lang="en-US" altLang="zh-CN" sz="12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2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物目标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642FD61-8EF2-DD43-5E91-D86E786F7121}"/>
              </a:ext>
            </a:extLst>
          </p:cNvPr>
          <p:cNvSpPr txBox="1"/>
          <p:nvPr/>
        </p:nvSpPr>
        <p:spPr>
          <a:xfrm>
            <a:off x="4775200" y="3175000"/>
            <a:ext cx="330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2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3601364-7525-230B-A271-6692FD0169ED}"/>
              </a:ext>
            </a:extLst>
          </p:cNvPr>
          <p:cNvSpPr/>
          <p:nvPr/>
        </p:nvSpPr>
        <p:spPr>
          <a:xfrm>
            <a:off x="5105400" y="2413000"/>
            <a:ext cx="1905000" cy="2082800"/>
          </a:xfrm>
          <a:prstGeom prst="roundRect">
            <a:avLst>
              <a:gd name="adj" fmla="val 14000"/>
            </a:avLst>
          </a:prstGeom>
          <a:solidFill>
            <a:srgbClr val="F7F8F9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1BA1033-7074-D4F2-B054-598E64748312}"/>
              </a:ext>
            </a:extLst>
          </p:cNvPr>
          <p:cNvSpPr/>
          <p:nvPr/>
        </p:nvSpPr>
        <p:spPr>
          <a:xfrm>
            <a:off x="5257800" y="2590800"/>
            <a:ext cx="381000" cy="381000"/>
          </a:xfrm>
          <a:prstGeom prst="ellipse">
            <a:avLst/>
          </a:prstGeom>
          <a:solidFill>
            <a:srgbClr val="A6292F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947A43F-2F8D-B327-79E9-331039257AE6}"/>
              </a:ext>
            </a:extLst>
          </p:cNvPr>
          <p:cNvSpPr txBox="1"/>
          <p:nvPr/>
        </p:nvSpPr>
        <p:spPr>
          <a:xfrm>
            <a:off x="5257800" y="2458448"/>
            <a:ext cx="38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8127799-0227-B441-1C5B-262928B22770}"/>
              </a:ext>
            </a:extLst>
          </p:cNvPr>
          <p:cNvSpPr txBox="1"/>
          <p:nvPr/>
        </p:nvSpPr>
        <p:spPr>
          <a:xfrm>
            <a:off x="5740400" y="2584085"/>
            <a:ext cx="1117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连续计时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0791B2C-9A61-DA80-A5ED-1A4D23C60F0B}"/>
              </a:ext>
            </a:extLst>
          </p:cNvPr>
          <p:cNvCxnSpPr/>
          <p:nvPr/>
        </p:nvCxnSpPr>
        <p:spPr>
          <a:xfrm>
            <a:off x="5283200" y="3136900"/>
            <a:ext cx="1549400" cy="0"/>
          </a:xfrm>
          <a:prstGeom prst="line">
            <a:avLst/>
          </a:prstGeom>
          <a:ln w="10160">
            <a:solidFill>
              <a:srgbClr val="E0D6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5973F17-9E1E-3E5A-2076-7FDACDF0510A}"/>
              </a:ext>
            </a:extLst>
          </p:cNvPr>
          <p:cNvSpPr txBox="1"/>
          <p:nvPr/>
        </p:nvSpPr>
        <p:spPr>
          <a:xfrm>
            <a:off x="5283200" y="3302000"/>
            <a:ext cx="15494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跨帧累计状态
区分瞬时漏检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08ED127-F234-F98D-F5CE-CD750700351C}"/>
              </a:ext>
            </a:extLst>
          </p:cNvPr>
          <p:cNvSpPr txBox="1"/>
          <p:nvPr/>
        </p:nvSpPr>
        <p:spPr>
          <a:xfrm>
            <a:off x="7023100" y="3175000"/>
            <a:ext cx="330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2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633A186-BEEC-0AC2-7FB7-4485EEEC3579}"/>
              </a:ext>
            </a:extLst>
          </p:cNvPr>
          <p:cNvSpPr/>
          <p:nvPr/>
        </p:nvSpPr>
        <p:spPr>
          <a:xfrm>
            <a:off x="7353300" y="2413000"/>
            <a:ext cx="1905000" cy="2082800"/>
          </a:xfrm>
          <a:prstGeom prst="roundRect">
            <a:avLst>
              <a:gd name="adj" fmla="val 14000"/>
            </a:avLst>
          </a:prstGeom>
          <a:solidFill>
            <a:srgbClr val="F7F8F9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705544F-E9E1-F3CB-0D4D-85E0C487332E}"/>
              </a:ext>
            </a:extLst>
          </p:cNvPr>
          <p:cNvSpPr/>
          <p:nvPr/>
        </p:nvSpPr>
        <p:spPr>
          <a:xfrm>
            <a:off x="7505700" y="2590800"/>
            <a:ext cx="381000" cy="381000"/>
          </a:xfrm>
          <a:prstGeom prst="ellipse">
            <a:avLst/>
          </a:prstGeom>
          <a:solidFill>
            <a:srgbClr val="A6292F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46D72B9-E507-33D6-E588-F6E6D5772EED}"/>
              </a:ext>
            </a:extLst>
          </p:cNvPr>
          <p:cNvSpPr txBox="1"/>
          <p:nvPr/>
        </p:nvSpPr>
        <p:spPr>
          <a:xfrm>
            <a:off x="7505700" y="2458450"/>
            <a:ext cx="38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DD7337B-8202-B656-1844-C535A38759DE}"/>
              </a:ext>
            </a:extLst>
          </p:cNvPr>
          <p:cNvSpPr txBox="1"/>
          <p:nvPr/>
        </p:nvSpPr>
        <p:spPr>
          <a:xfrm>
            <a:off x="8013700" y="2584085"/>
            <a:ext cx="1117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异常判断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C4DCF585-1ACB-92A2-A6B2-77C72B66D96E}"/>
              </a:ext>
            </a:extLst>
          </p:cNvPr>
          <p:cNvCxnSpPr/>
          <p:nvPr/>
        </p:nvCxnSpPr>
        <p:spPr>
          <a:xfrm>
            <a:off x="7531100" y="3136900"/>
            <a:ext cx="1549400" cy="0"/>
          </a:xfrm>
          <a:prstGeom prst="line">
            <a:avLst/>
          </a:prstGeom>
          <a:ln w="10160">
            <a:solidFill>
              <a:srgbClr val="E0D6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ED4B8695-F592-4CE6-F0BE-01C523AE846E}"/>
              </a:ext>
            </a:extLst>
          </p:cNvPr>
          <p:cNvSpPr txBox="1"/>
          <p:nvPr/>
        </p:nvSpPr>
        <p:spPr>
          <a:xfrm>
            <a:off x="7531100" y="3302000"/>
            <a:ext cx="15494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识别异常情况
进行规则判定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C494173-3368-5EBD-466C-D3A6F832B168}"/>
              </a:ext>
            </a:extLst>
          </p:cNvPr>
          <p:cNvSpPr txBox="1"/>
          <p:nvPr/>
        </p:nvSpPr>
        <p:spPr>
          <a:xfrm>
            <a:off x="9271000" y="3175000"/>
            <a:ext cx="330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2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63D5B9A-D13B-B964-CD6C-312735FC613A}"/>
              </a:ext>
            </a:extLst>
          </p:cNvPr>
          <p:cNvSpPr/>
          <p:nvPr/>
        </p:nvSpPr>
        <p:spPr>
          <a:xfrm>
            <a:off x="9601200" y="2413000"/>
            <a:ext cx="1905000" cy="2082800"/>
          </a:xfrm>
          <a:prstGeom prst="roundRect">
            <a:avLst>
              <a:gd name="adj" fmla="val 14000"/>
            </a:avLst>
          </a:prstGeom>
          <a:solidFill>
            <a:srgbClr val="F7F8F9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F828B58F-2A35-C11C-9552-F67DEFBBB5F6}"/>
              </a:ext>
            </a:extLst>
          </p:cNvPr>
          <p:cNvSpPr/>
          <p:nvPr/>
        </p:nvSpPr>
        <p:spPr>
          <a:xfrm>
            <a:off x="9753600" y="2590800"/>
            <a:ext cx="381000" cy="381000"/>
          </a:xfrm>
          <a:prstGeom prst="ellipse">
            <a:avLst/>
          </a:prstGeom>
          <a:solidFill>
            <a:srgbClr val="A6292F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F71C5B7-6EB1-D39B-BA6F-7FA21A2713B2}"/>
              </a:ext>
            </a:extLst>
          </p:cNvPr>
          <p:cNvSpPr txBox="1"/>
          <p:nvPr/>
        </p:nvSpPr>
        <p:spPr>
          <a:xfrm>
            <a:off x="9753600" y="2458451"/>
            <a:ext cx="38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89F9D8A-DE43-2CB7-2992-2584A2FF4E96}"/>
              </a:ext>
            </a:extLst>
          </p:cNvPr>
          <p:cNvSpPr txBox="1"/>
          <p:nvPr/>
        </p:nvSpPr>
        <p:spPr>
          <a:xfrm>
            <a:off x="10210800" y="2547944"/>
            <a:ext cx="1117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语音告警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820678E-C944-B1C2-5F9E-AACC4833DE6F}"/>
              </a:ext>
            </a:extLst>
          </p:cNvPr>
          <p:cNvCxnSpPr/>
          <p:nvPr/>
        </p:nvCxnSpPr>
        <p:spPr>
          <a:xfrm>
            <a:off x="9779000" y="3136900"/>
            <a:ext cx="1549400" cy="0"/>
          </a:xfrm>
          <a:prstGeom prst="line">
            <a:avLst/>
          </a:prstGeom>
          <a:ln w="10160">
            <a:solidFill>
              <a:srgbClr val="E0D6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ADB3B5AA-B651-440F-BD2D-460791FA653C}"/>
              </a:ext>
            </a:extLst>
          </p:cNvPr>
          <p:cNvSpPr txBox="1"/>
          <p:nvPr/>
        </p:nvSpPr>
        <p:spPr>
          <a:xfrm>
            <a:off x="9779000" y="3302000"/>
            <a:ext cx="15494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匹配本地提示音
板端立即播报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7801486-6A0F-A56B-BF3C-39C94CC825DF}"/>
              </a:ext>
            </a:extLst>
          </p:cNvPr>
          <p:cNvSpPr txBox="1"/>
          <p:nvPr/>
        </p:nvSpPr>
        <p:spPr>
          <a:xfrm>
            <a:off x="2540000" y="5094035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从“看见目标”升级为“理解状态并警告”</a:t>
            </a:r>
          </a:p>
        </p:txBody>
      </p:sp>
      <p:sp>
        <p:nvSpPr>
          <p:cNvPr id="8" name="文本框 25">
            <a:extLst>
              <a:ext uri="{FF2B5EF4-FFF2-40B4-BE49-F238E27FC236}">
                <a16:creationId xmlns:a16="http://schemas.microsoft.com/office/drawing/2014/main" id="{098252D6-D077-498D-B141-F80D05CC5785}"/>
              </a:ext>
            </a:extLst>
          </p:cNvPr>
          <p:cNvSpPr>
            <a:spLocks noGrp="1"/>
          </p:cNvSpPr>
          <p:nvPr/>
        </p:nvSpPr>
        <p:spPr>
          <a:xfrm>
            <a:off x="425451" y="395460"/>
            <a:ext cx="5981699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04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验收与展望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增量验收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99910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F9D6-E6A4-F8AD-AAC3-F01BBCDC2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E88BCE-8E51-4103-36EE-7B62F08B744B}"/>
              </a:ext>
            </a:extLst>
          </p:cNvPr>
          <p:cNvSpPr txBox="1"/>
          <p:nvPr/>
        </p:nvSpPr>
        <p:spPr>
          <a:xfrm>
            <a:off x="2032000" y="12573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一块板：可扩展的边缘智能监控终端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E5C7D2-06E4-F4B4-9DF3-7DDDE93DCB3F}"/>
              </a:ext>
            </a:extLst>
          </p:cNvPr>
          <p:cNvSpPr txBox="1"/>
          <p:nvPr/>
        </p:nvSpPr>
        <p:spPr>
          <a:xfrm>
            <a:off x="1295400" y="1752600"/>
            <a:ext cx="960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复用“摄像头</a:t>
            </a:r>
            <a:r>
              <a:rPr lang="en-US" altLang="zh-CN" sz="13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—NPU—</a:t>
            </a:r>
            <a:r>
              <a:rPr lang="zh-CN" altLang="en-US" sz="13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规则</a:t>
            </a:r>
            <a:r>
              <a:rPr lang="en-US" altLang="zh-CN" sz="13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3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告警”链路，替换模型与事件规则即可迁移场景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A896C1F-5677-8B45-F390-82624B2B47C7}"/>
              </a:ext>
            </a:extLst>
          </p:cNvPr>
          <p:cNvSpPr/>
          <p:nvPr/>
        </p:nvSpPr>
        <p:spPr>
          <a:xfrm>
            <a:off x="533400" y="2298700"/>
            <a:ext cx="2590800" cy="26797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E4D63F5-E380-2253-CD68-09F1F6E13F0A}"/>
              </a:ext>
            </a:extLst>
          </p:cNvPr>
          <p:cNvSpPr/>
          <p:nvPr/>
        </p:nvSpPr>
        <p:spPr>
          <a:xfrm>
            <a:off x="533400" y="2298700"/>
            <a:ext cx="2590800" cy="723900"/>
          </a:xfrm>
          <a:prstGeom prst="roundRect">
            <a:avLst>
              <a:gd name="adj" fmla="val 12000"/>
            </a:avLst>
          </a:prstGeom>
          <a:solidFill>
            <a:srgbClr val="F6EDEE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88E8BF0-4E99-6A74-EC59-2D3883C39648}"/>
              </a:ext>
            </a:extLst>
          </p:cNvPr>
          <p:cNvSpPr/>
          <p:nvPr/>
        </p:nvSpPr>
        <p:spPr>
          <a:xfrm>
            <a:off x="711200" y="2476500"/>
            <a:ext cx="292100" cy="292100"/>
          </a:xfrm>
          <a:prstGeom prst="ellipse">
            <a:avLst/>
          </a:prstGeom>
          <a:solidFill>
            <a:srgbClr val="A6292F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1C3787-1096-71FE-3956-E3EB1337BA7D}"/>
              </a:ext>
            </a:extLst>
          </p:cNvPr>
          <p:cNvSpPr txBox="1"/>
          <p:nvPr/>
        </p:nvSpPr>
        <p:spPr>
          <a:xfrm>
            <a:off x="711200" y="2476500"/>
            <a:ext cx="2921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95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602F19-39D5-DB49-9C27-A32C2D608DB0}"/>
              </a:ext>
            </a:extLst>
          </p:cNvPr>
          <p:cNvSpPr txBox="1"/>
          <p:nvPr/>
        </p:nvSpPr>
        <p:spPr>
          <a:xfrm>
            <a:off x="1117600" y="2463800"/>
            <a:ext cx="182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公共空间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A9B3D8-8830-4A11-431E-C9206342FA15}"/>
              </a:ext>
            </a:extLst>
          </p:cNvPr>
          <p:cNvSpPr txBox="1"/>
          <p:nvPr/>
        </p:nvSpPr>
        <p:spPr>
          <a:xfrm>
            <a:off x="711200" y="31623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遗留物 </a:t>
            </a:r>
            <a:r>
              <a:rPr lang="en-US" altLang="zh-CN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无人看管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D66D86B-7A8E-A899-8333-BE2EF883780F}"/>
              </a:ext>
            </a:extLst>
          </p:cNvPr>
          <p:cNvSpPr txBox="1"/>
          <p:nvPr/>
        </p:nvSpPr>
        <p:spPr>
          <a:xfrm>
            <a:off x="711200" y="3619500"/>
            <a:ext cx="2235200" cy="17543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行李箱 </a:t>
            </a:r>
            <a:r>
              <a:rPr lang="en-US" altLang="zh-CN" sz="11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1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背包长时间静止，
且关联人员离开或持续无人看管
→ 疑似遗失 </a:t>
            </a:r>
            <a:r>
              <a:rPr lang="en-US" altLang="zh-CN" sz="11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1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遗留提醒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C2C2DA1-A422-E075-E117-68C2BA0D1AE9}"/>
              </a:ext>
            </a:extLst>
          </p:cNvPr>
          <p:cNvSpPr/>
          <p:nvPr/>
        </p:nvSpPr>
        <p:spPr>
          <a:xfrm>
            <a:off x="3378200" y="2298700"/>
            <a:ext cx="2590800" cy="26797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B3F31A3-9468-5126-5C62-61FA130C8C9A}"/>
              </a:ext>
            </a:extLst>
          </p:cNvPr>
          <p:cNvSpPr/>
          <p:nvPr/>
        </p:nvSpPr>
        <p:spPr>
          <a:xfrm>
            <a:off x="3378200" y="2298700"/>
            <a:ext cx="2590800" cy="723900"/>
          </a:xfrm>
          <a:prstGeom prst="roundRect">
            <a:avLst>
              <a:gd name="adj" fmla="val 12000"/>
            </a:avLst>
          </a:prstGeom>
          <a:solidFill>
            <a:srgbClr val="F6EDEE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8E1E0A4-6FAD-6468-9ED7-4B6F2DDC90E1}"/>
              </a:ext>
            </a:extLst>
          </p:cNvPr>
          <p:cNvSpPr/>
          <p:nvPr/>
        </p:nvSpPr>
        <p:spPr>
          <a:xfrm>
            <a:off x="3556000" y="2476500"/>
            <a:ext cx="292100" cy="292100"/>
          </a:xfrm>
          <a:prstGeom prst="ellipse">
            <a:avLst/>
          </a:prstGeom>
          <a:solidFill>
            <a:srgbClr val="A6292F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3355768-9BC8-D49D-B71E-A72E4339F7AA}"/>
              </a:ext>
            </a:extLst>
          </p:cNvPr>
          <p:cNvSpPr txBox="1"/>
          <p:nvPr/>
        </p:nvSpPr>
        <p:spPr>
          <a:xfrm>
            <a:off x="3556000" y="2476500"/>
            <a:ext cx="2921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95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FD8B04-27BA-90C2-9432-CA0910C0283D}"/>
              </a:ext>
            </a:extLst>
          </p:cNvPr>
          <p:cNvSpPr txBox="1"/>
          <p:nvPr/>
        </p:nvSpPr>
        <p:spPr>
          <a:xfrm>
            <a:off x="3962400" y="2463800"/>
            <a:ext cx="182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工作 </a:t>
            </a:r>
            <a:r>
              <a:rPr lang="en-US" altLang="zh-CN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工业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9A098BA-1263-0ED7-0285-CF790DB58063}"/>
              </a:ext>
            </a:extLst>
          </p:cNvPr>
          <p:cNvSpPr txBox="1"/>
          <p:nvPr/>
        </p:nvSpPr>
        <p:spPr>
          <a:xfrm>
            <a:off x="3556000" y="31623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离岗 </a:t>
            </a:r>
            <a:r>
              <a:rPr lang="en-US" altLang="zh-CN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闯入 </a:t>
            </a:r>
            <a:r>
              <a:rPr lang="en-US" altLang="zh-CN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防护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02E3BA-A9D7-C1A8-4C8D-8CA07814B007}"/>
              </a:ext>
            </a:extLst>
          </p:cNvPr>
          <p:cNvSpPr txBox="1"/>
          <p:nvPr/>
        </p:nvSpPr>
        <p:spPr>
          <a:xfrm>
            <a:off x="3556000" y="3619500"/>
            <a:ext cx="2235200" cy="17543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人员持续离岗、危险区域闯入，
安全帽 </a:t>
            </a:r>
            <a:r>
              <a:rPr lang="en-US" altLang="zh-CN" sz="11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1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工装缺失、通道占用
→ 现场与管理端告警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B9F8CDC-0474-FDD4-4E3B-96287826D938}"/>
              </a:ext>
            </a:extLst>
          </p:cNvPr>
          <p:cNvSpPr/>
          <p:nvPr/>
        </p:nvSpPr>
        <p:spPr>
          <a:xfrm>
            <a:off x="6223000" y="2298700"/>
            <a:ext cx="2590800" cy="26797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37FC5BC-CE3B-7584-AE31-A3BD64FB9C6C}"/>
              </a:ext>
            </a:extLst>
          </p:cNvPr>
          <p:cNvSpPr/>
          <p:nvPr/>
        </p:nvSpPr>
        <p:spPr>
          <a:xfrm>
            <a:off x="6223000" y="2298700"/>
            <a:ext cx="2590800" cy="723900"/>
          </a:xfrm>
          <a:prstGeom prst="roundRect">
            <a:avLst>
              <a:gd name="adj" fmla="val 12000"/>
            </a:avLst>
          </a:prstGeom>
          <a:solidFill>
            <a:srgbClr val="F6EDEE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2073E22-4A35-F598-B778-45F4A18771F9}"/>
              </a:ext>
            </a:extLst>
          </p:cNvPr>
          <p:cNvSpPr/>
          <p:nvPr/>
        </p:nvSpPr>
        <p:spPr>
          <a:xfrm>
            <a:off x="6400800" y="2476500"/>
            <a:ext cx="292100" cy="292100"/>
          </a:xfrm>
          <a:prstGeom prst="ellipse">
            <a:avLst/>
          </a:prstGeom>
          <a:solidFill>
            <a:srgbClr val="A6292F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EB7CE92-8CF4-F01F-1BD0-7D2FFE8BC38C}"/>
              </a:ext>
            </a:extLst>
          </p:cNvPr>
          <p:cNvSpPr txBox="1"/>
          <p:nvPr/>
        </p:nvSpPr>
        <p:spPr>
          <a:xfrm>
            <a:off x="6400800" y="2476500"/>
            <a:ext cx="2921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95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96DA67-2202-419A-731A-EBEEE99B89E0}"/>
              </a:ext>
            </a:extLst>
          </p:cNvPr>
          <p:cNvSpPr txBox="1"/>
          <p:nvPr/>
        </p:nvSpPr>
        <p:spPr>
          <a:xfrm>
            <a:off x="6807200" y="2463800"/>
            <a:ext cx="182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养老 </a:t>
            </a:r>
            <a:r>
              <a:rPr lang="en-US" altLang="zh-CN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照护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3940FAF-EBB3-8418-832D-BB121C18DF99}"/>
              </a:ext>
            </a:extLst>
          </p:cNvPr>
          <p:cNvSpPr txBox="1"/>
          <p:nvPr/>
        </p:nvSpPr>
        <p:spPr>
          <a:xfrm>
            <a:off x="6400800" y="31623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跌倒 </a:t>
            </a:r>
            <a:r>
              <a:rPr lang="en-US" altLang="zh-CN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久静 </a:t>
            </a:r>
            <a:r>
              <a:rPr lang="en-US" altLang="zh-CN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离床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9CAB805-B8BC-3AC9-37A7-229BB969F99B}"/>
              </a:ext>
            </a:extLst>
          </p:cNvPr>
          <p:cNvSpPr txBox="1"/>
          <p:nvPr/>
        </p:nvSpPr>
        <p:spPr>
          <a:xfrm>
            <a:off x="6400800" y="3619500"/>
            <a:ext cx="2235200" cy="147732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老人跌倒、长时间静止，
患者 </a:t>
            </a:r>
            <a:r>
              <a:rPr lang="en-US" altLang="zh-CN" sz="11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1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儿童离开限定区域
→ 低时延看护提醒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CD4DDB8-3FC7-41A2-83A9-7B2AA62663F5}"/>
              </a:ext>
            </a:extLst>
          </p:cNvPr>
          <p:cNvSpPr/>
          <p:nvPr/>
        </p:nvSpPr>
        <p:spPr>
          <a:xfrm>
            <a:off x="9067800" y="2298700"/>
            <a:ext cx="2590800" cy="26797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E0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044B03E-6466-D40B-1A18-C7F50C62A8FE}"/>
              </a:ext>
            </a:extLst>
          </p:cNvPr>
          <p:cNvSpPr/>
          <p:nvPr/>
        </p:nvSpPr>
        <p:spPr>
          <a:xfrm>
            <a:off x="9067800" y="2298700"/>
            <a:ext cx="2590800" cy="723900"/>
          </a:xfrm>
          <a:prstGeom prst="roundRect">
            <a:avLst>
              <a:gd name="adj" fmla="val 12000"/>
            </a:avLst>
          </a:prstGeom>
          <a:solidFill>
            <a:srgbClr val="F6EDEE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BF8E102-785B-AB83-58A1-6449ABAB9EAD}"/>
              </a:ext>
            </a:extLst>
          </p:cNvPr>
          <p:cNvSpPr/>
          <p:nvPr/>
        </p:nvSpPr>
        <p:spPr>
          <a:xfrm>
            <a:off x="9245600" y="2476500"/>
            <a:ext cx="292100" cy="292100"/>
          </a:xfrm>
          <a:prstGeom prst="ellipse">
            <a:avLst/>
          </a:prstGeom>
          <a:solidFill>
            <a:srgbClr val="A6292F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6300255-6878-3E77-5BC9-5CD4E5DFE041}"/>
              </a:ext>
            </a:extLst>
          </p:cNvPr>
          <p:cNvSpPr txBox="1"/>
          <p:nvPr/>
        </p:nvSpPr>
        <p:spPr>
          <a:xfrm>
            <a:off x="9245600" y="2476500"/>
            <a:ext cx="2921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95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62DAED0-A067-F564-6D23-BB001DF9C6F1}"/>
              </a:ext>
            </a:extLst>
          </p:cNvPr>
          <p:cNvSpPr txBox="1"/>
          <p:nvPr/>
        </p:nvSpPr>
        <p:spPr>
          <a:xfrm>
            <a:off x="9652000" y="2463800"/>
            <a:ext cx="182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仓储 </a:t>
            </a:r>
            <a:r>
              <a:rPr lang="en-US" altLang="zh-CN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6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园区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2D5A1E8-8CC0-D038-CAD9-27F639EDB94D}"/>
              </a:ext>
            </a:extLst>
          </p:cNvPr>
          <p:cNvSpPr txBox="1"/>
          <p:nvPr/>
        </p:nvSpPr>
        <p:spPr>
          <a:xfrm>
            <a:off x="9245600" y="31623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烟火 </a:t>
            </a:r>
            <a:r>
              <a:rPr lang="en-US" altLang="zh-CN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占道 </a:t>
            </a:r>
            <a:r>
              <a:rPr lang="en-US" altLang="zh-CN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巡检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B1948D8-8B61-33C7-1892-5EE66DE1D4AF}"/>
              </a:ext>
            </a:extLst>
          </p:cNvPr>
          <p:cNvSpPr txBox="1"/>
          <p:nvPr/>
        </p:nvSpPr>
        <p:spPr>
          <a:xfrm>
            <a:off x="9245600" y="3619500"/>
            <a:ext cx="2235200" cy="17543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烟火识别、货物堆积占道，
设备状态与物料数量巡检
→ 事件留痕与联动处置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843D6F8-1648-2202-CEB7-C7CE4CDC61C2}"/>
              </a:ext>
            </a:extLst>
          </p:cNvPr>
          <p:cNvSpPr txBox="1"/>
          <p:nvPr/>
        </p:nvSpPr>
        <p:spPr>
          <a:xfrm>
            <a:off x="622300" y="4998134"/>
            <a:ext cx="1397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5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能力演进路线</a:t>
            </a: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98A10A8-32FA-9F26-73A3-568DE92BEE27}"/>
              </a:ext>
            </a:extLst>
          </p:cNvPr>
          <p:cNvCxnSpPr/>
          <p:nvPr/>
        </p:nvCxnSpPr>
        <p:spPr>
          <a:xfrm>
            <a:off x="2006600" y="5321300"/>
            <a:ext cx="9575800" cy="0"/>
          </a:xfrm>
          <a:prstGeom prst="line">
            <a:avLst/>
          </a:prstGeom>
          <a:ln w="12700">
            <a:solidFill>
              <a:srgbClr val="E0D6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3BC67D32-89EA-9932-A2AA-67C407229694}"/>
              </a:ext>
            </a:extLst>
          </p:cNvPr>
          <p:cNvSpPr/>
          <p:nvPr/>
        </p:nvSpPr>
        <p:spPr>
          <a:xfrm>
            <a:off x="736600" y="5575300"/>
            <a:ext cx="330200" cy="330200"/>
          </a:xfrm>
          <a:prstGeom prst="ellipse">
            <a:avLst/>
          </a:prstGeom>
          <a:solidFill>
            <a:srgbClr val="A6292F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C03013F-332E-89F1-E6D4-7D3BAC591BAD}"/>
              </a:ext>
            </a:extLst>
          </p:cNvPr>
          <p:cNvSpPr txBox="1"/>
          <p:nvPr/>
        </p:nvSpPr>
        <p:spPr>
          <a:xfrm>
            <a:off x="736600" y="55753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5275267-233B-AE53-8E55-799DCD1B7589}"/>
              </a:ext>
            </a:extLst>
          </p:cNvPr>
          <p:cNvSpPr txBox="1"/>
          <p:nvPr/>
        </p:nvSpPr>
        <p:spPr>
          <a:xfrm>
            <a:off x="1143000" y="55245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目标检测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3BB399C-D2B8-8537-0363-7BCC3C3B4BFE}"/>
              </a:ext>
            </a:extLst>
          </p:cNvPr>
          <p:cNvSpPr txBox="1"/>
          <p:nvPr/>
        </p:nvSpPr>
        <p:spPr>
          <a:xfrm>
            <a:off x="1143000" y="58166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当前基础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7E80ADA-EDE1-0977-84EC-88686DA03E4F}"/>
              </a:ext>
            </a:extLst>
          </p:cNvPr>
          <p:cNvSpPr txBox="1"/>
          <p:nvPr/>
        </p:nvSpPr>
        <p:spPr>
          <a:xfrm>
            <a:off x="2654300" y="55499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7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78FAA53A-2754-EDEA-F1F5-11B806DB755C}"/>
              </a:ext>
            </a:extLst>
          </p:cNvPr>
          <p:cNvSpPr/>
          <p:nvPr/>
        </p:nvSpPr>
        <p:spPr>
          <a:xfrm>
            <a:off x="3022600" y="5575300"/>
            <a:ext cx="330200" cy="330200"/>
          </a:xfrm>
          <a:prstGeom prst="ellipse">
            <a:avLst/>
          </a:prstGeom>
          <a:solidFill>
            <a:srgbClr val="183E50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ABA64FF-2352-9BDB-CE3B-34312EF858FB}"/>
              </a:ext>
            </a:extLst>
          </p:cNvPr>
          <p:cNvSpPr txBox="1"/>
          <p:nvPr/>
        </p:nvSpPr>
        <p:spPr>
          <a:xfrm>
            <a:off x="3022600" y="55753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0B5ABEE-490C-2EE2-2A4B-BF0BF6507A15}"/>
              </a:ext>
            </a:extLst>
          </p:cNvPr>
          <p:cNvSpPr txBox="1"/>
          <p:nvPr/>
        </p:nvSpPr>
        <p:spPr>
          <a:xfrm>
            <a:off x="3429000" y="55245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多目标跟踪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DA4A3B3-767B-0A4D-F7DD-417E02CA3DD9}"/>
              </a:ext>
            </a:extLst>
          </p:cNvPr>
          <p:cNvSpPr txBox="1"/>
          <p:nvPr/>
        </p:nvSpPr>
        <p:spPr>
          <a:xfrm>
            <a:off x="3429000" y="58166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物</a:t>
            </a:r>
            <a:r>
              <a:rPr lang="en-US" altLang="zh-CN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人关联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820AE13-8431-E4A4-D3AA-B992AEAB87C5}"/>
              </a:ext>
            </a:extLst>
          </p:cNvPr>
          <p:cNvSpPr txBox="1"/>
          <p:nvPr/>
        </p:nvSpPr>
        <p:spPr>
          <a:xfrm>
            <a:off x="4940300" y="55499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7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A1FB1776-EF44-0264-E8CF-BD7792476177}"/>
              </a:ext>
            </a:extLst>
          </p:cNvPr>
          <p:cNvSpPr/>
          <p:nvPr/>
        </p:nvSpPr>
        <p:spPr>
          <a:xfrm>
            <a:off x="5308600" y="5575300"/>
            <a:ext cx="330200" cy="330200"/>
          </a:xfrm>
          <a:prstGeom prst="ellipse">
            <a:avLst/>
          </a:prstGeom>
          <a:solidFill>
            <a:srgbClr val="183E50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2543965-D6F1-09C5-2A34-9A887A41B5F3}"/>
              </a:ext>
            </a:extLst>
          </p:cNvPr>
          <p:cNvSpPr txBox="1"/>
          <p:nvPr/>
        </p:nvSpPr>
        <p:spPr>
          <a:xfrm>
            <a:off x="5308600" y="55753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6FEE899-6553-5C1E-3AAC-3E102CA754D9}"/>
              </a:ext>
            </a:extLst>
          </p:cNvPr>
          <p:cNvSpPr txBox="1"/>
          <p:nvPr/>
        </p:nvSpPr>
        <p:spPr>
          <a:xfrm>
            <a:off x="5715000" y="55245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时序事件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9CADC2A-E9BA-DE83-0310-EA7B4EBD035B}"/>
              </a:ext>
            </a:extLst>
          </p:cNvPr>
          <p:cNvSpPr txBox="1"/>
          <p:nvPr/>
        </p:nvSpPr>
        <p:spPr>
          <a:xfrm>
            <a:off x="5715000" y="5816600"/>
            <a:ext cx="1676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持续 </a:t>
            </a:r>
            <a:r>
              <a:rPr lang="en-US" altLang="zh-CN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离开 </a:t>
            </a:r>
            <a:r>
              <a:rPr lang="en-US" altLang="zh-CN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越界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5855B6A-7E83-89D5-1282-9BDDB680A47D}"/>
              </a:ext>
            </a:extLst>
          </p:cNvPr>
          <p:cNvSpPr txBox="1"/>
          <p:nvPr/>
        </p:nvSpPr>
        <p:spPr>
          <a:xfrm>
            <a:off x="7226300" y="55499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7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3525234E-DE53-4CF0-C973-294B3DD1BB72}"/>
              </a:ext>
            </a:extLst>
          </p:cNvPr>
          <p:cNvSpPr/>
          <p:nvPr/>
        </p:nvSpPr>
        <p:spPr>
          <a:xfrm>
            <a:off x="7594600" y="5575300"/>
            <a:ext cx="330200" cy="330200"/>
          </a:xfrm>
          <a:prstGeom prst="ellipse">
            <a:avLst/>
          </a:prstGeom>
          <a:solidFill>
            <a:srgbClr val="183E50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3EE632E-5D9D-6274-9450-B11B4A8D6A5C}"/>
              </a:ext>
            </a:extLst>
          </p:cNvPr>
          <p:cNvSpPr txBox="1"/>
          <p:nvPr/>
        </p:nvSpPr>
        <p:spPr>
          <a:xfrm>
            <a:off x="7594600" y="55753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33A1858-09F7-FE3B-3AD2-8DDAB3AD389A}"/>
              </a:ext>
            </a:extLst>
          </p:cNvPr>
          <p:cNvSpPr txBox="1"/>
          <p:nvPr/>
        </p:nvSpPr>
        <p:spPr>
          <a:xfrm>
            <a:off x="8001000" y="55245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多模型协同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04C3502-42BA-7229-76A8-0391C6E052E5}"/>
              </a:ext>
            </a:extLst>
          </p:cNvPr>
          <p:cNvSpPr txBox="1"/>
          <p:nvPr/>
        </p:nvSpPr>
        <p:spPr>
          <a:xfrm>
            <a:off x="8001000" y="5816600"/>
            <a:ext cx="1676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检测 </a:t>
            </a:r>
            <a:r>
              <a:rPr lang="en-US" altLang="zh-CN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行为 </a:t>
            </a:r>
            <a:r>
              <a:rPr lang="en-US" altLang="zh-CN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声音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87ACBCE-1DA4-C8A7-8F03-365212BEBC9E}"/>
              </a:ext>
            </a:extLst>
          </p:cNvPr>
          <p:cNvSpPr txBox="1"/>
          <p:nvPr/>
        </p:nvSpPr>
        <p:spPr>
          <a:xfrm>
            <a:off x="9512300" y="55499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700" b="1">
                <a:solidFill>
                  <a:srgbClr val="A6292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→</a:t>
            </a: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4F90EEF2-52C3-F65B-C977-80A22A3D6EEC}"/>
              </a:ext>
            </a:extLst>
          </p:cNvPr>
          <p:cNvSpPr/>
          <p:nvPr/>
        </p:nvSpPr>
        <p:spPr>
          <a:xfrm>
            <a:off x="9880600" y="5575300"/>
            <a:ext cx="330200" cy="330200"/>
          </a:xfrm>
          <a:prstGeom prst="ellipse">
            <a:avLst/>
          </a:prstGeom>
          <a:solidFill>
            <a:srgbClr val="183E50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0438D3AD-6A2E-8F0F-31CC-11E684575718}"/>
              </a:ext>
            </a:extLst>
          </p:cNvPr>
          <p:cNvSpPr txBox="1"/>
          <p:nvPr/>
        </p:nvSpPr>
        <p:spPr>
          <a:xfrm>
            <a:off x="9880600" y="55753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E40FC6CA-015A-99A7-2E32-BEED613DE032}"/>
              </a:ext>
            </a:extLst>
          </p:cNvPr>
          <p:cNvSpPr txBox="1"/>
          <p:nvPr/>
        </p:nvSpPr>
        <p:spPr>
          <a:xfrm>
            <a:off x="10287000" y="55245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262626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平台联动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1D38D6C3-F951-BBA1-DE15-9D5765941259}"/>
              </a:ext>
            </a:extLst>
          </p:cNvPr>
          <p:cNvSpPr txBox="1"/>
          <p:nvPr/>
        </p:nvSpPr>
        <p:spPr>
          <a:xfrm>
            <a:off x="10287000" y="5816600"/>
            <a:ext cx="1676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多机协同 </a:t>
            </a:r>
            <a:r>
              <a:rPr lang="en-US" altLang="zh-CN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950">
                <a:solidFill>
                  <a:srgbClr val="5A6065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消息推送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37620B2-B2E2-095C-EFE4-81CBDC1A9958}"/>
              </a:ext>
            </a:extLst>
          </p:cNvPr>
          <p:cNvSpPr txBox="1"/>
          <p:nvPr/>
        </p:nvSpPr>
        <p:spPr>
          <a:xfrm>
            <a:off x="2413000" y="6388100"/>
            <a:ext cx="736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183E5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板端价值：低时延｜数据本地化｜弱网可用｜模型与规则可替换</a:t>
            </a:r>
          </a:p>
        </p:txBody>
      </p:sp>
      <p:sp>
        <p:nvSpPr>
          <p:cNvPr id="8" name="文本框 25">
            <a:extLst>
              <a:ext uri="{FF2B5EF4-FFF2-40B4-BE49-F238E27FC236}">
                <a16:creationId xmlns:a16="http://schemas.microsoft.com/office/drawing/2014/main" id="{4FE16277-5D49-3143-2CCD-75370061A90C}"/>
              </a:ext>
            </a:extLst>
          </p:cNvPr>
          <p:cNvSpPr>
            <a:spLocks noGrp="1"/>
          </p:cNvSpPr>
          <p:nvPr/>
        </p:nvSpPr>
        <p:spPr>
          <a:xfrm>
            <a:off x="425451" y="395460"/>
            <a:ext cx="5981699" cy="5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A6292F"/>
                </a:solidFill>
                <a:latin typeface="Bahnschrift SemiBold"/>
                <a:ea typeface="Bahnschrift SemiBold"/>
                <a:cs typeface="Bahnschrift SemiBold"/>
              </a:rPr>
              <a:t>04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Bahnschrift SemiBold"/>
              </a:rPr>
              <a:t>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验收与展望</a:t>
            </a:r>
            <a:r>
              <a:rPr lang="en-US" altLang="zh-CN" sz="2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功能展望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164830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8136C05-AF94-4FFF-9850-87B1B424C3C3}"/>
              </a:ext>
            </a:extLst>
          </p:cNvPr>
          <p:cNvSpPr>
            <a:spLocks noGrp="1"/>
          </p:cNvSpPr>
          <p:nvPr/>
        </p:nvSpPr>
        <p:spPr>
          <a:xfrm>
            <a:off x="2776746" y="4635211"/>
            <a:ext cx="6638508" cy="2476239"/>
          </a:xfrm>
          <a:prstGeom prst="rect">
            <a:avLst/>
          </a:prstGeom>
          <a:blipFill rotWithShape="1">
            <a:blip r:embed="rId3">
              <a:alphaModFix amt="5000"/>
            </a:blip>
            <a:srcRect/>
            <a:stretch>
              <a:fillRect t="-50527" b="1"/>
            </a:stretch>
          </a:blip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29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478" y="340474"/>
            <a:ext cx="1200693" cy="1172676"/>
          </a:xfrm>
          <a:prstGeom prst="rect">
            <a:avLst/>
          </a:prstGeom>
        </p:spPr>
      </p:pic>
      <p:pic>
        <p:nvPicPr>
          <p:cNvPr id="30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5200" y="1517327"/>
            <a:ext cx="1641600" cy="372095"/>
          </a:xfrm>
          <a:prstGeom prst="rect">
            <a:avLst/>
          </a:prstGeom>
        </p:spPr>
      </p:pic>
      <p:sp>
        <p:nvSpPr>
          <p:cNvPr id="8" name="直接连接符 7">
            <a:extLst>
              <a:ext uri="{FF2B5EF4-FFF2-40B4-BE49-F238E27FC236}">
                <a16:creationId xmlns:a16="http://schemas.microsoft.com/office/drawing/2014/main" id="{F2A5E556-2CB6-4669-A18C-2E9C29147E18}"/>
              </a:ext>
            </a:extLst>
          </p:cNvPr>
          <p:cNvSpPr>
            <a:spLocks noGrp="1"/>
          </p:cNvSpPr>
          <p:nvPr/>
        </p:nvSpPr>
        <p:spPr>
          <a:xfrm>
            <a:off x="3571103" y="2395183"/>
            <a:ext cx="5049794" cy="0"/>
          </a:xfrm>
          <a:prstGeom prst="line">
            <a:avLst/>
          </a:prstGeom>
          <a:ln w="19050">
            <a:solidFill>
              <a:srgbClr val="AB2B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D57F7B8E-C7AC-491B-ADC0-A68A94995945}"/>
              </a:ext>
            </a:extLst>
          </p:cNvPr>
          <p:cNvSpPr>
            <a:spLocks noGrp="1"/>
          </p:cNvSpPr>
          <p:nvPr/>
        </p:nvSpPr>
        <p:spPr>
          <a:xfrm>
            <a:off x="3571103" y="4421650"/>
            <a:ext cx="5049794" cy="0"/>
          </a:xfrm>
          <a:prstGeom prst="line">
            <a:avLst/>
          </a:prstGeom>
          <a:ln w="19050">
            <a:solidFill>
              <a:srgbClr val="AB2B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5CEFEF-B9E3-4BFA-8184-4F6B49384D4B}"/>
              </a:ext>
            </a:extLst>
          </p:cNvPr>
          <p:cNvSpPr>
            <a:spLocks noGrp="1"/>
          </p:cNvSpPr>
          <p:nvPr/>
        </p:nvSpPr>
        <p:spPr>
          <a:xfrm>
            <a:off x="3571103" y="2502916"/>
            <a:ext cx="5049794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None/>
              <a:defRPr sz="2700"/>
            </a:pPr>
            <a:r>
              <a:rPr sz="2700" b="1" spc="200">
                <a:solidFill>
                  <a:srgbClr val="AB2B2B"/>
                </a:solidFill>
                <a:latin typeface="微软雅黑"/>
                <a:ea typeface="微软雅黑"/>
                <a:cs typeface="微软雅黑"/>
              </a:rPr>
              <a:t>谢谢观看</a:t>
            </a:r>
          </a:p>
          <a:p>
            <a:pPr algn="ctr">
              <a:lnSpc>
                <a:spcPct val="125000"/>
              </a:lnSpc>
              <a:buNone/>
              <a:defRPr sz="2700"/>
            </a:pPr>
            <a:r>
              <a:rPr sz="2700" b="1" spc="200">
                <a:solidFill>
                  <a:srgbClr val="AB2B2B"/>
                </a:solidFill>
                <a:latin typeface="微软雅黑"/>
                <a:ea typeface="微软雅黑"/>
                <a:cs typeface="微软雅黑"/>
              </a:rPr>
              <a:t>敬请评委指正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44682E-44C7-45DA-BAE5-99661736106E}"/>
              </a:ext>
            </a:extLst>
          </p:cNvPr>
          <p:cNvSpPr>
            <a:spLocks noGrp="1"/>
          </p:cNvSpPr>
          <p:nvPr/>
        </p:nvSpPr>
        <p:spPr>
          <a:xfrm rot="19489470">
            <a:off x="2087430" y="75101"/>
            <a:ext cx="7815223" cy="70259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A2195D-28C2-4C12-B28A-7638D99E0EAF}"/>
              </a:ext>
            </a:extLst>
          </p:cNvPr>
          <p:cNvSpPr>
            <a:spLocks noGrp="1"/>
          </p:cNvSpPr>
          <p:nvPr/>
        </p:nvSpPr>
        <p:spPr>
          <a:xfrm rot="19677627">
            <a:off x="1696367" y="-185105"/>
            <a:ext cx="8799268" cy="7539332"/>
          </a:xfrm>
          <a:prstGeom prst="rect">
            <a:avLst/>
          </a:prstGeom>
          <a:noFill/>
          <a:ln w="393700">
            <a:gradFill rotWithShape="1">
              <a:gsLst>
                <a:gs pos="0">
                  <a:schemeClr val="accent3">
                    <a:lumMod val="67000"/>
                    <a:alpha val="0"/>
                  </a:schemeClr>
                </a:gs>
                <a:gs pos="75000">
                  <a:srgbClr val="D9D7DA">
                    <a:alpha val="36000"/>
                  </a:srgbClr>
                </a:gs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878FCE1-BFEB-4D45-A1F0-52523534EBC8}"/>
              </a:ext>
            </a:extLst>
          </p:cNvPr>
          <p:cNvSpPr>
            <a:spLocks noGrp="1"/>
          </p:cNvSpPr>
          <p:nvPr/>
        </p:nvSpPr>
        <p:spPr>
          <a:xfrm rot="19689791">
            <a:off x="1250990" y="-594491"/>
            <a:ext cx="9690020" cy="8358103"/>
          </a:xfrm>
          <a:prstGeom prst="rect">
            <a:avLst/>
          </a:prstGeom>
          <a:noFill/>
          <a:ln w="25400">
            <a:solidFill>
              <a:srgbClr val="AB2B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F4A3B4-5BA5-440C-890D-750B0CF54716}"/>
              </a:ext>
            </a:extLst>
          </p:cNvPr>
          <p:cNvSpPr>
            <a:spLocks noGrp="1"/>
          </p:cNvSpPr>
          <p:nvPr/>
        </p:nvSpPr>
        <p:spPr>
          <a:xfrm rot="19677627">
            <a:off x="837848" y="-966170"/>
            <a:ext cx="10516304" cy="9101460"/>
          </a:xfrm>
          <a:prstGeom prst="rect">
            <a:avLst/>
          </a:prstGeom>
          <a:noFill/>
          <a:ln w="304800">
            <a:gradFill rotWithShape="1">
              <a:gsLst>
                <a:gs pos="0">
                  <a:schemeClr val="accent3">
                    <a:lumMod val="67000"/>
                    <a:alpha val="0"/>
                  </a:schemeClr>
                </a:gs>
                <a:gs pos="69000">
                  <a:srgbClr val="D9D7DA">
                    <a:alpha val="32000"/>
                  </a:srgbClr>
                </a:gs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BF50DA-3469-48C2-92AC-C1280E0A12FB}"/>
              </a:ext>
            </a:extLst>
          </p:cNvPr>
          <p:cNvSpPr>
            <a:spLocks noGrp="1"/>
          </p:cNvSpPr>
          <p:nvPr/>
        </p:nvSpPr>
        <p:spPr>
          <a:xfrm rot="19677627">
            <a:off x="631957" y="-1193179"/>
            <a:ext cx="10928087" cy="9555478"/>
          </a:xfrm>
          <a:prstGeom prst="rect">
            <a:avLst/>
          </a:prstGeom>
          <a:noFill/>
          <a:ln w="127000">
            <a:solidFill>
              <a:srgbClr val="AB2B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046DDB68-821C-4E7B-94D7-0AB6136E0D6E}"/>
              </a:ext>
            </a:extLst>
          </p:cNvPr>
          <p:cNvSpPr>
            <a:spLocks noGrp="1"/>
          </p:cNvSpPr>
          <p:nvPr/>
        </p:nvSpPr>
        <p:spPr>
          <a:xfrm flipV="1">
            <a:off x="-1" y="-5"/>
            <a:ext cx="2809876" cy="1756941"/>
          </a:xfrm>
          <a:prstGeom prst="rtTriangle">
            <a:avLst/>
          </a:prstGeom>
          <a:solidFill>
            <a:srgbClr val="AB2B2B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85B2CC59-02AF-49FE-8256-374D9EFC3B3D}"/>
              </a:ext>
            </a:extLst>
          </p:cNvPr>
          <p:cNvSpPr>
            <a:spLocks noGrp="1"/>
          </p:cNvSpPr>
          <p:nvPr/>
        </p:nvSpPr>
        <p:spPr>
          <a:xfrm rot="16200000" flipV="1">
            <a:off x="-559805" y="4699477"/>
            <a:ext cx="2809876" cy="1756941"/>
          </a:xfrm>
          <a:prstGeom prst="rtTriangle">
            <a:avLst/>
          </a:prstGeom>
          <a:solidFill>
            <a:srgbClr val="AB2B2B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2" name="直角三角形 21">
            <a:extLst>
              <a:ext uri="{FF2B5EF4-FFF2-40B4-BE49-F238E27FC236}">
                <a16:creationId xmlns:a16="http://schemas.microsoft.com/office/drawing/2014/main" id="{DF8B108E-FABF-473C-BD5C-F2C83E1B2C17}"/>
              </a:ext>
            </a:extLst>
          </p:cNvPr>
          <p:cNvSpPr>
            <a:spLocks noGrp="1"/>
          </p:cNvSpPr>
          <p:nvPr/>
        </p:nvSpPr>
        <p:spPr>
          <a:xfrm rot="16200000" flipH="1">
            <a:off x="9801294" y="562042"/>
            <a:ext cx="2952749" cy="1828666"/>
          </a:xfrm>
          <a:prstGeom prst="rtTriangle">
            <a:avLst/>
          </a:prstGeom>
          <a:solidFill>
            <a:srgbClr val="AB2B2B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3" name="直角三角形 22">
            <a:extLst>
              <a:ext uri="{FF2B5EF4-FFF2-40B4-BE49-F238E27FC236}">
                <a16:creationId xmlns:a16="http://schemas.microsoft.com/office/drawing/2014/main" id="{65C68743-4C5A-4D6B-A576-4F5682F8D579}"/>
              </a:ext>
            </a:extLst>
          </p:cNvPr>
          <p:cNvSpPr>
            <a:spLocks noGrp="1"/>
          </p:cNvSpPr>
          <p:nvPr/>
        </p:nvSpPr>
        <p:spPr>
          <a:xfrm flipH="1">
            <a:off x="9783191" y="5443226"/>
            <a:ext cx="2442147" cy="1414770"/>
          </a:xfrm>
          <a:prstGeom prst="rtTriangle">
            <a:avLst/>
          </a:prstGeom>
          <a:solidFill>
            <a:srgbClr val="AB2B2B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8FE6948-BE00-4B1B-B720-A3540ACC1188}"/>
              </a:ext>
            </a:extLst>
          </p:cNvPr>
          <p:cNvSpPr>
            <a:spLocks noGrp="1"/>
          </p:cNvSpPr>
          <p:nvPr/>
        </p:nvSpPr>
        <p:spPr>
          <a:xfrm>
            <a:off x="5434736" y="5819110"/>
            <a:ext cx="1482064" cy="504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  <a:defRPr sz="1125"/>
            </a:pPr>
            <a:r>
              <a:rPr lang="zh-CN" altLang="en-US" sz="1125">
                <a:solidFill>
                  <a:srgbClr val="A6292F"/>
                </a:solidFill>
                <a:latin typeface="Bahnschrift"/>
                <a:ea typeface="Bahnschrift"/>
                <a:cs typeface="Bahnschrift"/>
              </a:rPr>
              <a:t>汇报人：杨    洋</a:t>
            </a:r>
            <a:endParaRPr lang="en-US" altLang="zh-CN" sz="1125">
              <a:solidFill>
                <a:srgbClr val="A6292F"/>
              </a:solidFill>
              <a:latin typeface="Bahnschrift"/>
              <a:ea typeface="Bahnschrift"/>
              <a:cs typeface="Bahnschrift"/>
            </a:endParaRPr>
          </a:p>
          <a:p>
            <a:pPr algn="l">
              <a:lnSpc>
                <a:spcPct val="125000"/>
              </a:lnSpc>
              <a:buNone/>
              <a:defRPr sz="1125"/>
            </a:pPr>
            <a:r>
              <a:rPr lang="zh-CN" altLang="en-US" sz="1125">
                <a:solidFill>
                  <a:srgbClr val="A6292F"/>
                </a:solidFill>
                <a:latin typeface="Bahnschrift"/>
                <a:ea typeface="Bahnschrift"/>
                <a:cs typeface="Bahnschrift"/>
              </a:rPr>
              <a:t>团队名：</a:t>
            </a:r>
            <a:r>
              <a:rPr sz="1125">
                <a:solidFill>
                  <a:srgbClr val="A6292F"/>
                </a:solidFill>
                <a:latin typeface="Bahnschrift"/>
                <a:ea typeface="Bahnschrift"/>
                <a:cs typeface="Bahnschrift"/>
              </a:rPr>
              <a:t>全都做得队</a:t>
            </a:r>
            <a:endParaRPr>
              <a:solidFill>
                <a:srgbClr val="A6292F"/>
              </a:solidFill>
              <a:latin typeface="Bahnschrift"/>
              <a:ea typeface="Bahnschrift"/>
              <a:cs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54424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4700</Words>
  <Application>Microsoft Office PowerPoint</Application>
  <DocSecurity>0</DocSecurity>
  <PresentationFormat>宽屏</PresentationFormat>
  <Paragraphs>564</Paragraphs>
  <Slides>29</Slides>
  <Notes>29</Notes>
  <HiddenSlides>0</HiddenSlides>
  <MMClips>1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Calibri</vt:lpstr>
      <vt:lpstr>Segoe UI Light</vt:lpstr>
      <vt:lpstr>Bahnschrift</vt:lpstr>
      <vt:lpstr>Century Gothic</vt:lpstr>
      <vt:lpstr>等线</vt:lpstr>
      <vt:lpstr>Arial</vt:lpstr>
      <vt:lpstr>Segoe UI</vt:lpstr>
      <vt:lpstr>微软雅黑</vt:lpstr>
      <vt:lpstr>Bahnschrift SemiBold</vt:lpstr>
      <vt:lpstr>微软雅黑 Light</vt:lpstr>
      <vt:lpstr>Bahnschrift Light</vt:lpstr>
      <vt:lpstr>微软雅黑</vt:lpstr>
      <vt:lpstr>Office 主题​​</vt:lpstr>
      <vt:lpstr>1_OfficePLUS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c22206</cp:lastModifiedBy>
  <cp:revision>48</cp:revision>
  <dcterms:created xsi:type="dcterms:W3CDTF">2026-08-16T16:37:59Z</dcterms:created>
  <dcterms:modified xsi:type="dcterms:W3CDTF">2026-08-17T11:47:36Z</dcterms:modified>
</cp:coreProperties>
</file>