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280" r:id="rId5"/>
    <p:sldId id="257" r:id="rId6"/>
    <p:sldId id="276" r:id="rId7"/>
    <p:sldId id="259" r:id="rId8"/>
    <p:sldId id="260" r:id="rId9"/>
    <p:sldId id="261" r:id="rId10"/>
    <p:sldId id="262" r:id="rId11"/>
    <p:sldId id="270" r:id="rId12"/>
    <p:sldId id="281" r:id="rId13"/>
    <p:sldId id="263" r:id="rId14"/>
    <p:sldId id="264" r:id="rId15"/>
    <p:sldId id="274" r:id="rId16"/>
    <p:sldId id="266" r:id="rId17"/>
    <p:sldId id="279" r:id="rId18"/>
    <p:sldId id="275" r:id="rId19"/>
  </p:sldIdLst>
  <p:sldSz cx="12192000" cy="6858000"/>
  <p:notesSz cx="6858000" cy="9144000"/>
  <p:embeddedFontLs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100%</a:t>
            </a:r>
            <a:endParaRPr lang="en-US" altLang="zh-CN"/>
          </a:p>
          <a:p>
            <a:r>
              <a:rPr lang="zh-CN" altLang="en-US"/>
              <a:t>汇报重点</a:t>
            </a:r>
            <a:endParaRPr lang="zh-CN" altLang="en-US"/>
          </a:p>
          <a:p>
            <a:r>
              <a:rPr lang="zh-CN" altLang="en-US"/>
              <a:t>展示结果图、</a:t>
            </a:r>
            <a:r>
              <a:rPr lang="en-US" altLang="zh-CN"/>
              <a:t>txt </a:t>
            </a:r>
            <a:r>
              <a:rPr lang="zh-CN" altLang="en-US"/>
              <a:t>与 </a:t>
            </a:r>
            <a:r>
              <a:rPr lang="en-US" altLang="zh-CN"/>
              <a:t>json</a:t>
            </a:r>
            <a:r>
              <a:rPr lang="zh-CN" altLang="en-US"/>
              <a:t>三类输</a:t>
            </a:r>
            <a:endParaRPr lang="zh-CN" altLang="en-US"/>
          </a:p>
          <a:p>
            <a:r>
              <a:rPr lang="zh-CN" altLang="en-US"/>
              <a:t>出</a:t>
            </a:r>
            <a:endParaRPr lang="zh-CN" altLang="en-US"/>
          </a:p>
          <a:p>
            <a:r>
              <a:rPr lang="zh-CN" altLang="en-US"/>
              <a:t>强调</a:t>
            </a:r>
            <a:r>
              <a:rPr lang="en-US" altLang="zh-CN"/>
              <a:t>latency_ms=18.532</a:t>
            </a:r>
            <a:r>
              <a:rPr lang="zh-CN" altLang="en-US"/>
              <a:t>的板</a:t>
            </a:r>
            <a:endParaRPr lang="zh-CN" altLang="en-US"/>
          </a:p>
          <a:p>
            <a:r>
              <a:rPr lang="zh-CN" altLang="en-US"/>
              <a:t>端示例结果</a:t>
            </a:r>
            <a:endParaRPr lang="zh-CN" altLang="en-US"/>
          </a:p>
          <a:p>
            <a:r>
              <a:rPr lang="zh-CN" altLang="en-US"/>
              <a:t>说明图形应用属于可选增强项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image" Target="../media/image7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8" Type="http://schemas.openxmlformats.org/officeDocument/2006/relationships/notesSlide" Target="../notesSlides/notesSlide8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9.png"/><Relationship Id="rId15" Type="http://schemas.openxmlformats.org/officeDocument/2006/relationships/image" Target="../media/image8.png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1.jpeg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4" Type="http://schemas.openxmlformats.org/officeDocument/2006/relationships/notesSlide" Target="../notesSlides/notesSlide1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4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4" Type="http://schemas.openxmlformats.org/officeDocument/2006/relationships/notesSlide" Target="../notesSlides/notesSlide14.xml"/><Relationship Id="rId33" Type="http://schemas.openxmlformats.org/officeDocument/2006/relationships/slideLayout" Target="../slideLayouts/slideLayout1.xml"/><Relationship Id="rId32" Type="http://schemas.openxmlformats.org/officeDocument/2006/relationships/tags" Target="../tags/tag92.xml"/><Relationship Id="rId31" Type="http://schemas.openxmlformats.org/officeDocument/2006/relationships/tags" Target="../tags/tag91.xml"/><Relationship Id="rId30" Type="http://schemas.openxmlformats.org/officeDocument/2006/relationships/tags" Target="../tags/tag90.xml"/><Relationship Id="rId3" Type="http://schemas.openxmlformats.org/officeDocument/2006/relationships/tags" Target="../tags/tag63.xml"/><Relationship Id="rId29" Type="http://schemas.openxmlformats.org/officeDocument/2006/relationships/tags" Target="../tags/tag89.xml"/><Relationship Id="rId28" Type="http://schemas.openxmlformats.org/officeDocument/2006/relationships/tags" Target="../tags/tag88.xml"/><Relationship Id="rId27" Type="http://schemas.openxmlformats.org/officeDocument/2006/relationships/tags" Target="../tags/tag87.xml"/><Relationship Id="rId26" Type="http://schemas.openxmlformats.org/officeDocument/2006/relationships/tags" Target="../tags/tag86.xml"/><Relationship Id="rId25" Type="http://schemas.openxmlformats.org/officeDocument/2006/relationships/tags" Target="../tags/tag85.xml"/><Relationship Id="rId24" Type="http://schemas.openxmlformats.org/officeDocument/2006/relationships/tags" Target="../tags/tag84.xml"/><Relationship Id="rId23" Type="http://schemas.openxmlformats.org/officeDocument/2006/relationships/tags" Target="../tags/tag83.xml"/><Relationship Id="rId22" Type="http://schemas.openxmlformats.org/officeDocument/2006/relationships/tags" Target="../tags/tag82.xml"/><Relationship Id="rId21" Type="http://schemas.openxmlformats.org/officeDocument/2006/relationships/tags" Target="../tags/tag81.xml"/><Relationship Id="rId20" Type="http://schemas.openxmlformats.org/officeDocument/2006/relationships/tags" Target="../tags/tag80.xml"/><Relationship Id="rId2" Type="http://schemas.openxmlformats.org/officeDocument/2006/relationships/tags" Target="../tags/tag62.xml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tags" Target="../tags/tag6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9FDFF"/>
            </a:gs>
            <a:gs pos="45000">
              <a:srgbClr val="EEF7FF"/>
            </a:gs>
            <a:gs pos="76000">
              <a:srgbClr val="F5FFF9"/>
            </a:gs>
            <a:gs pos="100000">
              <a:srgbClr val="FFF7EE"/>
            </a:gs>
          </a:gsLst>
          <a:lin ang="108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-1143000" y="4476750"/>
            <a:ext cx="3429000" cy="342900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763000" y="-381000"/>
            <a:ext cx="2667000" cy="266700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9620250" y="4953000"/>
            <a:ext cx="2095500" cy="209550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solidFill>
              <a:srgbClr val="FFF6D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191500" y="762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D9B7"/>
          </a:solidFill>
          <a:ln w="0">
            <a:solidFill>
              <a:srgbClr val="FFD9B7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90550" y="990600"/>
            <a:ext cx="6400800" cy="4552950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1314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E778E"/>
                </a:solidFill>
              </a:defRPr>
            </a:pPr>
            <a:r>
              <a:rPr sz="1050" b="1">
                <a:solidFill>
                  <a:srgbClr val="5E778E"/>
                </a:solidFill>
              </a:rPr>
              <a:t>OpenHarmony / Ascend 310B</a:t>
            </a:r>
            <a:endParaRPr sz="1050" b="1">
              <a:solidFill>
                <a:srgbClr val="5E778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695450"/>
            <a:ext cx="539115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132238"/>
                </a:solidFill>
              </a:defRPr>
            </a:pPr>
            <a:r>
              <a:rPr lang="zh-CN" altLang="en-US" sz="3600" b="1">
                <a:solidFill>
                  <a:srgbClr val="132238"/>
                </a:solidFill>
              </a:rPr>
              <a:t>将</a:t>
            </a:r>
            <a:r>
              <a:rPr lang="en-US" altLang="zh-CN" sz="3600" b="1">
                <a:solidFill>
                  <a:srgbClr val="132238"/>
                </a:solidFill>
              </a:rPr>
              <a:t>OpenHarmony</a:t>
            </a:r>
            <a:r>
              <a:rPr lang="zh-CN" altLang="en-US" sz="3600" b="1">
                <a:solidFill>
                  <a:srgbClr val="132238"/>
                </a:solidFill>
              </a:rPr>
              <a:t>标准版适配启智01开发者套件（基于昇腾310</a:t>
            </a:r>
            <a:r>
              <a:rPr lang="en-US" altLang="zh-CN" sz="3600" b="1">
                <a:solidFill>
                  <a:srgbClr val="132238"/>
                </a:solidFill>
              </a:rPr>
              <a:t>B）</a:t>
            </a:r>
            <a:r>
              <a:rPr lang="zh-CN" altLang="en-US" sz="3600" b="1">
                <a:solidFill>
                  <a:srgbClr val="132238"/>
                </a:solidFill>
              </a:rPr>
              <a:t>并完成</a:t>
            </a:r>
            <a:r>
              <a:rPr lang="en-US" altLang="zh-CN" sz="3600" b="1">
                <a:solidFill>
                  <a:srgbClr val="132238"/>
                </a:solidFill>
              </a:rPr>
              <a:t>NPU</a:t>
            </a:r>
            <a:r>
              <a:rPr lang="zh-CN" altLang="en-US" sz="3600" b="1">
                <a:solidFill>
                  <a:srgbClr val="132238"/>
                </a:solidFill>
              </a:rPr>
              <a:t>推理功能赛题</a:t>
            </a:r>
            <a:r>
              <a:rPr lang="zh-CN" altLang="en-US" sz="3600" b="1">
                <a:solidFill>
                  <a:srgbClr val="132238"/>
                </a:solidFill>
              </a:rPr>
              <a:t>进度汇报</a:t>
            </a:r>
            <a:endParaRPr lang="zh-CN" altLang="en-US" sz="3600" b="1">
              <a:solidFill>
                <a:srgbClr val="132238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607935" y="1269365"/>
            <a:ext cx="3620135" cy="1476375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23" name="矩形 22"/>
          <p:cNvSpPr>
            <a:spLocks noGrp="1"/>
          </p:cNvSpPr>
          <p:nvPr/>
        </p:nvSpPr>
        <p:spPr>
          <a:xfrm>
            <a:off x="7898765" y="158051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主任务 4/4 已进入文档</a:t>
            </a:r>
            <a:endParaRPr sz="1350" b="1">
              <a:solidFill>
                <a:srgbClr val="132238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98765" y="198056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778E"/>
                </a:solidFill>
              </a:defRPr>
            </a:pPr>
            <a:r>
              <a:rPr sz="1275" b="0">
                <a:solidFill>
                  <a:srgbClr val="5E778E"/>
                </a:solidFill>
              </a:rPr>
              <a:t>系统适配、CANN/NPU、YOLOv5 应用和性能优化均有实现、过程和验证证据。</a:t>
            </a:r>
            <a:endParaRPr sz="1275" b="0">
              <a:solidFill>
                <a:srgbClr val="5E778E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607935" y="3562985"/>
            <a:ext cx="2613660" cy="24282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34" name="圆角矩形 33"/>
          <p:cNvSpPr>
            <a:spLocks noGrp="1"/>
          </p:cNvSpPr>
          <p:nvPr/>
        </p:nvSpPr>
        <p:spPr>
          <a:xfrm>
            <a:off x="7824470" y="3861435"/>
            <a:ext cx="939165" cy="299085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823200" y="3848735"/>
            <a:ext cx="119824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E778E"/>
                </a:solidFill>
              </a:defRPr>
            </a:pPr>
            <a:r>
              <a:rPr lang="zh-CN" sz="1350" b="1">
                <a:solidFill>
                  <a:srgbClr val="5E778E"/>
                </a:solidFill>
              </a:rPr>
              <a:t>小组成员</a:t>
            </a:r>
            <a:endParaRPr lang="zh-CN" sz="1350" b="1">
              <a:solidFill>
                <a:srgbClr val="5E778E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878445" y="4172585"/>
            <a:ext cx="1790700" cy="12465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32238"/>
                </a:solidFill>
              </a:defRPr>
            </a:pPr>
            <a:endParaRPr sz="1800" b="1">
              <a:solidFill>
                <a:srgbClr val="132238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983615" y="4653280"/>
            <a:ext cx="2082800" cy="32385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17575" y="4702810"/>
            <a:ext cx="2081530" cy="2717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32238"/>
                </a:solidFill>
              </a:defRPr>
            </a:pPr>
            <a:r>
              <a:rPr lang="en-US" sz="1050" b="1">
                <a:solidFill>
                  <a:srgbClr val="132238"/>
                </a:solidFill>
              </a:rPr>
              <a:t> </a:t>
            </a:r>
            <a:r>
              <a:rPr lang="zh-CN" altLang="en-US" sz="1050" b="1">
                <a:solidFill>
                  <a:srgbClr val="132238"/>
                </a:solidFill>
              </a:rPr>
              <a:t>合肥工业大学</a:t>
            </a:r>
            <a:r>
              <a:rPr lang="en-US" altLang="zh-CN" sz="1050" b="1">
                <a:solidFill>
                  <a:srgbClr val="132238"/>
                </a:solidFill>
              </a:rPr>
              <a:t> - </a:t>
            </a:r>
            <a:r>
              <a:rPr lang="zh-CN" altLang="en-US" sz="1050" b="1">
                <a:solidFill>
                  <a:srgbClr val="132238"/>
                </a:solidFill>
              </a:rPr>
              <a:t>全都做得</a:t>
            </a:r>
            <a:r>
              <a:rPr lang="zh-CN" altLang="en-US" sz="1050" b="1">
                <a:solidFill>
                  <a:srgbClr val="132238"/>
                </a:solidFill>
              </a:rPr>
              <a:t>队</a:t>
            </a:r>
            <a:endParaRPr lang="zh-CN" altLang="en-US" sz="1050" b="1">
              <a:solidFill>
                <a:srgbClr val="132238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821930" y="4247515"/>
            <a:ext cx="2259330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275">
                <a:solidFill>
                  <a:srgbClr val="5E778E"/>
                </a:solidFill>
                <a:sym typeface="+mn-ea"/>
              </a:rPr>
              <a:t>组长：潘孝成</a:t>
            </a:r>
            <a:endParaRPr sz="1275">
              <a:solidFill>
                <a:srgbClr val="5E778E"/>
              </a:solidFill>
            </a:endParaRPr>
          </a:p>
          <a:p>
            <a:r>
              <a:rPr sz="1275">
                <a:solidFill>
                  <a:srgbClr val="5E778E"/>
                </a:solidFill>
                <a:sym typeface="+mn-ea"/>
              </a:rPr>
              <a:t>组员：杨洋、芦甲翔</a:t>
            </a:r>
            <a:endParaRPr lang="zh-CN" altLang="en-US"/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7824470" y="4926965"/>
            <a:ext cx="956945" cy="32004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878445" y="4933315"/>
            <a:ext cx="103505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E778E"/>
                </a:solidFill>
              </a:defRPr>
            </a:pPr>
            <a:r>
              <a:rPr lang="zh-CN" sz="1350" b="1">
                <a:solidFill>
                  <a:srgbClr val="5E778E"/>
                </a:solidFill>
              </a:rPr>
              <a:t>指导老师</a:t>
            </a:r>
            <a:endParaRPr lang="zh-CN" sz="1350" b="1">
              <a:solidFill>
                <a:srgbClr val="5E778E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899400" y="5329555"/>
            <a:ext cx="2078990" cy="3854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275">
                <a:solidFill>
                  <a:srgbClr val="5E778E"/>
                </a:solidFill>
                <a:sym typeface="+mn-ea"/>
              </a:rPr>
              <a:t>张本宏、</a:t>
            </a:r>
            <a:r>
              <a:rPr lang="zh-CN" altLang="en-US" sz="1275">
                <a:solidFill>
                  <a:srgbClr val="5E778E"/>
                </a:solidFill>
                <a:sym typeface="+mn-ea"/>
              </a:rPr>
              <a:t>李琳</a:t>
            </a:r>
            <a:endParaRPr lang="zh-CN" altLang="en-US" sz="1275">
              <a:solidFill>
                <a:srgbClr val="5E778E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9FDFF"/>
            </a:gs>
            <a:gs pos="45000">
              <a:srgbClr val="EEF7FF"/>
            </a:gs>
            <a:gs pos="76000">
              <a:srgbClr val="F5FFF9"/>
            </a:gs>
            <a:gs pos="100000">
              <a:srgbClr val="FFF7EE"/>
            </a:gs>
          </a:gsLst>
          <a:lin ang="108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-1143000" y="4476750"/>
            <a:ext cx="3429000" cy="342900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763000" y="-381000"/>
            <a:ext cx="2667000" cy="266700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9620250" y="4953000"/>
            <a:ext cx="2095500" cy="209550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solidFill>
              <a:srgbClr val="FFF6D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191500" y="762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D9B7"/>
          </a:solidFill>
          <a:ln w="0">
            <a:solidFill>
              <a:srgbClr val="FFD9B7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1597025" y="561340"/>
            <a:ext cx="5513070" cy="6066790"/>
          </a:xfrm>
          <a:prstGeom prst="roundRect">
            <a:avLst>
              <a:gd name="adj" fmla="val 10526"/>
            </a:avLst>
          </a:prstGeom>
          <a:solidFill>
            <a:schemeClr val="bg1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0" name="文本框 9"/>
          <p:cNvSpPr txBox="1"/>
          <p:nvPr/>
        </p:nvSpPr>
        <p:spPr>
          <a:xfrm>
            <a:off x="2155825" y="1112520"/>
            <a:ext cx="2432050" cy="605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None/>
            </a:pPr>
            <a:r>
              <a:rPr sz="4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目录</a:t>
            </a:r>
            <a:endParaRPr sz="4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80260" y="2002790"/>
            <a:ext cx="4538345" cy="4148455"/>
          </a:xfrm>
          <a:prstGeom prst="rect">
            <a:avLst/>
          </a:prstGeom>
          <a:noFill/>
          <a:effectLst>
            <a:glow rad="1270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schemeClr val="tx2">
                <a:lumMod val="10000"/>
                <a:lumOff val="90000"/>
                <a:alpha val="40000"/>
              </a:schemeClr>
            </a:outerShdw>
          </a:effectLst>
        </p:spPr>
        <p:txBody>
          <a:bodyPr wrap="square" rtlCol="0">
            <a:noAutofit/>
          </a:bodyPr>
          <a:p>
            <a:r>
              <a:rPr sz="2000">
                <a:solidFill>
                  <a:srgbClr val="5E778E"/>
                </a:solidFill>
                <a:latin typeface="Times New Roman" panose="02020603050405020304" charset="0"/>
                <a:cs typeface="Times New Roman" panose="02020603050405020304" charset="0"/>
              </a:rPr>
              <a:t>1. 项目背景 Background</a:t>
            </a:r>
            <a:endParaRPr sz="2000">
              <a:solidFill>
                <a:srgbClr val="5E778E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sz="2000">
              <a:solidFill>
                <a:srgbClr val="5E778E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solidFill>
                  <a:srgbClr val="5E778E"/>
                </a:solidFill>
                <a:latin typeface="Times New Roman" panose="02020603050405020304" charset="0"/>
                <a:cs typeface="Times New Roman" panose="02020603050405020304" charset="0"/>
              </a:rPr>
              <a:t>2.工作内容 Task Details</a:t>
            </a:r>
            <a:endParaRPr sz="2000">
              <a:solidFill>
                <a:srgbClr val="5E778E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sz="2000">
              <a:solidFill>
                <a:srgbClr val="5E778E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solidFill>
                  <a:srgbClr val="5E778E"/>
                </a:solidFill>
                <a:latin typeface="Times New Roman" panose="02020603050405020304" charset="0"/>
                <a:cs typeface="Times New Roman" panose="02020603050405020304" charset="0"/>
              </a:rPr>
              <a:t>3. 文档与成果输出 Deliverables</a:t>
            </a:r>
            <a:endParaRPr sz="2000">
              <a:solidFill>
                <a:srgbClr val="5E778E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sz="2000">
              <a:solidFill>
                <a:srgbClr val="5E778E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solidFill>
                  <a:srgbClr val="5E778E"/>
                </a:solidFill>
                <a:latin typeface="Times New Roman" panose="02020603050405020304" charset="0"/>
                <a:cs typeface="Times New Roman" panose="02020603050405020304" charset="0"/>
              </a:rPr>
              <a:t>4. 技术总结与结论 Technical Conclusion</a:t>
            </a:r>
            <a:endParaRPr sz="2000">
              <a:solidFill>
                <a:srgbClr val="5E778E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sz="2000">
              <a:solidFill>
                <a:srgbClr val="5E778E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solidFill>
                  <a:srgbClr val="5E778E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5. 实施进度 Progress Process</a:t>
            </a:r>
            <a:endParaRPr sz="2000">
              <a:solidFill>
                <a:srgbClr val="5E778E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sz="2000">
              <a:solidFill>
                <a:srgbClr val="5E778E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solidFill>
                  <a:srgbClr val="5E778E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6. 整体分工 Group Division</a:t>
            </a:r>
            <a:endParaRPr sz="2000">
              <a:solidFill>
                <a:srgbClr val="5E778E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2000">
              <a:solidFill>
                <a:srgbClr val="5E778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9FDFF"/>
            </a:gs>
            <a:gs pos="45000">
              <a:srgbClr val="EEF7FF"/>
            </a:gs>
            <a:gs pos="76000">
              <a:srgbClr val="F5FFF9"/>
            </a:gs>
            <a:gs pos="100000">
              <a:srgbClr val="FFF7EE"/>
            </a:gs>
          </a:gsLst>
          <a:lin ang="108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-1143000" y="4476750"/>
            <a:ext cx="3429000" cy="342900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10920730" y="5300980"/>
            <a:ext cx="2095500" cy="209550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solidFill>
              <a:srgbClr val="FFF6D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8EA6BA"/>
                </a:solidFill>
              </a:defRPr>
            </a:pPr>
            <a:r>
              <a:rPr sz="975" b="1">
                <a:solidFill>
                  <a:srgbClr val="8EA6BA"/>
                </a:solidFill>
              </a:rPr>
              <a:t>01 / </a:t>
            </a:r>
            <a:r>
              <a:rPr lang="en-US" sz="975" b="1">
                <a:solidFill>
                  <a:srgbClr val="8EA6BA"/>
                </a:solidFill>
              </a:rPr>
              <a:t>BACKGROU</a:t>
            </a:r>
            <a:r>
              <a:rPr lang="en-US" sz="975" b="1">
                <a:solidFill>
                  <a:srgbClr val="8EA6BA"/>
                </a:solidFill>
              </a:rPr>
              <a:t>ND</a:t>
            </a:r>
            <a:endParaRPr lang="en-US" sz="975" b="1">
              <a:solidFill>
                <a:srgbClr val="8EA6B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8191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32238"/>
                </a:solidFill>
              </a:defRPr>
            </a:pPr>
            <a:r>
              <a:rPr sz="2550" b="1">
                <a:solidFill>
                  <a:srgbClr val="132238"/>
                </a:solidFill>
              </a:rPr>
              <a:t>赛题</a:t>
            </a:r>
            <a:r>
              <a:rPr lang="zh-CN" sz="2550" b="1">
                <a:solidFill>
                  <a:srgbClr val="132238"/>
                </a:solidFill>
              </a:rPr>
              <a:t>背景</a:t>
            </a:r>
            <a:endParaRPr lang="zh-CN" sz="2550" b="1">
              <a:solidFill>
                <a:srgbClr val="132238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685800" y="1428750"/>
            <a:ext cx="10763250" cy="0"/>
          </a:xfrm>
          <a:prstGeom prst="line">
            <a:avLst/>
          </a:prstGeom>
          <a:ln w="9525">
            <a:solidFill>
              <a:srgbClr val="E4EDF5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911860" y="1562100"/>
            <a:ext cx="2320925" cy="5008880"/>
          </a:xfrm>
          <a:prstGeom prst="roundRect">
            <a:avLst>
              <a:gd name="adj" fmla="val 11354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1027430" y="3209925"/>
            <a:ext cx="2073275" cy="3066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solidFill>
                  <a:srgbClr val="5E778E"/>
                </a:solidFill>
              </a:rPr>
              <a:t>当前我国数字经济、新质生产力建设全面提速，“十五五” 规划明确要求攻坚基础软件、国产算力两大根技术，推动边缘 AI、工业物联网规模化落地，软硬件全栈自主可控成为产业核心发展主线</a:t>
            </a:r>
            <a:endParaRPr sz="1600">
              <a:solidFill>
                <a:srgbClr val="5E778E"/>
              </a:solidFill>
            </a:endParaRPr>
          </a:p>
          <a:p>
            <a:endParaRPr sz="1600">
              <a:solidFill>
                <a:srgbClr val="5E778E"/>
              </a:solidFill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9100820" y="1557020"/>
            <a:ext cx="2320925" cy="4981575"/>
          </a:xfrm>
          <a:prstGeom prst="roundRect">
            <a:avLst>
              <a:gd name="adj" fmla="val 3791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3519170" y="1562100"/>
            <a:ext cx="2320925" cy="5009515"/>
          </a:xfrm>
          <a:prstGeom prst="roundRect">
            <a:avLst>
              <a:gd name="adj" fmla="val 3791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6240145" y="1562100"/>
            <a:ext cx="2320925" cy="5008880"/>
          </a:xfrm>
          <a:prstGeom prst="roundRect">
            <a:avLst>
              <a:gd name="adj" fmla="val 3791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3709670" y="3063875"/>
            <a:ext cx="1961515" cy="3213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solidFill>
                  <a:srgbClr val="5E778E"/>
                </a:solidFill>
              </a:rPr>
              <a:t>在智能制造、智慧城市、智慧安防等场景中，海量终端对本地低延迟 AI 推理、高能效边缘算力、数据本地安全处理需求爆发，云端集中计算无法满足实时检测、工业质检等强实时业务</a:t>
            </a:r>
            <a:endParaRPr sz="1600">
              <a:solidFill>
                <a:srgbClr val="5E778E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9201150" y="2964180"/>
            <a:ext cx="2128520" cy="3511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solidFill>
                  <a:srgbClr val="5E778E"/>
                </a:solidFill>
              </a:rPr>
              <a:t>昇腾 310B 是成熟商用国产边缘 NPU，具备 20TOPS INT8 算力，可满足轻量化模型实时推理需求；推动 OpenHarmony 与昇腾芯片深度打通，补齐国产操作系统 + 国产算力协同短板，是构建自主边缘 AI 生态的必经技术路径，覆盖驱动开发、CANN 推理框架移植、端侧 AI 应用全链路技术攻关</a:t>
            </a:r>
            <a:endParaRPr sz="1600">
              <a:solidFill>
                <a:srgbClr val="5E778E"/>
              </a:solidFill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432550" y="2985770"/>
            <a:ext cx="1996440" cy="3490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solidFill>
                  <a:srgbClr val="5E778E"/>
                </a:solidFill>
              </a:rPr>
              <a:t>OpenHarmony 作为国内全场景开源分布式操作系统，是国家重点扶持的国产软件底座，生态规模持续扩张，但现阶段存在明显短板：面向国产 AI 加速硬件适配不完善、NPU </a:t>
            </a:r>
            <a:r>
              <a:rPr sz="1600">
                <a:solidFill>
                  <a:srgbClr val="5E778E"/>
                </a:solidFill>
              </a:rPr>
              <a:t>异构推理原生集成能力不足，边缘 AI 软硬件生态存在断层</a:t>
            </a:r>
            <a:endParaRPr lang="zh-CN" altLang="en-US"/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190" y="1772920"/>
            <a:ext cx="1342390" cy="1290955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240" y="1874520"/>
            <a:ext cx="1214755" cy="1089660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985" y="1776095"/>
            <a:ext cx="1271270" cy="1115695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695" y="1701165"/>
            <a:ext cx="1249680" cy="1194435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9FDFF"/>
            </a:gs>
            <a:gs pos="45000">
              <a:srgbClr val="EEF7FF"/>
            </a:gs>
            <a:gs pos="76000">
              <a:srgbClr val="F5FFF9"/>
            </a:gs>
            <a:gs pos="100000">
              <a:srgbClr val="FFF7EE"/>
            </a:gs>
          </a:gsLst>
          <a:lin ang="108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-1143000" y="4476750"/>
            <a:ext cx="3429000" cy="342900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763000" y="-381000"/>
            <a:ext cx="2667000" cy="266700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9620250" y="4953000"/>
            <a:ext cx="2095500" cy="209550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solidFill>
              <a:srgbClr val="FFF6D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191500" y="762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D9B7"/>
          </a:solidFill>
          <a:ln w="0">
            <a:solidFill>
              <a:srgbClr val="FFD9B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8EA6BA"/>
                </a:solidFill>
              </a:defRPr>
            </a:pPr>
            <a:r>
              <a:rPr sz="975" b="1">
                <a:solidFill>
                  <a:srgbClr val="8EA6BA"/>
                </a:solidFill>
              </a:rPr>
              <a:t>0</a:t>
            </a:r>
            <a:r>
              <a:rPr lang="en-US" sz="975" b="1">
                <a:solidFill>
                  <a:srgbClr val="8EA6BA"/>
                </a:solidFill>
              </a:rPr>
              <a:t>2</a:t>
            </a:r>
            <a:r>
              <a:rPr sz="975" b="1">
                <a:solidFill>
                  <a:srgbClr val="8EA6BA"/>
                </a:solidFill>
              </a:rPr>
              <a:t> / </a:t>
            </a:r>
            <a:r>
              <a:rPr>
                <a:sym typeface="+mn-ea"/>
              </a:rPr>
              <a:t>TASK DETAIL</a:t>
            </a:r>
            <a:endParaRPr lang="en-US" altLang="zh-CN" sz="975" b="1">
              <a:solidFill>
                <a:srgbClr val="8EA6B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8191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32238"/>
                </a:solidFill>
              </a:defRPr>
            </a:pPr>
            <a:r>
              <a:rPr lang="zh-CN" sz="2550" b="1">
                <a:solidFill>
                  <a:srgbClr val="132238"/>
                </a:solidFill>
              </a:rPr>
              <a:t>当前整体进度</a:t>
            </a:r>
            <a:endParaRPr lang="zh-CN" sz="2550" b="1">
              <a:solidFill>
                <a:srgbClr val="132238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858250" y="8763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100" b="1">
                <a:solidFill>
                  <a:srgbClr val="F8C85D"/>
                </a:solidFill>
              </a:defRPr>
            </a:pPr>
            <a:r>
              <a:rPr sz="2100" b="1">
                <a:solidFill>
                  <a:srgbClr val="F8C85D"/>
                </a:solidFill>
              </a:rPr>
              <a:t>主任务 4/4</a:t>
            </a:r>
            <a:endParaRPr sz="2100" b="1">
              <a:solidFill>
                <a:srgbClr val="F8C85D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685800" y="1428750"/>
            <a:ext cx="10763250" cy="0"/>
          </a:xfrm>
          <a:prstGeom prst="line">
            <a:avLst/>
          </a:prstGeom>
          <a:ln w="9525">
            <a:solidFill>
              <a:srgbClr val="E4EDF5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690370" y="1752600"/>
            <a:ext cx="3200400" cy="40195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1957070" y="20383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E778E"/>
                </a:solidFill>
              </a:defRPr>
            </a:pPr>
            <a:r>
              <a:rPr sz="1350" b="1">
                <a:solidFill>
                  <a:srgbClr val="5E778E"/>
                </a:solidFill>
              </a:rPr>
              <a:t>进度口径</a:t>
            </a:r>
            <a:endParaRPr sz="1350" b="1">
              <a:solidFill>
                <a:srgbClr val="5E778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957070" y="2419350"/>
            <a:ext cx="283464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32238"/>
                </a:solidFill>
              </a:defRPr>
            </a:pPr>
            <a:r>
              <a:rPr sz="2100" b="1">
                <a:solidFill>
                  <a:srgbClr val="132238"/>
                </a:solidFill>
              </a:rPr>
              <a:t>比赛四项主任务都已有实现与验证记录。</a:t>
            </a:r>
            <a:endParaRPr sz="2100" b="1">
              <a:solidFill>
                <a:srgbClr val="132238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131695" y="3524250"/>
            <a:ext cx="2343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778E"/>
                </a:solidFill>
              </a:defRPr>
            </a:pPr>
            <a:r>
              <a:rPr lang="zh-CN" altLang="en-US" sz="1350" b="0">
                <a:solidFill>
                  <a:srgbClr val="5E778E"/>
                </a:solidFill>
              </a:rPr>
              <a:t>系统已稳定运行；</a:t>
            </a:r>
            <a:endParaRPr lang="zh-CN" altLang="en-US" sz="1350" b="0">
              <a:solidFill>
                <a:srgbClr val="5E778E"/>
              </a:solidFill>
            </a:endParaRPr>
          </a:p>
          <a:p>
            <a:pPr algn="l">
              <a:defRPr sz="1350" b="0">
                <a:solidFill>
                  <a:srgbClr val="5E778E"/>
                </a:solidFill>
              </a:defRPr>
            </a:pPr>
            <a:r>
              <a:rPr lang="zh-CN" altLang="en-US" sz="1350" b="0">
                <a:solidFill>
                  <a:srgbClr val="5E778E"/>
                </a:solidFill>
              </a:rPr>
              <a:t>已完成端侧目标检测能力；</a:t>
            </a:r>
            <a:endParaRPr lang="zh-CN" altLang="en-US" sz="1350" b="0">
              <a:solidFill>
                <a:srgbClr val="5E778E"/>
              </a:solidFill>
            </a:endParaRPr>
          </a:p>
          <a:p>
            <a:pPr algn="l">
              <a:defRPr sz="1350" b="0">
                <a:solidFill>
                  <a:srgbClr val="5E778E"/>
                </a:solidFill>
              </a:defRPr>
            </a:pPr>
            <a:r>
              <a:rPr lang="zh-CN" altLang="en-US" sz="1350" b="0">
                <a:solidFill>
                  <a:srgbClr val="5E778E"/>
                </a:solidFill>
              </a:rPr>
              <a:t>性能指标达到赛题要求。</a:t>
            </a:r>
            <a:endParaRPr lang="zh-CN" altLang="en-US" sz="1350" b="0">
              <a:solidFill>
                <a:srgbClr val="5E778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1957070" y="5086350"/>
            <a:ext cx="933450" cy="32385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solidFill>
              <a:srgbClr val="FFF6DD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957070" y="5162550"/>
            <a:ext cx="933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32238"/>
                </a:solidFill>
              </a:defRPr>
            </a:pPr>
            <a:r>
              <a:rPr sz="1050" b="1">
                <a:solidFill>
                  <a:srgbClr val="132238"/>
                </a:solidFill>
              </a:rPr>
              <a:t>文档驱动</a:t>
            </a:r>
            <a:endParaRPr sz="1050" b="1">
              <a:solidFill>
                <a:srgbClr val="132238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2985770" y="5086350"/>
            <a:ext cx="933450" cy="32385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985770" y="5162550"/>
            <a:ext cx="933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32238"/>
                </a:solidFill>
              </a:defRPr>
            </a:pPr>
            <a:r>
              <a:rPr sz="1050" b="1">
                <a:solidFill>
                  <a:srgbClr val="132238"/>
                </a:solidFill>
              </a:rPr>
              <a:t>赛题对齐</a:t>
            </a:r>
            <a:endParaRPr sz="1050" b="1">
              <a:solidFill>
                <a:srgbClr val="132238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5176520" y="1752600"/>
            <a:ext cx="4311015" cy="4019550"/>
          </a:xfrm>
          <a:prstGeom prst="roundRect">
            <a:avLst>
              <a:gd name="adj" fmla="val 3791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5500370" y="2038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E778E"/>
                </a:solidFill>
              </a:defRPr>
            </a:pPr>
            <a:r>
              <a:rPr sz="1350" b="1">
                <a:solidFill>
                  <a:srgbClr val="5E778E"/>
                </a:solidFill>
              </a:rPr>
              <a:t>任务完成情况</a:t>
            </a:r>
            <a:endParaRPr sz="1350" b="1">
              <a:solidFill>
                <a:srgbClr val="5E778E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00370" y="25717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任务1 系统适配</a:t>
            </a:r>
            <a:endParaRPr sz="1500" b="1">
              <a:solidFill>
                <a:srgbClr val="132238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500370" y="2838450"/>
            <a:ext cx="1319530" cy="157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8EA6BA"/>
                </a:solidFill>
              </a:defRPr>
            </a:pPr>
            <a:r>
              <a:rPr sz="1200" b="0">
                <a:solidFill>
                  <a:srgbClr val="8EA6BA"/>
                </a:solidFill>
              </a:rPr>
              <a:t>HDMI / USB / 1080P / 触摸</a:t>
            </a:r>
            <a:endParaRPr sz="1200" b="0">
              <a:solidFill>
                <a:srgbClr val="8EA6BA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957820" y="2552700"/>
            <a:ext cx="876300" cy="32385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957820" y="2628900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32238"/>
                </a:solidFill>
              </a:defRPr>
            </a:pPr>
            <a:r>
              <a:rPr sz="1050" b="1">
                <a:solidFill>
                  <a:srgbClr val="132238"/>
                </a:solidFill>
              </a:rPr>
              <a:t>已完成</a:t>
            </a:r>
            <a:endParaRPr sz="1050" b="1">
              <a:solidFill>
                <a:srgbClr val="132238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500370" y="33528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任务2 CANN移植</a:t>
            </a:r>
            <a:endParaRPr sz="1500" b="1">
              <a:solidFill>
                <a:srgbClr val="132238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00370" y="36195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8EA6BA"/>
                </a:solidFill>
              </a:defRPr>
            </a:pPr>
            <a:r>
              <a:rPr sz="1200" b="0">
                <a:solidFill>
                  <a:srgbClr val="8EA6BA"/>
                </a:solidFill>
              </a:rPr>
              <a:t>脚本部署 / NNRT / pyACL</a:t>
            </a:r>
            <a:endParaRPr sz="1200" b="0">
              <a:solidFill>
                <a:srgbClr val="8EA6BA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7957820" y="3333750"/>
            <a:ext cx="876300" cy="32385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solidFill>
              <a:srgbClr val="FFF6DD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957820" y="3409950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32238"/>
                </a:solidFill>
              </a:defRPr>
            </a:pPr>
            <a:r>
              <a:rPr sz="1050" b="1">
                <a:solidFill>
                  <a:srgbClr val="132238"/>
                </a:solidFill>
              </a:rPr>
              <a:t>已完成</a:t>
            </a:r>
            <a:endParaRPr sz="1050" b="1">
              <a:solidFill>
                <a:srgbClr val="132238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00370" y="41338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任务3 YOLOv5应用</a:t>
            </a:r>
            <a:endParaRPr sz="1500" b="1">
              <a:solidFill>
                <a:srgbClr val="132238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500370" y="44005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8EA6BA"/>
                </a:solidFill>
              </a:defRPr>
            </a:pPr>
            <a:r>
              <a:rPr sz="1200" b="0">
                <a:solidFill>
                  <a:srgbClr val="8EA6BA"/>
                </a:solidFill>
              </a:rPr>
              <a:t>单图 / 批量 / CLI / JSON</a:t>
            </a:r>
            <a:endParaRPr sz="1200" b="0">
              <a:solidFill>
                <a:srgbClr val="8EA6BA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7957820" y="4114800"/>
            <a:ext cx="876300" cy="323850"/>
          </a:xfrm>
          <a:prstGeom prst="roundRect">
            <a:avLst>
              <a:gd name="adj" fmla="val 50000"/>
            </a:avLst>
          </a:prstGeom>
          <a:solidFill>
            <a:srgbClr val="FFF0EA"/>
          </a:solidFill>
          <a:ln w="0">
            <a:solidFill>
              <a:srgbClr val="FFF0EA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957820" y="4191000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32238"/>
                </a:solidFill>
              </a:defRPr>
            </a:pPr>
            <a:r>
              <a:rPr sz="1050" b="1">
                <a:solidFill>
                  <a:srgbClr val="132238"/>
                </a:solidFill>
              </a:rPr>
              <a:t>已完成</a:t>
            </a:r>
            <a:endParaRPr sz="1050" b="1">
              <a:solidFill>
                <a:srgbClr val="132238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500370" y="49149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任务4 性能优化</a:t>
            </a:r>
            <a:endParaRPr sz="1500" b="1">
              <a:solidFill>
                <a:srgbClr val="132238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500370" y="51816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8EA6BA"/>
                </a:solidFill>
              </a:defRPr>
            </a:pPr>
            <a:r>
              <a:rPr sz="1200" b="0">
                <a:solidFill>
                  <a:srgbClr val="8EA6BA"/>
                </a:solidFill>
              </a:rPr>
              <a:t>0.9GB / 42s / bootchart</a:t>
            </a:r>
            <a:endParaRPr sz="1200" b="0">
              <a:solidFill>
                <a:srgbClr val="8EA6BA"/>
              </a:solidFill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7957820" y="4895850"/>
            <a:ext cx="876300" cy="323850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 w="0">
            <a:solidFill>
              <a:srgbClr val="EEF0FF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7957820" y="4972050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32238"/>
                </a:solidFill>
              </a:defRPr>
            </a:pPr>
            <a:r>
              <a:rPr sz="1050" b="1">
                <a:solidFill>
                  <a:srgbClr val="132238"/>
                </a:solidFill>
              </a:rPr>
              <a:t>已达标</a:t>
            </a:r>
            <a:endParaRPr sz="1050" b="1">
              <a:solidFill>
                <a:srgbClr val="13223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9FDFF"/>
            </a:gs>
            <a:gs pos="45000">
              <a:srgbClr val="EEF7FF"/>
            </a:gs>
            <a:gs pos="76000">
              <a:srgbClr val="F5FFF9"/>
            </a:gs>
            <a:gs pos="100000">
              <a:srgbClr val="FFF7EE"/>
            </a:gs>
          </a:gsLst>
          <a:lin ang="108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-1143000" y="4476750"/>
            <a:ext cx="3429000" cy="342900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763000" y="-381000"/>
            <a:ext cx="2667000" cy="266700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9620250" y="4953000"/>
            <a:ext cx="2095500" cy="209550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solidFill>
              <a:srgbClr val="FFF6D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191500" y="762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D9B7"/>
          </a:solidFill>
          <a:ln w="0">
            <a:solidFill>
              <a:srgbClr val="FFD9B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8EA6BA"/>
                </a:solidFill>
              </a:defRPr>
            </a:pPr>
            <a:r>
              <a:rPr sz="975" b="1">
                <a:solidFill>
                  <a:srgbClr val="8EA6BA"/>
                </a:solidFill>
              </a:rPr>
              <a:t>0</a:t>
            </a:r>
            <a:r>
              <a:rPr lang="en-US" sz="975" b="1">
                <a:solidFill>
                  <a:srgbClr val="8EA6BA"/>
                </a:solidFill>
              </a:rPr>
              <a:t>2</a:t>
            </a:r>
            <a:r>
              <a:rPr sz="975" b="1">
                <a:solidFill>
                  <a:srgbClr val="8EA6BA"/>
                </a:solidFill>
              </a:rPr>
              <a:t> / TASK DETAIL</a:t>
            </a:r>
            <a:endParaRPr sz="975" b="1">
              <a:solidFill>
                <a:srgbClr val="8EA6B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8191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32238"/>
                </a:solidFill>
              </a:defRPr>
            </a:pPr>
            <a:r>
              <a:rPr sz="2550" b="1">
                <a:solidFill>
                  <a:srgbClr val="132238"/>
                </a:solidFill>
              </a:rPr>
              <a:t>任务1：系统适配</a:t>
            </a:r>
            <a:r>
              <a:rPr lang="en-US" sz="2550" b="1">
                <a:solidFill>
                  <a:srgbClr val="132238"/>
                </a:solidFill>
              </a:rPr>
              <a:t> - </a:t>
            </a:r>
            <a:r>
              <a:rPr lang="zh-CN" altLang="en-US" sz="2550" b="1">
                <a:solidFill>
                  <a:srgbClr val="132238"/>
                </a:solidFill>
              </a:rPr>
              <a:t>基础</a:t>
            </a:r>
            <a:r>
              <a:rPr lang="zh-CN" altLang="en-US" sz="2550" b="1">
                <a:solidFill>
                  <a:srgbClr val="132238"/>
                </a:solidFill>
              </a:rPr>
              <a:t>适配</a:t>
            </a:r>
            <a:endParaRPr lang="zh-CN" altLang="en-US" sz="2550" b="1">
              <a:solidFill>
                <a:srgbClr val="132238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685800" y="1428750"/>
            <a:ext cx="10763250" cy="0"/>
          </a:xfrm>
          <a:prstGeom prst="line">
            <a:avLst/>
          </a:prstGeom>
          <a:ln w="9525">
            <a:solidFill>
              <a:srgbClr val="E4EDF5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428750" y="1552575"/>
            <a:ext cx="4114800" cy="46101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圆角矩形 10"/>
          <p:cNvSpPr>
            <a:spLocks noGrp="1"/>
          </p:cNvSpPr>
          <p:nvPr/>
        </p:nvSpPr>
        <p:spPr>
          <a:xfrm>
            <a:off x="6191250" y="1552575"/>
            <a:ext cx="3162300" cy="46101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圆角矩形 11"/>
          <p:cNvSpPr>
            <a:spLocks noGrp="1"/>
          </p:cNvSpPr>
          <p:nvPr/>
        </p:nvSpPr>
        <p:spPr>
          <a:xfrm>
            <a:off x="1695450" y="1743075"/>
            <a:ext cx="1591310" cy="32385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solidFill>
              <a:srgbClr val="FFF6DD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695450" y="1819275"/>
            <a:ext cx="157226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32238"/>
                </a:solidFill>
              </a:defRPr>
            </a:pPr>
            <a:r>
              <a:rPr sz="1050" b="1">
                <a:solidFill>
                  <a:srgbClr val="132238"/>
                </a:solidFill>
              </a:rPr>
              <a:t>使 HDMI 屏幕正常输出</a:t>
            </a:r>
            <a:endParaRPr sz="1050" b="1">
              <a:solidFill>
                <a:srgbClr val="132238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457950" y="1800225"/>
            <a:ext cx="1295400" cy="32385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457950" y="1876425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32238"/>
                </a:solidFill>
              </a:defRPr>
            </a:pPr>
            <a:r>
              <a:rPr sz="1050" b="1">
                <a:solidFill>
                  <a:srgbClr val="132238"/>
                </a:solidFill>
              </a:rPr>
              <a:t>鼠标和键盘的适配</a:t>
            </a:r>
            <a:endParaRPr sz="1050" b="1">
              <a:solidFill>
                <a:srgbClr val="132238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638300" y="219075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8C85D"/>
                </a:solidFill>
              </a:defRPr>
            </a:pPr>
            <a:r>
              <a:rPr sz="1350" b="1">
                <a:solidFill>
                  <a:srgbClr val="F8C85D"/>
                </a:solidFill>
              </a:rPr>
              <a:t>•</a:t>
            </a:r>
            <a:endParaRPr sz="1350" b="1">
              <a:solidFill>
                <a:srgbClr val="F8C85D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847850" y="2171700"/>
            <a:ext cx="34480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设备编译烧录初始固件后，外接 HDMI 屏幕无图像输出，显示功能异常。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38300" y="304800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8C85D"/>
                </a:solidFill>
              </a:defRPr>
            </a:pPr>
            <a:r>
              <a:rPr sz="1350" b="1">
                <a:solidFill>
                  <a:srgbClr val="F8C85D"/>
                </a:solidFill>
              </a:rPr>
              <a:t>•</a:t>
            </a:r>
            <a:endParaRPr sz="1350" b="1">
              <a:solidFill>
                <a:srgbClr val="F8C85D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847850" y="3028950"/>
            <a:ext cx="34480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排查确认 0042 号补丁击打失败，源码中缺失 EGL/OpenGL 扩展函数动态加载逻辑，导致渲染链路中断。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638300" y="390525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8C85D"/>
                </a:solidFill>
              </a:defRPr>
            </a:pPr>
            <a:r>
              <a:rPr sz="1350" b="1">
                <a:solidFill>
                  <a:srgbClr val="F8C85D"/>
                </a:solidFill>
              </a:rPr>
              <a:t>•</a:t>
            </a:r>
            <a:endParaRPr sz="1350" b="1">
              <a:solidFill>
                <a:srgbClr val="F8C85D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847850" y="3886200"/>
            <a:ext cx="34480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手动追加补丁代码，补充 eglCreateImageKHR、glEGLImageTargetTexture2DOES 等扩展函数的动态地址获取逻辑。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457950" y="238125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8C85D"/>
                </a:solidFill>
              </a:defRPr>
            </a:pPr>
            <a:r>
              <a:rPr sz="1350" b="1">
                <a:solidFill>
                  <a:srgbClr val="F8C85D"/>
                </a:solidFill>
              </a:rPr>
              <a:t>•</a:t>
            </a:r>
            <a:endParaRPr sz="1350" b="1">
              <a:solidFill>
                <a:srgbClr val="F8C85D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0" y="2362200"/>
            <a:ext cx="2343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HDMI 接口异常时，先通过 evtest 监听输入事件，确认 USB 鼠标和键盘功能正常。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457950" y="352425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8C85D"/>
                </a:solidFill>
              </a:defRPr>
            </a:pPr>
            <a:r>
              <a:rPr sz="1350" b="1">
                <a:solidFill>
                  <a:srgbClr val="F8C85D"/>
                </a:solidFill>
              </a:rPr>
              <a:t>•</a:t>
            </a:r>
            <a:endParaRPr sz="1350" b="1">
              <a:solidFill>
                <a:srgbClr val="F8C85D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667500" y="3505200"/>
            <a:ext cx="2343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修复 HDMI 输出后，再次确认键鼠输入适配状态与显示联动均正常。</a:t>
            </a:r>
            <a:endParaRPr sz="1200" b="0">
              <a:solidFill>
                <a:srgbClr val="5E778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9FDFF"/>
            </a:gs>
            <a:gs pos="45000">
              <a:srgbClr val="EEF7FF"/>
            </a:gs>
            <a:gs pos="76000">
              <a:srgbClr val="F5FFF9"/>
            </a:gs>
            <a:gs pos="100000">
              <a:srgbClr val="FFF7EE"/>
            </a:gs>
          </a:gsLst>
          <a:lin ang="108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-1143000" y="4476750"/>
            <a:ext cx="3429000" cy="342900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763000" y="-381000"/>
            <a:ext cx="2667000" cy="266700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9620250" y="4953000"/>
            <a:ext cx="2095500" cy="209550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solidFill>
              <a:srgbClr val="FFF6D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191500" y="762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D9B7"/>
          </a:solidFill>
          <a:ln w="0">
            <a:solidFill>
              <a:srgbClr val="FFD9B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8EA6BA"/>
                </a:solidFill>
              </a:defRPr>
            </a:pPr>
            <a:r>
              <a:rPr sz="975" b="1">
                <a:solidFill>
                  <a:srgbClr val="8EA6BA"/>
                </a:solidFill>
              </a:rPr>
              <a:t>0</a:t>
            </a:r>
            <a:r>
              <a:rPr lang="en-US" sz="975" b="1">
                <a:solidFill>
                  <a:srgbClr val="8EA6BA"/>
                </a:solidFill>
              </a:rPr>
              <a:t>2</a:t>
            </a:r>
            <a:r>
              <a:rPr sz="975" b="1">
                <a:solidFill>
                  <a:srgbClr val="8EA6BA"/>
                </a:solidFill>
              </a:rPr>
              <a:t> / TASK DETAIL</a:t>
            </a:r>
            <a:endParaRPr sz="975" b="1">
              <a:solidFill>
                <a:srgbClr val="8EA6B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8191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32238"/>
                </a:solidFill>
              </a:defRPr>
            </a:pPr>
            <a:r>
              <a:rPr sz="2550" b="1">
                <a:solidFill>
                  <a:srgbClr val="132238"/>
                </a:solidFill>
              </a:rPr>
              <a:t>任务1：系统适配 - 进阶适配</a:t>
            </a:r>
            <a:endParaRPr sz="2550" b="1">
              <a:solidFill>
                <a:srgbClr val="132238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685800" y="1428750"/>
            <a:ext cx="10763250" cy="0"/>
          </a:xfrm>
          <a:prstGeom prst="line">
            <a:avLst/>
          </a:prstGeom>
          <a:ln w="9525">
            <a:solidFill>
              <a:srgbClr val="E4EDF5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428750" y="1552575"/>
            <a:ext cx="5610225" cy="46101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圆角矩形 10"/>
          <p:cNvSpPr>
            <a:spLocks noGrp="1"/>
          </p:cNvSpPr>
          <p:nvPr/>
        </p:nvSpPr>
        <p:spPr>
          <a:xfrm>
            <a:off x="7339330" y="1552575"/>
            <a:ext cx="3162300" cy="46101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圆角矩形 11"/>
          <p:cNvSpPr>
            <a:spLocks noGrp="1"/>
          </p:cNvSpPr>
          <p:nvPr/>
        </p:nvSpPr>
        <p:spPr>
          <a:xfrm>
            <a:off x="1695450" y="1743075"/>
            <a:ext cx="1295400" cy="32385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695450" y="1819275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32238"/>
                </a:solidFill>
              </a:defRPr>
            </a:pPr>
            <a:r>
              <a:rPr sz="1050" b="1">
                <a:solidFill>
                  <a:srgbClr val="132238"/>
                </a:solidFill>
              </a:rPr>
              <a:t>1080P 屏幕适配</a:t>
            </a:r>
            <a:endParaRPr sz="1050" b="1">
              <a:solidFill>
                <a:srgbClr val="132238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606030" y="1800225"/>
            <a:ext cx="1295400" cy="32385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606030" y="1876425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32238"/>
                </a:solidFill>
              </a:defRPr>
            </a:pPr>
            <a:r>
              <a:rPr sz="1050" b="1">
                <a:solidFill>
                  <a:srgbClr val="132238"/>
                </a:solidFill>
              </a:rPr>
              <a:t>usb 触摸屏适配</a:t>
            </a:r>
            <a:endParaRPr sz="1050" b="1">
              <a:solidFill>
                <a:srgbClr val="132238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638300" y="219075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8C85D"/>
                </a:solidFill>
              </a:defRPr>
            </a:pPr>
            <a:r>
              <a:rPr sz="1350" b="1">
                <a:solidFill>
                  <a:srgbClr val="F8C85D"/>
                </a:solidFill>
              </a:rPr>
              <a:t>•</a:t>
            </a:r>
            <a:endParaRPr sz="1350" b="1">
              <a:solidFill>
                <a:srgbClr val="F8C85D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847850" y="2171700"/>
            <a:ext cx="34480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1080P 屏幕已有输出，但存在黑边、拉伸、显示区域偏小等问题，分辨率正确但尺寸不匹配。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38300" y="276098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8C85D"/>
                </a:solidFill>
              </a:defRPr>
            </a:pPr>
            <a:r>
              <a:rPr sz="1350" b="1">
                <a:solidFill>
                  <a:srgbClr val="F8C85D"/>
                </a:solidFill>
              </a:rPr>
              <a:t>•</a:t>
            </a:r>
            <a:endParaRPr sz="1350" b="1">
              <a:solidFill>
                <a:srgbClr val="F8C85D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847850" y="2741930"/>
            <a:ext cx="1788795" cy="12528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进一步定位为 EDID / 兜底时序与实际物理尺寸不匹配，DRM 驱动只改了分辨率，未对像素时钟、同步极性和总时序做精准适配。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638300" y="404876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8C85D"/>
                </a:solidFill>
              </a:defRPr>
            </a:pPr>
            <a:r>
              <a:rPr sz="1350" b="1">
                <a:solidFill>
                  <a:srgbClr val="F8C85D"/>
                </a:solidFill>
              </a:rPr>
              <a:t>•</a:t>
            </a:r>
            <a:endParaRPr sz="1350" b="1">
              <a:solidFill>
                <a:srgbClr val="F8C85D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847850" y="4029710"/>
            <a:ext cx="1804035" cy="11118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修改 drm_connector.cpp 逻辑，强制 1:1 点对点、关闭过扫描，并补充全屏 / 无缩放属性与时序微调。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606030" y="238125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8C85D"/>
                </a:solidFill>
              </a:defRPr>
            </a:pPr>
            <a:r>
              <a:rPr sz="1350" b="1">
                <a:solidFill>
                  <a:srgbClr val="F8C85D"/>
                </a:solidFill>
              </a:rPr>
              <a:t>•</a:t>
            </a:r>
            <a:endParaRPr sz="1350" b="1">
              <a:solidFill>
                <a:srgbClr val="F8C85D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15580" y="2362200"/>
            <a:ext cx="2343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连接 USB 触摸屏后曾出现帧率偏低、屏幕闪烁红光等异常现象。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06030" y="352425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8C85D"/>
                </a:solidFill>
              </a:defRPr>
            </a:pPr>
            <a:r>
              <a:rPr sz="1350" b="1">
                <a:solidFill>
                  <a:srgbClr val="F8C85D"/>
                </a:solidFill>
              </a:rPr>
              <a:t>•</a:t>
            </a:r>
            <a:endParaRPr sz="1350" b="1">
              <a:solidFill>
                <a:srgbClr val="F8C85D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815580" y="3505200"/>
            <a:ext cx="2343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切换到完成 1080P 分辨率适配的固件版本后，触摸屏与显示均恢复正常工作。</a:t>
            </a:r>
            <a:endParaRPr sz="1200" b="0">
              <a:solidFill>
                <a:srgbClr val="5E778E"/>
              </a:solidFill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2370" y="4476750"/>
            <a:ext cx="2630170" cy="1463675"/>
          </a:xfrm>
          <a:prstGeom prst="rect">
            <a:avLst/>
          </a:prstGeom>
        </p:spPr>
      </p:pic>
      <p:pic>
        <p:nvPicPr>
          <p:cNvPr id="31" name="图片 30" descr="ai-drawing-d7f1151a-65ab-43f9-99b2-883597779a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840" y="2679065"/>
            <a:ext cx="3402330" cy="34023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9FDFF"/>
            </a:gs>
            <a:gs pos="45000">
              <a:srgbClr val="EEF7FF"/>
            </a:gs>
            <a:gs pos="76000">
              <a:srgbClr val="F5FFF9"/>
            </a:gs>
            <a:gs pos="100000">
              <a:srgbClr val="FFF7EE"/>
            </a:gs>
          </a:gsLst>
          <a:lin ang="108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-1143000" y="4476750"/>
            <a:ext cx="3429000" cy="342900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763000" y="-381000"/>
            <a:ext cx="2667000" cy="266700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9620250" y="4953000"/>
            <a:ext cx="2095500" cy="209550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solidFill>
              <a:srgbClr val="FFF6D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191500" y="762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D9B7"/>
          </a:solidFill>
          <a:ln w="0">
            <a:solidFill>
              <a:srgbClr val="FFD9B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8EA6BA"/>
                </a:solidFill>
              </a:defRPr>
            </a:pPr>
            <a:r>
              <a:rPr sz="975" b="1">
                <a:solidFill>
                  <a:srgbClr val="8EA6BA"/>
                </a:solidFill>
              </a:rPr>
              <a:t>0</a:t>
            </a:r>
            <a:r>
              <a:rPr lang="en-US" sz="975" b="1">
                <a:solidFill>
                  <a:srgbClr val="8EA6BA"/>
                </a:solidFill>
              </a:rPr>
              <a:t>2</a:t>
            </a:r>
            <a:r>
              <a:rPr sz="975" b="1">
                <a:solidFill>
                  <a:srgbClr val="8EA6BA"/>
                </a:solidFill>
              </a:rPr>
              <a:t> / TASK DETAIL</a:t>
            </a:r>
            <a:endParaRPr sz="975" b="1">
              <a:solidFill>
                <a:srgbClr val="8EA6B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8191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32238"/>
                </a:solidFill>
              </a:defRPr>
            </a:pPr>
            <a:r>
              <a:rPr sz="2550" b="1">
                <a:solidFill>
                  <a:srgbClr val="132238"/>
                </a:solidFill>
              </a:rPr>
              <a:t>任务2：CANN 推理引擎移植</a:t>
            </a:r>
            <a:endParaRPr sz="2550" b="1">
              <a:solidFill>
                <a:srgbClr val="132238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685800" y="1428750"/>
            <a:ext cx="10763250" cy="0"/>
          </a:xfrm>
          <a:prstGeom prst="line">
            <a:avLst/>
          </a:prstGeom>
          <a:ln w="9525">
            <a:solidFill>
              <a:srgbClr val="E4EDF5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703070" y="1562100"/>
            <a:ext cx="4156075" cy="254508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圆角矩形 12"/>
          <p:cNvSpPr>
            <a:spLocks noGrp="1"/>
          </p:cNvSpPr>
          <p:nvPr/>
        </p:nvSpPr>
        <p:spPr>
          <a:xfrm>
            <a:off x="1969770" y="1752600"/>
            <a:ext cx="1374775" cy="32385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solidFill>
              <a:srgbClr val="FFF6DD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969770" y="1828800"/>
            <a:ext cx="13747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32238"/>
                </a:solidFill>
              </a:defRPr>
            </a:pPr>
            <a:r>
              <a:rPr sz="1050" b="1">
                <a:solidFill>
                  <a:srgbClr val="132238"/>
                </a:solidFill>
              </a:rPr>
              <a:t>已完成</a:t>
            </a:r>
            <a:endParaRPr sz="1050" b="1">
              <a:solidFill>
                <a:srgbClr val="132238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041525" y="2286000"/>
            <a:ext cx="303530" cy="3625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8C85D"/>
                </a:solidFill>
              </a:defRPr>
            </a:pPr>
            <a:r>
              <a:rPr sz="1350" b="1">
                <a:solidFill>
                  <a:srgbClr val="F8C85D"/>
                </a:solidFill>
              </a:rPr>
              <a:t>•</a:t>
            </a:r>
            <a:endParaRPr sz="1350" b="1">
              <a:solidFill>
                <a:srgbClr val="F8C85D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179320" y="2286000"/>
            <a:ext cx="352552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完成脚本部署与安装包推送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041525" y="2570480"/>
            <a:ext cx="303530" cy="3625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8C85D"/>
                </a:solidFill>
              </a:defRPr>
            </a:pPr>
            <a:r>
              <a:rPr sz="1350" b="1">
                <a:solidFill>
                  <a:srgbClr val="F8C85D"/>
                </a:solidFill>
              </a:rPr>
              <a:t>•</a:t>
            </a:r>
            <a:endParaRPr sz="1350" b="1">
              <a:solidFill>
                <a:srgbClr val="F8C85D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179320" y="2570480"/>
            <a:ext cx="352552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完成 CANN / NNRT 安装与 Python 依赖安装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041525" y="2854960"/>
            <a:ext cx="303530" cy="3625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8C85D"/>
                </a:solidFill>
              </a:defRPr>
            </a:pPr>
            <a:r>
              <a:rPr sz="1350" b="1">
                <a:solidFill>
                  <a:srgbClr val="F8C85D"/>
                </a:solidFill>
              </a:rPr>
              <a:t>•</a:t>
            </a:r>
            <a:endParaRPr sz="1350" b="1">
              <a:solidFill>
                <a:srgbClr val="F8C85D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179320" y="2854960"/>
            <a:ext cx="35255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完成环境变量配置脚本与运行时路径整理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647180" y="1562735"/>
            <a:ext cx="4234815" cy="254762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圆角矩形 14"/>
          <p:cNvSpPr>
            <a:spLocks noGrp="1"/>
          </p:cNvSpPr>
          <p:nvPr/>
        </p:nvSpPr>
        <p:spPr>
          <a:xfrm>
            <a:off x="7492365" y="1647825"/>
            <a:ext cx="1478915" cy="297815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492365" y="1717675"/>
            <a:ext cx="1478915" cy="157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32238"/>
                </a:solidFill>
              </a:defRPr>
            </a:pPr>
            <a:r>
              <a:rPr sz="1050" b="1">
                <a:solidFill>
                  <a:srgbClr val="132238"/>
                </a:solidFill>
              </a:rPr>
              <a:t>验证</a:t>
            </a:r>
            <a:r>
              <a:rPr lang="zh-CN" sz="1050" b="1">
                <a:solidFill>
                  <a:srgbClr val="132238"/>
                </a:solidFill>
              </a:rPr>
              <a:t>结果</a:t>
            </a:r>
            <a:endParaRPr lang="zh-CN" sz="1050" b="1">
              <a:solidFill>
                <a:srgbClr val="132238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191375" y="2193925"/>
            <a:ext cx="174625" cy="203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8C85D"/>
                </a:solidFill>
              </a:defRPr>
            </a:pPr>
            <a:r>
              <a:rPr sz="1350" b="1">
                <a:solidFill>
                  <a:srgbClr val="F8C85D"/>
                </a:solidFill>
              </a:rPr>
              <a:t>•</a:t>
            </a:r>
            <a:endParaRPr sz="1350" b="1">
              <a:solidFill>
                <a:srgbClr val="F8C85D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354570" y="2190750"/>
            <a:ext cx="313690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lang="zh-CN" altLang="en-US" sz="1200" b="0">
                <a:solidFill>
                  <a:srgbClr val="5E778E"/>
                </a:solidFill>
              </a:rPr>
              <a:t>设备成功识别 </a:t>
            </a:r>
            <a:r>
              <a:rPr lang="en-US" altLang="zh-CN" sz="1200" b="0">
                <a:solidFill>
                  <a:srgbClr val="5E778E"/>
                </a:solidFill>
              </a:rPr>
              <a:t>NPU</a:t>
            </a:r>
            <a:endParaRPr lang="en-US" altLang="zh-CN" sz="1200" b="0">
              <a:solidFill>
                <a:srgbClr val="5E778E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191375" y="2822575"/>
            <a:ext cx="174625" cy="203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8C85D"/>
                </a:solidFill>
              </a:defRPr>
            </a:pPr>
            <a:r>
              <a:rPr sz="1350" b="1">
                <a:solidFill>
                  <a:srgbClr val="F8C85D"/>
                </a:solidFill>
              </a:rPr>
              <a:t>•</a:t>
            </a:r>
            <a:endParaRPr sz="1350" b="1">
              <a:solidFill>
                <a:srgbClr val="F8C85D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354570" y="2819400"/>
            <a:ext cx="313690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lang="zh-CN" altLang="en-US" sz="1200" b="0">
                <a:solidFill>
                  <a:srgbClr val="5E778E"/>
                </a:solidFill>
              </a:rPr>
              <a:t>推理运行环境初始化成功</a:t>
            </a:r>
            <a:endParaRPr lang="zh-CN" altLang="en-US" sz="1200" b="0">
              <a:solidFill>
                <a:srgbClr val="5E778E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191375" y="3451225"/>
            <a:ext cx="174625" cy="203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8C85D"/>
                </a:solidFill>
              </a:defRPr>
            </a:pPr>
            <a:r>
              <a:rPr sz="1350" b="1">
                <a:solidFill>
                  <a:srgbClr val="F8C85D"/>
                </a:solidFill>
              </a:rPr>
              <a:t>•</a:t>
            </a:r>
            <a:endParaRPr sz="1350" b="1">
              <a:solidFill>
                <a:srgbClr val="F8C85D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354570" y="3448050"/>
            <a:ext cx="313690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lang="zh-CN" altLang="en-US" sz="1200" b="0">
                <a:solidFill>
                  <a:srgbClr val="5E778E"/>
                </a:solidFill>
              </a:rPr>
              <a:t>支持后续模型部署</a:t>
            </a:r>
            <a:endParaRPr lang="zh-CN" altLang="en-US" sz="1200" b="0">
              <a:solidFill>
                <a:srgbClr val="5E778E"/>
              </a:solidFill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03070" y="4419600"/>
            <a:ext cx="9178290" cy="1360805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2040890" y="3131185"/>
            <a:ext cx="303530" cy="305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8C85D"/>
                </a:solidFill>
              </a:defRPr>
            </a:pPr>
            <a:r>
              <a:rPr sz="1350" b="1">
                <a:solidFill>
                  <a:srgbClr val="F8C85D"/>
                </a:solidFill>
              </a:rPr>
              <a:t>•</a:t>
            </a:r>
            <a:endParaRPr sz="1350" b="1">
              <a:solidFill>
                <a:srgbClr val="F8C85D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2179320" y="3131185"/>
            <a:ext cx="3263265" cy="55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lang="zh-CN" altLang="en-US" sz="1200" b="0">
                <a:solidFill>
                  <a:srgbClr val="5E778E"/>
                </a:solidFill>
              </a:rPr>
              <a:t>完成设备侧验证</a:t>
            </a:r>
            <a:endParaRPr lang="en-US" altLang="zh-CN" sz="1200" b="0">
              <a:solidFill>
                <a:srgbClr val="5E778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9FDFF"/>
            </a:gs>
            <a:gs pos="45000">
              <a:srgbClr val="EEF7FF"/>
            </a:gs>
            <a:gs pos="76000">
              <a:srgbClr val="F5FFF9"/>
            </a:gs>
            <a:gs pos="100000">
              <a:srgbClr val="FFF7EE"/>
            </a:gs>
          </a:gsLst>
          <a:lin ang="108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-1143000" y="4476750"/>
            <a:ext cx="3429000" cy="342900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763000" y="-381000"/>
            <a:ext cx="2667000" cy="266700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9620250" y="4953000"/>
            <a:ext cx="2095500" cy="209550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solidFill>
              <a:srgbClr val="FFF6D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191500" y="762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D9B7"/>
          </a:solidFill>
          <a:ln w="0">
            <a:solidFill>
              <a:srgbClr val="FFD9B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8EA6BA"/>
                </a:solidFill>
              </a:defRPr>
            </a:pPr>
            <a:r>
              <a:rPr sz="975" b="1">
                <a:solidFill>
                  <a:srgbClr val="8EA6BA"/>
                </a:solidFill>
              </a:rPr>
              <a:t>0</a:t>
            </a:r>
            <a:r>
              <a:rPr lang="en-US" sz="975" b="1">
                <a:solidFill>
                  <a:srgbClr val="8EA6BA"/>
                </a:solidFill>
              </a:rPr>
              <a:t>2</a:t>
            </a:r>
            <a:r>
              <a:rPr sz="975" b="1">
                <a:solidFill>
                  <a:srgbClr val="8EA6BA"/>
                </a:solidFill>
              </a:rPr>
              <a:t> / TASK DETAIL</a:t>
            </a:r>
            <a:endParaRPr sz="975" b="1">
              <a:solidFill>
                <a:srgbClr val="8EA6B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8191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32238"/>
                </a:solidFill>
              </a:defRPr>
            </a:pPr>
            <a:r>
              <a:rPr sz="2550" b="1">
                <a:solidFill>
                  <a:srgbClr val="132238"/>
                </a:solidFill>
              </a:rPr>
              <a:t>任务3：YOLOv5 目标检测应用</a:t>
            </a:r>
            <a:endParaRPr sz="2550" b="1">
              <a:solidFill>
                <a:srgbClr val="132238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685800" y="1428750"/>
            <a:ext cx="10763250" cy="0"/>
          </a:xfrm>
          <a:prstGeom prst="line">
            <a:avLst/>
          </a:prstGeom>
          <a:ln w="9525">
            <a:solidFill>
              <a:srgbClr val="E4EDF5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704850" y="1676400"/>
            <a:ext cx="3162300" cy="40005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圆角矩形 10"/>
          <p:cNvSpPr>
            <a:spLocks noGrp="1"/>
          </p:cNvSpPr>
          <p:nvPr/>
        </p:nvSpPr>
        <p:spPr>
          <a:xfrm>
            <a:off x="4514850" y="1676400"/>
            <a:ext cx="3162300" cy="40005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圆角矩形 12"/>
          <p:cNvSpPr>
            <a:spLocks noGrp="1"/>
          </p:cNvSpPr>
          <p:nvPr/>
        </p:nvSpPr>
        <p:spPr>
          <a:xfrm>
            <a:off x="971550" y="186690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FFF0EA"/>
          </a:solidFill>
          <a:ln w="0">
            <a:solidFill>
              <a:srgbClr val="FFF0E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71550" y="19431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32238"/>
                </a:solidFill>
              </a:defRPr>
            </a:pPr>
            <a:r>
              <a:rPr sz="1050" b="1">
                <a:solidFill>
                  <a:srgbClr val="132238"/>
                </a:solidFill>
              </a:rPr>
              <a:t>模型转换</a:t>
            </a:r>
            <a:endParaRPr sz="1050" b="1">
              <a:solidFill>
                <a:srgbClr val="132238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781550" y="1866900"/>
            <a:ext cx="1104900" cy="32385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781550" y="1943100"/>
            <a:ext cx="1104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32238"/>
                </a:solidFill>
              </a:defRPr>
            </a:pPr>
            <a:r>
              <a:rPr sz="1050" b="1">
                <a:solidFill>
                  <a:srgbClr val="132238"/>
                </a:solidFill>
              </a:rPr>
              <a:t>链路验证</a:t>
            </a:r>
            <a:endParaRPr sz="1050" b="1">
              <a:solidFill>
                <a:srgbClr val="132238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71550" y="3129915"/>
            <a:ext cx="133350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9D73"/>
                </a:solidFill>
              </a:defRPr>
            </a:pPr>
            <a:r>
              <a:rPr sz="1350" b="1">
                <a:solidFill>
                  <a:srgbClr val="FF9D73"/>
                </a:solidFill>
              </a:rPr>
              <a:t>•</a:t>
            </a:r>
            <a:endParaRPr sz="1350" b="1">
              <a:solidFill>
                <a:srgbClr val="FF9D73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81100" y="3105150"/>
            <a:ext cx="2343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完成 ONNX 导出与 ATC 转 OM 流程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71550" y="369570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9D73"/>
                </a:solidFill>
              </a:defRPr>
            </a:pPr>
            <a:r>
              <a:rPr sz="1350" b="1">
                <a:solidFill>
                  <a:srgbClr val="FF9D73"/>
                </a:solidFill>
              </a:rPr>
              <a:t>•</a:t>
            </a:r>
            <a:endParaRPr sz="1350" b="1">
              <a:solidFill>
                <a:srgbClr val="FF9D7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181100" y="3676650"/>
            <a:ext cx="2343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完成 CLI 部署、一键运行与结果回传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71550" y="426720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9D73"/>
                </a:solidFill>
              </a:defRPr>
            </a:pPr>
            <a:r>
              <a:rPr sz="1350" b="1">
                <a:solidFill>
                  <a:srgbClr val="FF9D73"/>
                </a:solidFill>
              </a:rPr>
              <a:t>•</a:t>
            </a:r>
            <a:endParaRPr sz="1350" b="1">
              <a:solidFill>
                <a:srgbClr val="FF9D7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181100" y="4248150"/>
            <a:ext cx="2343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完成单图推理、批量推理与结果文件输出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781550" y="241935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9D73"/>
                </a:solidFill>
              </a:defRPr>
            </a:pPr>
            <a:r>
              <a:rPr sz="1350" b="1">
                <a:solidFill>
                  <a:srgbClr val="FF9D73"/>
                </a:solidFill>
              </a:rPr>
              <a:t>•</a:t>
            </a:r>
            <a:endParaRPr sz="1350" b="1">
              <a:solidFill>
                <a:srgbClr val="FF9D7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991100" y="2400300"/>
            <a:ext cx="2343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主流程已支持预处理、推理、NMS、绘框、保存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781550" y="304800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9D73"/>
                </a:solidFill>
              </a:defRPr>
            </a:pPr>
            <a:r>
              <a:rPr sz="1350" b="1">
                <a:solidFill>
                  <a:srgbClr val="FF9D73"/>
                </a:solidFill>
              </a:rPr>
              <a:t>•</a:t>
            </a:r>
            <a:endParaRPr sz="1350" b="1">
              <a:solidFill>
                <a:srgbClr val="FF9D7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991100" y="3028950"/>
            <a:ext cx="2343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已兼容 [1,25200,85] 与 [N,6] 两类输出张量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781550" y="367665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9D73"/>
                </a:solidFill>
              </a:defRPr>
            </a:pPr>
            <a:r>
              <a:rPr sz="1350" b="1">
                <a:solidFill>
                  <a:srgbClr val="FF9D73"/>
                </a:solidFill>
              </a:rPr>
              <a:t>•</a:t>
            </a:r>
            <a:endParaRPr sz="1350" b="1">
              <a:solidFill>
                <a:srgbClr val="FF9D73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91100" y="3657600"/>
            <a:ext cx="2343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PC 端 onnxruntime 冒烟链路可作为兜底验证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965835" y="2616200"/>
            <a:ext cx="367665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9D73"/>
                </a:solidFill>
              </a:defRPr>
            </a:pPr>
            <a:r>
              <a:rPr sz="1350" b="1">
                <a:solidFill>
                  <a:srgbClr val="FF9D73"/>
                </a:solidFill>
              </a:rPr>
              <a:t>•</a:t>
            </a:r>
            <a:endParaRPr sz="1350" b="1">
              <a:solidFill>
                <a:srgbClr val="FF9D73"/>
              </a:solidFill>
            </a:endParaRPr>
          </a:p>
        </p:txBody>
      </p:sp>
      <p:sp>
        <p:nvSpPr>
          <p:cNvPr id="43" name="文本框 42"/>
          <p:cNvSpPr txBox="1"/>
          <p:nvPr>
            <p:custDataLst>
              <p:tags r:id="rId14"/>
            </p:custDataLst>
          </p:nvPr>
        </p:nvSpPr>
        <p:spPr>
          <a:xfrm>
            <a:off x="1229995" y="2621280"/>
            <a:ext cx="24174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200">
                <a:solidFill>
                  <a:srgbClr val="5E778E"/>
                </a:solidFill>
              </a:rPr>
              <a:t>准备</a:t>
            </a:r>
            <a:r>
              <a:rPr lang="en-US" sz="1200">
                <a:solidFill>
                  <a:srgbClr val="5E778E"/>
                </a:solidFill>
              </a:rPr>
              <a:t> yolov5 ONNX </a:t>
            </a:r>
            <a:r>
              <a:rPr sz="1200">
                <a:solidFill>
                  <a:srgbClr val="5E778E"/>
                </a:solidFill>
              </a:rPr>
              <a:t>模型</a:t>
            </a:r>
            <a:endParaRPr sz="1200">
              <a:solidFill>
                <a:srgbClr val="5E778E"/>
              </a:solidFill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52105" y="3869690"/>
            <a:ext cx="3203575" cy="180721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73695" y="1676400"/>
            <a:ext cx="3133725" cy="17570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9FDFF"/>
            </a:gs>
            <a:gs pos="45000">
              <a:srgbClr val="EEF7FF"/>
            </a:gs>
            <a:gs pos="76000">
              <a:srgbClr val="F5FFF9"/>
            </a:gs>
            <a:gs pos="100000">
              <a:srgbClr val="FFF7EE"/>
            </a:gs>
          </a:gsLst>
          <a:lin ang="108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-1143000" y="4476750"/>
            <a:ext cx="3429000" cy="342900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763000" y="-381000"/>
            <a:ext cx="2667000" cy="266700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9620250" y="4953000"/>
            <a:ext cx="2095500" cy="209550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solidFill>
              <a:srgbClr val="FFF6D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191500" y="762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D9B7"/>
          </a:solidFill>
          <a:ln w="0">
            <a:solidFill>
              <a:srgbClr val="FFD9B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8EA6BA"/>
                </a:solidFill>
              </a:defRPr>
            </a:pPr>
            <a:r>
              <a:rPr lang="en-US" sz="975" b="1">
                <a:solidFill>
                  <a:srgbClr val="8EA6BA"/>
                </a:solidFill>
              </a:rPr>
              <a:t>02</a:t>
            </a:r>
            <a:r>
              <a:rPr sz="975" b="1">
                <a:solidFill>
                  <a:srgbClr val="8EA6BA"/>
                </a:solidFill>
              </a:rPr>
              <a:t> / </a:t>
            </a:r>
            <a:r>
              <a:rPr>
                <a:sym typeface="+mn-ea"/>
              </a:rPr>
              <a:t>TASK DETAIL</a:t>
            </a:r>
            <a:endParaRPr b="1">
              <a:solidFill>
                <a:srgbClr val="8EA6BA"/>
              </a:solidFill>
            </a:endParaRPr>
          </a:p>
          <a:p>
            <a:pPr algn="l">
              <a:defRPr sz="975" b="1">
                <a:solidFill>
                  <a:srgbClr val="8EA6BA"/>
                </a:solidFill>
              </a:defRPr>
            </a:pPr>
            <a:endParaRPr sz="975" b="1">
              <a:solidFill>
                <a:srgbClr val="8EA6B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8191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32238"/>
                </a:solidFill>
              </a:defRPr>
            </a:pPr>
            <a:r>
              <a:rPr sz="2550" b="1">
                <a:solidFill>
                  <a:srgbClr val="132238"/>
                </a:solidFill>
              </a:rPr>
              <a:t>CLI 结构、函数职责与输出兼容</a:t>
            </a:r>
            <a:endParaRPr sz="2550" b="1">
              <a:solidFill>
                <a:srgbClr val="132238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85800" y="1428750"/>
            <a:ext cx="10763250" cy="0"/>
          </a:xfrm>
          <a:prstGeom prst="line">
            <a:avLst/>
          </a:prstGeom>
          <a:ln w="9525">
            <a:solidFill>
              <a:srgbClr val="E4EDF5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685800" y="1790700"/>
            <a:ext cx="10953750" cy="371475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971550" y="209550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E778E"/>
                </a:solidFill>
              </a:defRPr>
            </a:pPr>
            <a:r>
              <a:rPr sz="1350" b="1">
                <a:solidFill>
                  <a:srgbClr val="5E778E"/>
                </a:solidFill>
              </a:rPr>
              <a:t>关键函数</a:t>
            </a:r>
            <a:endParaRPr sz="1350" b="1">
              <a:solidFill>
                <a:srgbClr val="5E778E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71550" y="251460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9D73"/>
                </a:solidFill>
              </a:defRPr>
            </a:pPr>
            <a:r>
              <a:rPr sz="1350" b="1">
                <a:solidFill>
                  <a:srgbClr val="FF9D73"/>
                </a:solidFill>
              </a:rPr>
              <a:t>•</a:t>
            </a:r>
            <a:endParaRPr sz="1350" b="1">
              <a:solidFill>
                <a:srgbClr val="FF9D7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81100" y="24955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778E"/>
                </a:solidFill>
              </a:defRPr>
            </a:pPr>
            <a:r>
              <a:rPr sz="1275" b="0">
                <a:solidFill>
                  <a:srgbClr val="5E778E"/>
                </a:solidFill>
              </a:rPr>
              <a:t>letterbox()：等比例缩放并填充到 640x640，避免目标变形</a:t>
            </a:r>
            <a:endParaRPr sz="1275" b="0">
              <a:solidFill>
                <a:srgbClr val="5E778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71550" y="293370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9D73"/>
                </a:solidFill>
              </a:defRPr>
            </a:pPr>
            <a:r>
              <a:rPr sz="1350" b="1">
                <a:solidFill>
                  <a:srgbClr val="FF9D73"/>
                </a:solidFill>
              </a:rPr>
              <a:t>•</a:t>
            </a:r>
            <a:endParaRPr sz="1350" b="1">
              <a:solidFill>
                <a:srgbClr val="FF9D7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181100" y="29146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778E"/>
                </a:solidFill>
              </a:defRPr>
            </a:pPr>
            <a:r>
              <a:rPr sz="1275" b="0">
                <a:solidFill>
                  <a:srgbClr val="5E778E"/>
                </a:solidFill>
              </a:rPr>
              <a:t>preprocess()：BGR-&gt;RGB、HWC-&gt;CHW、归一化，生成模型输入张量</a:t>
            </a:r>
            <a:endParaRPr sz="1275" b="0">
              <a:solidFill>
                <a:srgbClr val="5E778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71550" y="335280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9D73"/>
                </a:solidFill>
              </a:defRPr>
            </a:pPr>
            <a:r>
              <a:rPr sz="1350" b="1">
                <a:solidFill>
                  <a:srgbClr val="FF9D73"/>
                </a:solidFill>
              </a:rPr>
              <a:t>•</a:t>
            </a:r>
            <a:endParaRPr sz="1350" b="1">
              <a:solidFill>
                <a:srgbClr val="FF9D7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181100" y="33337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778E"/>
                </a:solidFill>
              </a:defRPr>
            </a:pPr>
            <a:r>
              <a:rPr sz="1275" b="0">
                <a:solidFill>
                  <a:srgbClr val="5E778E"/>
                </a:solidFill>
              </a:rPr>
              <a:t>InferEngine：自动选择 ais_bench（NPU）或 onnxruntime（CPU）后端</a:t>
            </a:r>
            <a:endParaRPr sz="1275" b="0">
              <a:solidFill>
                <a:srgbClr val="5E778E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71550" y="377190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9D73"/>
                </a:solidFill>
              </a:defRPr>
            </a:pPr>
            <a:r>
              <a:rPr sz="1350" b="1">
                <a:solidFill>
                  <a:srgbClr val="FF9D73"/>
                </a:solidFill>
              </a:rPr>
              <a:t>•</a:t>
            </a:r>
            <a:endParaRPr sz="1350" b="1">
              <a:solidFill>
                <a:srgbClr val="FF9D73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181100" y="37528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778E"/>
                </a:solidFill>
              </a:defRPr>
            </a:pPr>
            <a:r>
              <a:rPr sz="1275" b="0">
                <a:solidFill>
                  <a:srgbClr val="5E778E"/>
                </a:solidFill>
              </a:rPr>
              <a:t>postprocess()：解析输出、筛选候选框并执行 NMS</a:t>
            </a:r>
            <a:endParaRPr sz="1275" b="0">
              <a:solidFill>
                <a:srgbClr val="5E778E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71550" y="419100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9D73"/>
                </a:solidFill>
              </a:defRPr>
            </a:pPr>
            <a:r>
              <a:rPr sz="1350" b="1">
                <a:solidFill>
                  <a:srgbClr val="FF9D73"/>
                </a:solidFill>
              </a:rPr>
              <a:t>•</a:t>
            </a:r>
            <a:endParaRPr sz="1350" b="1">
              <a:solidFill>
                <a:srgbClr val="FF9D7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181100" y="41719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778E"/>
                </a:solidFill>
              </a:defRPr>
            </a:pPr>
            <a:r>
              <a:rPr sz="1275" b="0">
                <a:solidFill>
                  <a:srgbClr val="5E778E"/>
                </a:solidFill>
              </a:rPr>
              <a:t>draw_detections() / save_txt() / --json：输出图像、文本和结构化结果</a:t>
            </a:r>
            <a:endParaRPr sz="1275" b="0">
              <a:solidFill>
                <a:srgbClr val="5E778E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239000" y="2381250"/>
            <a:ext cx="3695700" cy="1066800"/>
          </a:xfrm>
          <a:prstGeom prst="roundRect">
            <a:avLst>
              <a:gd name="adj" fmla="val 14286"/>
            </a:avLst>
          </a:prstGeom>
          <a:solidFill>
            <a:srgbClr val="FFF0EA"/>
          </a:solidFill>
          <a:ln w="9525">
            <a:solidFill>
              <a:srgbClr val="FFF0E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486650" y="26098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标准输出格式</a:t>
            </a:r>
            <a:endParaRPr sz="1500" b="1">
              <a:solidFill>
                <a:srgbClr val="132238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86650" y="291465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778E"/>
                </a:solidFill>
              </a:defRPr>
            </a:pPr>
            <a:r>
              <a:rPr sz="1275" b="0">
                <a:solidFill>
                  <a:srgbClr val="5E778E"/>
                </a:solidFill>
              </a:rPr>
              <a:t>[1,25200,85]：25200 个候选框，每个框包含坐标、目标置信度和 80 类类别分数。</a:t>
            </a:r>
            <a:endParaRPr sz="1275" b="0">
              <a:solidFill>
                <a:srgbClr val="5E778E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7239000" y="3714750"/>
            <a:ext cx="3695700" cy="1066800"/>
          </a:xfrm>
          <a:prstGeom prst="roundRect">
            <a:avLst>
              <a:gd name="adj" fmla="val 14286"/>
            </a:avLst>
          </a:prstGeom>
          <a:solidFill>
            <a:srgbClr val="EAF5FF"/>
          </a:solidFill>
          <a:ln w="9525">
            <a:solidFill>
              <a:srgbClr val="EAF5F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486650" y="394335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NMS 后输出格式</a:t>
            </a:r>
            <a:endParaRPr sz="1500" b="1">
              <a:solidFill>
                <a:srgbClr val="132238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486650" y="424815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778E"/>
                </a:solidFill>
              </a:defRPr>
            </a:pPr>
            <a:r>
              <a:rPr sz="1275" b="0">
                <a:solidFill>
                  <a:srgbClr val="5E778E"/>
                </a:solidFill>
              </a:rPr>
              <a:t>[N,6]：x1、y1、x2、y2、score、class_id，本程序可自动识别并适配。</a:t>
            </a:r>
            <a:endParaRPr sz="1275" b="0">
              <a:solidFill>
                <a:srgbClr val="5E778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9FDFF"/>
            </a:gs>
            <a:gs pos="45000">
              <a:srgbClr val="EEF7FF"/>
            </a:gs>
            <a:gs pos="76000">
              <a:srgbClr val="F5FFF9"/>
            </a:gs>
            <a:gs pos="100000">
              <a:srgbClr val="FFF7EE"/>
            </a:gs>
          </a:gsLst>
          <a:lin ang="108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-1143000" y="4476750"/>
            <a:ext cx="3429000" cy="342900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763000" y="-381000"/>
            <a:ext cx="2667000" cy="266700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10920095" y="5876925"/>
            <a:ext cx="2095500" cy="209550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solidFill>
              <a:srgbClr val="FFF6D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191500" y="762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D9B7"/>
          </a:solidFill>
          <a:ln w="0">
            <a:solidFill>
              <a:srgbClr val="FFD9B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8EA6BA"/>
                </a:solidFill>
              </a:defRPr>
            </a:pPr>
            <a:r>
              <a:rPr lang="en-US" sz="975" b="1">
                <a:solidFill>
                  <a:srgbClr val="8EA6BA"/>
                </a:solidFill>
              </a:rPr>
              <a:t>02</a:t>
            </a:r>
            <a:r>
              <a:rPr sz="975" b="1">
                <a:solidFill>
                  <a:srgbClr val="8EA6BA"/>
                </a:solidFill>
              </a:rPr>
              <a:t> / </a:t>
            </a:r>
            <a:r>
              <a:rPr>
                <a:sym typeface="+mn-ea"/>
              </a:rPr>
              <a:t>TASK DETAIL</a:t>
            </a:r>
            <a:endParaRPr b="1">
              <a:solidFill>
                <a:srgbClr val="8EA6BA"/>
              </a:solidFill>
            </a:endParaRPr>
          </a:p>
          <a:p>
            <a:pPr algn="l">
              <a:defRPr sz="975" b="1">
                <a:solidFill>
                  <a:srgbClr val="8EA6BA"/>
                </a:solidFill>
              </a:defRPr>
            </a:pPr>
            <a:endParaRPr sz="975" b="1">
              <a:solidFill>
                <a:srgbClr val="8EA6BA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85800" y="1428750"/>
            <a:ext cx="10763250" cy="0"/>
          </a:xfrm>
          <a:prstGeom prst="line">
            <a:avLst/>
          </a:prstGeom>
          <a:ln w="9525">
            <a:solidFill>
              <a:srgbClr val="E4EDF5"/>
            </a:solidFill>
            <a:prstDash val="solid"/>
          </a:ln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225" y="1628775"/>
            <a:ext cx="7927340" cy="443230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695325" y="809625"/>
            <a:ext cx="4680585" cy="48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2550" b="1">
                <a:solidFill>
                  <a:srgbClr val="132238"/>
                </a:solidFill>
              </a:rPr>
              <a:t>应用主界面展示</a:t>
            </a:r>
            <a:endParaRPr sz="2550" b="1">
              <a:solidFill>
                <a:srgbClr val="132238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141460" y="1629410"/>
            <a:ext cx="2919095" cy="4409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b="1">
                <a:solidFill>
                  <a:srgbClr val="8EA6BA"/>
                </a:solidFill>
              </a:rPr>
              <a:t>右图为应用的主界面：</a:t>
            </a:r>
            <a:endParaRPr b="1">
              <a:solidFill>
                <a:srgbClr val="8EA6BA"/>
              </a:solidFill>
            </a:endParaRPr>
          </a:p>
          <a:p>
            <a:endParaRPr b="1">
              <a:solidFill>
                <a:srgbClr val="8EA6B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solidFill>
                  <a:srgbClr val="8EA6BA"/>
                </a:solidFill>
              </a:rPr>
              <a:t>点击选择图片，可以在相册中批量选择要识别的图片；中间的空白部分可以预览选择的图片</a:t>
            </a:r>
            <a:endParaRPr b="1">
              <a:solidFill>
                <a:srgbClr val="8EA6B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b="1">
              <a:solidFill>
                <a:srgbClr val="8EA6B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solidFill>
                  <a:srgbClr val="8EA6BA"/>
                </a:solidFill>
              </a:rPr>
              <a:t>点击开始识别，等待一段时间后结果将放到临时目录中</a:t>
            </a:r>
            <a:endParaRPr b="1">
              <a:solidFill>
                <a:srgbClr val="8EA6BA"/>
              </a:solidFill>
            </a:endParaRPr>
          </a:p>
          <a:p>
            <a:pPr>
              <a:buFont typeface="Arial" panose="020B0604020202020204" pitchFamily="34" charset="0"/>
              <a:buNone/>
            </a:pPr>
            <a:endParaRPr b="1">
              <a:solidFill>
                <a:srgbClr val="8EA6B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solidFill>
                  <a:srgbClr val="8EA6BA"/>
                </a:solidFill>
              </a:rPr>
              <a:t>可以将临时目录的图片永久保存，通过点击查看保存记录查看</a:t>
            </a:r>
            <a:endParaRPr b="1">
              <a:solidFill>
                <a:srgbClr val="8EA6B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b="1">
              <a:solidFill>
                <a:srgbClr val="8EA6BA"/>
              </a:solidFill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b="1">
                <a:solidFill>
                  <a:srgbClr val="132238"/>
                </a:solidFill>
              </a:rPr>
              <a:t>     </a:t>
            </a:r>
            <a:r>
              <a:rPr b="1">
                <a:solidFill>
                  <a:srgbClr val="132238"/>
                </a:solidFill>
              </a:rPr>
              <a:t>具体可查看视频介绍</a:t>
            </a:r>
            <a:endParaRPr b="1">
              <a:solidFill>
                <a:srgbClr val="13223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9FDFF"/>
            </a:gs>
            <a:gs pos="45000">
              <a:srgbClr val="EEF7FF"/>
            </a:gs>
            <a:gs pos="76000">
              <a:srgbClr val="F5FFF9"/>
            </a:gs>
            <a:gs pos="100000">
              <a:srgbClr val="FFF7EE"/>
            </a:gs>
          </a:gsLst>
          <a:lin ang="108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-1143000" y="4476750"/>
            <a:ext cx="3429000" cy="342900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763000" y="-381000"/>
            <a:ext cx="2667000" cy="266700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9620250" y="4953000"/>
            <a:ext cx="2095500" cy="209550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solidFill>
              <a:srgbClr val="FFF6D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191500" y="762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D9B7"/>
          </a:solidFill>
          <a:ln w="0">
            <a:solidFill>
              <a:srgbClr val="FFD9B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8EA6BA"/>
                </a:solidFill>
              </a:defRPr>
            </a:pPr>
            <a:r>
              <a:rPr sz="975" b="1">
                <a:solidFill>
                  <a:srgbClr val="8EA6BA"/>
                </a:solidFill>
              </a:rPr>
              <a:t>0</a:t>
            </a:r>
            <a:r>
              <a:rPr lang="en-US" sz="975" b="1">
                <a:solidFill>
                  <a:srgbClr val="8EA6BA"/>
                </a:solidFill>
              </a:rPr>
              <a:t>2</a:t>
            </a:r>
            <a:r>
              <a:rPr sz="975" b="1">
                <a:solidFill>
                  <a:srgbClr val="8EA6BA"/>
                </a:solidFill>
              </a:rPr>
              <a:t> / TASK DETAIL</a:t>
            </a:r>
            <a:endParaRPr sz="975" b="1">
              <a:solidFill>
                <a:srgbClr val="8EA6B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8191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32238"/>
                </a:solidFill>
              </a:defRPr>
            </a:pPr>
            <a:r>
              <a:rPr sz="2550" b="1">
                <a:solidFill>
                  <a:srgbClr val="132238"/>
                </a:solidFill>
              </a:rPr>
              <a:t>任务4：性能优化与指标测试</a:t>
            </a:r>
            <a:endParaRPr sz="2550" b="1">
              <a:solidFill>
                <a:srgbClr val="132238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685800" y="1428750"/>
            <a:ext cx="10763250" cy="0"/>
          </a:xfrm>
          <a:prstGeom prst="line">
            <a:avLst/>
          </a:prstGeom>
          <a:ln w="9525">
            <a:solidFill>
              <a:srgbClr val="E4EDF5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346075" y="1676400"/>
            <a:ext cx="3162300" cy="40005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圆角矩形 10"/>
          <p:cNvSpPr>
            <a:spLocks noGrp="1"/>
          </p:cNvSpPr>
          <p:nvPr/>
        </p:nvSpPr>
        <p:spPr>
          <a:xfrm>
            <a:off x="3869055" y="1676400"/>
            <a:ext cx="3162300" cy="40005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圆角矩形 12"/>
          <p:cNvSpPr>
            <a:spLocks noGrp="1"/>
          </p:cNvSpPr>
          <p:nvPr/>
        </p:nvSpPr>
        <p:spPr>
          <a:xfrm>
            <a:off x="612775" y="186690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 w="0">
            <a:solidFill>
              <a:srgbClr val="EEF0F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12775" y="19431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32238"/>
                </a:solidFill>
              </a:defRPr>
            </a:pPr>
            <a:r>
              <a:rPr sz="1050" b="1">
                <a:solidFill>
                  <a:srgbClr val="132238"/>
                </a:solidFill>
              </a:rPr>
              <a:t>优化内容</a:t>
            </a:r>
            <a:endParaRPr sz="1050" b="1">
              <a:solidFill>
                <a:srgbClr val="132238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135755" y="1866900"/>
            <a:ext cx="1104900" cy="32385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135755" y="1943100"/>
            <a:ext cx="1104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32238"/>
                </a:solidFill>
              </a:defRPr>
            </a:pPr>
            <a:r>
              <a:rPr sz="1050" b="1">
                <a:solidFill>
                  <a:srgbClr val="132238"/>
                </a:solidFill>
              </a:rPr>
              <a:t>结果验证</a:t>
            </a:r>
            <a:endParaRPr sz="1050" b="1">
              <a:solidFill>
                <a:srgbClr val="132238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12775" y="241935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9CB3FF"/>
                </a:solidFill>
              </a:defRPr>
            </a:pPr>
            <a:r>
              <a:rPr sz="1350" b="1">
                <a:solidFill>
                  <a:srgbClr val="9CB3FF"/>
                </a:solidFill>
              </a:rPr>
              <a:t>•</a:t>
            </a:r>
            <a:endParaRPr sz="1350" b="1">
              <a:solidFill>
                <a:srgbClr val="9CB3F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22325" y="2400300"/>
            <a:ext cx="2343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内存维度：MMZ、模块加载、VM 参数、ZRAM、NAPI、服务按需启动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12775" y="313436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9CB3FF"/>
                </a:solidFill>
              </a:defRPr>
            </a:pPr>
            <a:r>
              <a:rPr sz="1350" b="1">
                <a:solidFill>
                  <a:srgbClr val="9CB3FF"/>
                </a:solidFill>
              </a:rPr>
              <a:t>•</a:t>
            </a:r>
            <a:endParaRPr sz="1350" b="1">
              <a:solidFill>
                <a:srgbClr val="9CB3F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22325" y="3115310"/>
            <a:ext cx="2343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启动维度：模块延迟加载、post_boot 延迟服务、NAPI 精简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135755" y="241935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9CB3FF"/>
                </a:solidFill>
              </a:defRPr>
            </a:pPr>
            <a:r>
              <a:rPr sz="1350" b="1">
                <a:solidFill>
                  <a:srgbClr val="9CB3FF"/>
                </a:solidFill>
              </a:rPr>
              <a:t>•</a:t>
            </a:r>
            <a:endParaRPr sz="1350" b="1">
              <a:solidFill>
                <a:srgbClr val="9CB3FF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345305" y="2400300"/>
            <a:ext cx="2343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内存从 1.7GB 降至约 0.9GB，降幅约 50%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135755" y="304800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9CB3FF"/>
                </a:solidFill>
              </a:defRPr>
            </a:pPr>
            <a:r>
              <a:rPr sz="1350" b="1">
                <a:solidFill>
                  <a:srgbClr val="9CB3FF"/>
                </a:solidFill>
              </a:rPr>
              <a:t>•</a:t>
            </a:r>
            <a:endParaRPr sz="1350" b="1">
              <a:solidFill>
                <a:srgbClr val="9CB3F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345305" y="3028950"/>
            <a:ext cx="2343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启动时间从 50s 缩短至约 42s，降幅约 16%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135755" y="367665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9CB3FF"/>
                </a:solidFill>
              </a:defRPr>
            </a:pPr>
            <a:r>
              <a:rPr sz="1350" b="1">
                <a:solidFill>
                  <a:srgbClr val="9CB3FF"/>
                </a:solidFill>
              </a:rPr>
              <a:t>•</a:t>
            </a:r>
            <a:endParaRPr sz="1350" b="1">
              <a:solidFill>
                <a:srgbClr val="9CB3FF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345305" y="3657600"/>
            <a:ext cx="2343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可通过 free、lsmod、zram、bootchart 复核结果</a:t>
            </a:r>
            <a:endParaRPr sz="1200" b="0">
              <a:solidFill>
                <a:srgbClr val="5E778E"/>
              </a:solidFill>
            </a:endParaRPr>
          </a:p>
        </p:txBody>
      </p:sp>
      <p:pic>
        <p:nvPicPr>
          <p:cNvPr id="40" name="图片 39" descr="ai-drawing-cdc9c507-858a-4433-bb45-cd7d6c58387b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8525" y="1629410"/>
            <a:ext cx="4908550" cy="4908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9FDFF"/>
            </a:gs>
            <a:gs pos="45000">
              <a:srgbClr val="EEF7FF"/>
            </a:gs>
            <a:gs pos="76000">
              <a:srgbClr val="F5FFF9"/>
            </a:gs>
            <a:gs pos="100000">
              <a:srgbClr val="FFF7EE"/>
            </a:gs>
          </a:gsLst>
          <a:lin ang="108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-1143000" y="4476750"/>
            <a:ext cx="3429000" cy="342900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763000" y="-381000"/>
            <a:ext cx="2667000" cy="266700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9620250" y="4953000"/>
            <a:ext cx="2095500" cy="209550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solidFill>
              <a:srgbClr val="FFF6D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191500" y="762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D9B7"/>
          </a:solidFill>
          <a:ln w="0">
            <a:solidFill>
              <a:srgbClr val="FFD9B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8EA6BA"/>
                </a:solidFill>
              </a:defRPr>
            </a:pPr>
            <a:r>
              <a:rPr sz="975" b="1">
                <a:solidFill>
                  <a:srgbClr val="8EA6BA"/>
                </a:solidFill>
              </a:rPr>
              <a:t>0</a:t>
            </a:r>
            <a:r>
              <a:rPr lang="en-US" sz="975" b="1">
                <a:solidFill>
                  <a:srgbClr val="8EA6BA"/>
                </a:solidFill>
              </a:rPr>
              <a:t>3</a:t>
            </a:r>
            <a:r>
              <a:rPr sz="975" b="1">
                <a:solidFill>
                  <a:srgbClr val="8EA6BA"/>
                </a:solidFill>
              </a:rPr>
              <a:t> / </a:t>
            </a:r>
            <a:r>
              <a:rPr lang="en-US" altLang="zh-CN" sz="975" b="1">
                <a:solidFill>
                  <a:srgbClr val="8EA6BA"/>
                </a:solidFill>
              </a:rPr>
              <a:t>D</a:t>
            </a:r>
            <a:r>
              <a:rPr lang="en-US" altLang="zh-CN" sz="975" b="1">
                <a:solidFill>
                  <a:srgbClr val="8EA6BA"/>
                </a:solidFill>
              </a:rPr>
              <a:t>ELIVERABLES</a:t>
            </a:r>
            <a:endParaRPr lang="en-US" altLang="zh-CN" sz="975" b="1">
              <a:solidFill>
                <a:srgbClr val="8EA6B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8191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32238"/>
                </a:solidFill>
              </a:defRPr>
            </a:pPr>
            <a:r>
              <a:rPr sz="2550" b="1">
                <a:solidFill>
                  <a:srgbClr val="132238"/>
                </a:solidFill>
              </a:rPr>
              <a:t>文档驱动的进度控制</a:t>
            </a:r>
            <a:endParaRPr sz="2550" b="1">
              <a:solidFill>
                <a:srgbClr val="132238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85800" y="1428750"/>
            <a:ext cx="10763250" cy="0"/>
          </a:xfrm>
          <a:prstGeom prst="line">
            <a:avLst/>
          </a:prstGeom>
          <a:ln w="9525">
            <a:solidFill>
              <a:srgbClr val="E4EDF5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704850" y="1790700"/>
            <a:ext cx="4953000" cy="3600450"/>
          </a:xfrm>
          <a:prstGeom prst="roundRect">
            <a:avLst>
              <a:gd name="adj" fmla="val 4233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0" name="圆角矩形 9"/>
          <p:cNvSpPr>
            <a:spLocks noGrp="1"/>
          </p:cNvSpPr>
          <p:nvPr/>
        </p:nvSpPr>
        <p:spPr>
          <a:xfrm>
            <a:off x="6096000" y="1790700"/>
            <a:ext cx="5391150" cy="3600450"/>
          </a:xfrm>
          <a:prstGeom prst="roundRect">
            <a:avLst>
              <a:gd name="adj" fmla="val 4233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990600" y="20955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E778E"/>
                </a:solidFill>
              </a:defRPr>
            </a:pPr>
            <a:r>
              <a:rPr sz="1350" b="1">
                <a:solidFill>
                  <a:srgbClr val="5E778E"/>
                </a:solidFill>
              </a:rPr>
              <a:t>版本推进</a:t>
            </a:r>
            <a:endParaRPr sz="1350" b="1">
              <a:solidFill>
                <a:srgbClr val="5E778E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009650" y="24574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82345" y="2533650"/>
            <a:ext cx="427355" cy="2203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68B8FF"/>
                </a:solidFill>
              </a:defRPr>
            </a:pPr>
            <a:r>
              <a:rPr sz="1050" b="1">
                <a:solidFill>
                  <a:srgbClr val="68B8FF"/>
                </a:solidFill>
              </a:rPr>
              <a:t>01</a:t>
            </a:r>
            <a:endParaRPr sz="1050" b="1">
              <a:solidFill>
                <a:srgbClr val="68B8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543050" y="2457450"/>
            <a:ext cx="3581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V1.0-V1.1：补齐移植、编译、镜像制作与烧录记录</a:t>
            </a:r>
            <a:endParaRPr sz="1575" b="1">
              <a:solidFill>
                <a:srgbClr val="132238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009650" y="31623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89965" y="3229610"/>
            <a:ext cx="42037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68B8FF"/>
                </a:solidFill>
              </a:defRPr>
            </a:pPr>
            <a:r>
              <a:rPr sz="1050" b="1">
                <a:solidFill>
                  <a:srgbClr val="68B8FF"/>
                </a:solidFill>
              </a:rPr>
              <a:t>02</a:t>
            </a:r>
            <a:endParaRPr sz="1050" b="1">
              <a:solidFill>
                <a:srgbClr val="68B8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543050" y="3162300"/>
            <a:ext cx="3581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V1.2：新增 CANN / NNRT 安装、环境变量与 NPU 验证</a:t>
            </a:r>
            <a:endParaRPr sz="1575" b="1">
              <a:solidFill>
                <a:srgbClr val="132238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009650" y="38671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93775" y="3924935"/>
            <a:ext cx="415925" cy="2355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68B8FF"/>
                </a:solidFill>
              </a:defRPr>
            </a:pPr>
            <a:r>
              <a:rPr sz="1050" b="1">
                <a:solidFill>
                  <a:srgbClr val="68B8FF"/>
                </a:solidFill>
              </a:rPr>
              <a:t>03</a:t>
            </a:r>
            <a:endParaRPr sz="1050" b="1">
              <a:solidFill>
                <a:srgbClr val="68B8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543050" y="3867150"/>
            <a:ext cx="3581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V1.3-V1.4：新增 YOLOv5 CLI、批量推理与输出兼容</a:t>
            </a:r>
            <a:endParaRPr sz="1575" b="1">
              <a:solidFill>
                <a:srgbClr val="132238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009650" y="45720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94410" y="4639945"/>
            <a:ext cx="420370" cy="2165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68B8FF"/>
                </a:solidFill>
              </a:defRPr>
            </a:pPr>
            <a:r>
              <a:rPr sz="1050" b="1">
                <a:solidFill>
                  <a:srgbClr val="68B8FF"/>
                </a:solidFill>
              </a:rPr>
              <a:t>04</a:t>
            </a:r>
            <a:endParaRPr sz="1050" b="1">
              <a:solidFill>
                <a:srgbClr val="68B8F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543050" y="4572000"/>
            <a:ext cx="3581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V1.5-V1.8：补齐内存优化、启动优化与全文终稿</a:t>
            </a:r>
            <a:endParaRPr sz="1575" b="1">
              <a:solidFill>
                <a:srgbClr val="132238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381750" y="209550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E778E"/>
                </a:solidFill>
              </a:defRPr>
            </a:pPr>
            <a:r>
              <a:rPr sz="1350" b="1">
                <a:solidFill>
                  <a:srgbClr val="5E778E"/>
                </a:solidFill>
              </a:rPr>
              <a:t>当前判断</a:t>
            </a:r>
            <a:endParaRPr sz="1350" b="1">
              <a:solidFill>
                <a:srgbClr val="5E778E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381750" y="2533650"/>
            <a:ext cx="4533900" cy="781050"/>
          </a:xfrm>
          <a:prstGeom prst="roundRect">
            <a:avLst>
              <a:gd name="adj" fmla="val 19512"/>
            </a:avLst>
          </a:prstGeom>
          <a:solidFill>
            <a:srgbClr val="EAF5FF"/>
          </a:solidFill>
          <a:ln w="9525">
            <a:solidFill>
              <a:srgbClr val="EAF5F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528435" y="258127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主任务已闭环</a:t>
            </a:r>
            <a:endParaRPr sz="1650" b="1">
              <a:solidFill>
                <a:srgbClr val="132238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528435" y="2847975"/>
            <a:ext cx="3981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系统适配、NPU 推理、应用闭环和指标优化都有文档与结果支撑。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6381750" y="3448050"/>
            <a:ext cx="4533900" cy="781050"/>
          </a:xfrm>
          <a:prstGeom prst="roundRect">
            <a:avLst>
              <a:gd name="adj" fmla="val 19512"/>
            </a:avLst>
          </a:prstGeom>
          <a:solidFill>
            <a:srgbClr val="FFF6DD"/>
          </a:solidFill>
          <a:ln w="9525">
            <a:solidFill>
              <a:srgbClr val="FFF6DD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528435" y="35623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指标已达标</a:t>
            </a:r>
            <a:endParaRPr sz="1650" b="1">
              <a:solidFill>
                <a:srgbClr val="132238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528435" y="3829050"/>
            <a:ext cx="398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内存和启动时间都明显超过赛题要求的 10% 优化线。</a:t>
            </a:r>
            <a:endParaRPr sz="1200" b="0">
              <a:solidFill>
                <a:srgbClr val="5E778E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6381750" y="4362450"/>
            <a:ext cx="4533900" cy="781050"/>
          </a:xfrm>
          <a:prstGeom prst="roundRect">
            <a:avLst>
              <a:gd name="adj" fmla="val 19512"/>
            </a:avLst>
          </a:prstGeom>
          <a:solidFill>
            <a:srgbClr val="FFF0EA"/>
          </a:solidFill>
          <a:ln w="9525">
            <a:solidFill>
              <a:srgbClr val="FFF0EA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528435" y="44958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剩余工作聚焦展示</a:t>
            </a:r>
            <a:endParaRPr sz="1650" b="1">
              <a:solidFill>
                <a:srgbClr val="132238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528435" y="4762500"/>
            <a:ext cx="398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778E"/>
                </a:solidFill>
              </a:defRPr>
            </a:pPr>
            <a:r>
              <a:rPr sz="1200" b="0">
                <a:solidFill>
                  <a:srgbClr val="5E778E"/>
                </a:solidFill>
              </a:rPr>
              <a:t>后续主要是脚本组织、证据整理和答辩表达收口。</a:t>
            </a:r>
            <a:endParaRPr sz="1200" b="0">
              <a:solidFill>
                <a:srgbClr val="5E778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9FDFF"/>
            </a:gs>
            <a:gs pos="45000">
              <a:srgbClr val="EEF7FF"/>
            </a:gs>
            <a:gs pos="76000">
              <a:srgbClr val="F5FFF9"/>
            </a:gs>
            <a:gs pos="100000">
              <a:srgbClr val="FFF7EE"/>
            </a:gs>
          </a:gsLst>
          <a:lin ang="108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-1143000" y="4476750"/>
            <a:ext cx="3429000" cy="342900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763000" y="-381000"/>
            <a:ext cx="2667000" cy="266700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9620250" y="4953000"/>
            <a:ext cx="2095500" cy="209550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solidFill>
              <a:srgbClr val="FFF6D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191500" y="762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D9B7"/>
          </a:solidFill>
          <a:ln w="0">
            <a:solidFill>
              <a:srgbClr val="FFD9B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8EA6BA"/>
                </a:solidFill>
              </a:defRPr>
            </a:pPr>
            <a:r>
              <a:rPr lang="en-US" sz="975" b="1">
                <a:solidFill>
                  <a:srgbClr val="8EA6BA"/>
                </a:solidFill>
              </a:rPr>
              <a:t>0</a:t>
            </a:r>
            <a:r>
              <a:rPr sz="975" b="1">
                <a:solidFill>
                  <a:srgbClr val="8EA6BA"/>
                </a:solidFill>
              </a:rPr>
              <a:t>4 / TECHNICAL CONCLUSION</a:t>
            </a:r>
            <a:endParaRPr sz="975" b="1">
              <a:solidFill>
                <a:srgbClr val="8EA6B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8191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32238"/>
                </a:solidFill>
              </a:defRPr>
            </a:pPr>
            <a:r>
              <a:rPr sz="2550" b="1">
                <a:solidFill>
                  <a:srgbClr val="132238"/>
                </a:solidFill>
              </a:rPr>
              <a:t>汇报结论</a:t>
            </a:r>
            <a:endParaRPr sz="2550" b="1">
              <a:solidFill>
                <a:srgbClr val="132238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85800" y="1428750"/>
            <a:ext cx="10763250" cy="0"/>
          </a:xfrm>
          <a:prstGeom prst="line">
            <a:avLst/>
          </a:prstGeom>
          <a:ln w="9525">
            <a:solidFill>
              <a:srgbClr val="E4EDF5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19150" y="1676400"/>
            <a:ext cx="10344150" cy="384810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1200150" y="2152650"/>
            <a:ext cx="8191500" cy="829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32238"/>
                </a:solidFill>
              </a:defRPr>
            </a:pPr>
            <a:r>
              <a:rPr sz="2250" b="1">
                <a:solidFill>
                  <a:srgbClr val="132238"/>
                </a:solidFill>
              </a:rPr>
              <a:t>已经完整覆盖了从系统移植、CANN 迁移、YOLOv5 推理到性能优化验证的全链路实现。</a:t>
            </a:r>
            <a:endParaRPr sz="2250" b="1">
              <a:solidFill>
                <a:srgbClr val="132238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337185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9D73"/>
                </a:solidFill>
              </a:defRPr>
            </a:pPr>
            <a:r>
              <a:rPr sz="1350" b="1">
                <a:solidFill>
                  <a:srgbClr val="FF9D73"/>
                </a:solidFill>
              </a:rPr>
              <a:t>•</a:t>
            </a:r>
            <a:endParaRPr sz="1350" b="1">
              <a:solidFill>
                <a:srgbClr val="FF9D7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409700" y="335280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板级适配打通，OpenHarmony 标准版已能在启智 01 上稳定运行并完成基础外设适配</a:t>
            </a:r>
            <a:endParaRPr sz="1425" b="0">
              <a:solidFill>
                <a:srgbClr val="132238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00150" y="382905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9D73"/>
                </a:solidFill>
              </a:defRPr>
            </a:pPr>
            <a:r>
              <a:rPr sz="1350" b="1">
                <a:solidFill>
                  <a:srgbClr val="FF9D73"/>
                </a:solidFill>
              </a:rPr>
              <a:t>•</a:t>
            </a:r>
            <a:endParaRPr sz="1350" b="1">
              <a:solidFill>
                <a:srgbClr val="FF9D7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409700" y="381000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CANN / NNRT / pyACL 与 NPU 验证链路已经形成清晰迁移闭环</a:t>
            </a:r>
            <a:endParaRPr sz="1425" b="0">
              <a:solidFill>
                <a:srgbClr val="132238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200150" y="428625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9D73"/>
                </a:solidFill>
              </a:defRPr>
            </a:pPr>
            <a:r>
              <a:rPr sz="1350" b="1">
                <a:solidFill>
                  <a:srgbClr val="FF9D73"/>
                </a:solidFill>
              </a:rPr>
              <a:t>•</a:t>
            </a:r>
            <a:endParaRPr sz="1350" b="1">
              <a:solidFill>
                <a:srgbClr val="FF9D7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409700" y="426720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YOLOv5 CLI 推理链路完整，支持单图、批量、结果回传和输出格式兼容</a:t>
            </a:r>
            <a:endParaRPr sz="1425" b="0">
              <a:solidFill>
                <a:srgbClr val="132238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00150" y="474345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9D73"/>
                </a:solidFill>
              </a:defRPr>
            </a:pPr>
            <a:r>
              <a:rPr sz="1350" b="1">
                <a:solidFill>
                  <a:srgbClr val="FF9D73"/>
                </a:solidFill>
              </a:rPr>
              <a:t>•</a:t>
            </a:r>
            <a:endParaRPr sz="1350" b="1">
              <a:solidFill>
                <a:srgbClr val="FF9D7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409700" y="472440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系统级优化结果明确：内存约下降 50%，启动时间约缩短 16%</a:t>
            </a:r>
            <a:endParaRPr sz="1425" b="0">
              <a:solidFill>
                <a:srgbClr val="132238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9FDFF"/>
            </a:gs>
            <a:gs pos="45000">
              <a:srgbClr val="EEF7FF"/>
            </a:gs>
            <a:gs pos="76000">
              <a:srgbClr val="F5FFF9"/>
            </a:gs>
            <a:gs pos="100000">
              <a:srgbClr val="FFF7EE"/>
            </a:gs>
          </a:gsLst>
          <a:lin ang="108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-1143000" y="4476750"/>
            <a:ext cx="3429000" cy="342900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763000" y="-381000"/>
            <a:ext cx="2667000" cy="266700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9620250" y="4953000"/>
            <a:ext cx="2095500" cy="209550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solidFill>
              <a:srgbClr val="FFF6D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191500" y="762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D9B7"/>
          </a:solidFill>
          <a:ln w="0">
            <a:solidFill>
              <a:srgbClr val="FFD9B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8EA6BA"/>
                </a:solidFill>
              </a:defRPr>
            </a:pPr>
            <a:r>
              <a:rPr sz="975" b="1">
                <a:solidFill>
                  <a:srgbClr val="8EA6BA"/>
                </a:solidFill>
              </a:rPr>
              <a:t>0</a:t>
            </a:r>
            <a:r>
              <a:rPr lang="en-US" sz="975" b="1">
                <a:solidFill>
                  <a:srgbClr val="8EA6BA"/>
                </a:solidFill>
              </a:rPr>
              <a:t>5</a:t>
            </a:r>
            <a:r>
              <a:rPr sz="975" b="1">
                <a:solidFill>
                  <a:srgbClr val="8EA6BA"/>
                </a:solidFill>
              </a:rPr>
              <a:t> /</a:t>
            </a:r>
            <a:r>
              <a:rPr lang="en-US" sz="975" b="1">
                <a:solidFill>
                  <a:srgbClr val="8EA6BA"/>
                </a:solidFill>
              </a:rPr>
              <a:t> </a:t>
            </a:r>
            <a:r>
              <a:rPr lang="en-US" altLang="zh-CN" sz="975" b="1">
                <a:solidFill>
                  <a:srgbClr val="8EA6BA"/>
                </a:solidFill>
              </a:rPr>
              <a:t>PROGRESS PROCESS  </a:t>
            </a:r>
            <a:endParaRPr sz="975" b="1">
              <a:solidFill>
                <a:srgbClr val="8EA6B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8191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32238"/>
                </a:solidFill>
              </a:defRPr>
            </a:pPr>
            <a:r>
              <a:rPr lang="zh-CN" sz="2550" b="1">
                <a:solidFill>
                  <a:srgbClr val="132238"/>
                </a:solidFill>
              </a:rPr>
              <a:t>进度历程及小组</a:t>
            </a:r>
            <a:r>
              <a:rPr lang="zh-CN" sz="2550" b="1">
                <a:solidFill>
                  <a:srgbClr val="132238"/>
                </a:solidFill>
              </a:rPr>
              <a:t>分工</a:t>
            </a:r>
            <a:endParaRPr lang="zh-CN" sz="2550" b="1">
              <a:solidFill>
                <a:srgbClr val="132238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85800" y="1428750"/>
            <a:ext cx="10763250" cy="0"/>
          </a:xfrm>
          <a:prstGeom prst="line">
            <a:avLst/>
          </a:prstGeom>
          <a:ln w="9525">
            <a:solidFill>
              <a:srgbClr val="E4EDF5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1417955" y="1866900"/>
            <a:ext cx="9217660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64" name="圆角右箭头 63"/>
          <p:cNvSpPr/>
          <p:nvPr/>
        </p:nvSpPr>
        <p:spPr>
          <a:xfrm flipV="1">
            <a:off x="3001645" y="3124835"/>
            <a:ext cx="1141095" cy="787400"/>
          </a:xfrm>
          <a:prstGeom prst="bentArrow">
            <a:avLst>
              <a:gd name="adj1" fmla="val 25000"/>
              <a:gd name="adj2" fmla="val 24779"/>
              <a:gd name="adj3" fmla="val 25000"/>
              <a:gd name="adj4" fmla="val 43750"/>
            </a:avLst>
          </a:prstGeom>
          <a:solidFill>
            <a:schemeClr val="accent4">
              <a:lumMod val="60000"/>
              <a:lumOff val="4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5" name="圆角右箭头 54"/>
          <p:cNvSpPr/>
          <p:nvPr/>
        </p:nvSpPr>
        <p:spPr>
          <a:xfrm>
            <a:off x="3018155" y="2277110"/>
            <a:ext cx="1141095" cy="864235"/>
          </a:xfrm>
          <a:prstGeom prst="bentArrow">
            <a:avLst>
              <a:gd name="adj1" fmla="val 25000"/>
              <a:gd name="adj2" fmla="val 24779"/>
              <a:gd name="adj3" fmla="val 25000"/>
              <a:gd name="adj4" fmla="val 43750"/>
            </a:avLst>
          </a:prstGeom>
          <a:solidFill>
            <a:schemeClr val="accent4">
              <a:lumMod val="60000"/>
              <a:lumOff val="4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849755" y="3034030"/>
            <a:ext cx="6003290" cy="152400"/>
          </a:xfrm>
          <a:prstGeom prst="roundRect">
            <a:avLst>
              <a:gd name="adj" fmla="val 50000"/>
            </a:avLst>
          </a:prstGeom>
          <a:solidFill>
            <a:srgbClr val="EDF3F8"/>
          </a:solidFill>
          <a:ln w="0">
            <a:solidFill>
              <a:srgbClr val="EDF3F8"/>
            </a:solidFill>
            <a:prstDash val="solid"/>
          </a:ln>
        </p:spPr>
      </p:sp>
      <p:sp>
        <p:nvSpPr>
          <p:cNvPr id="38" name="圆角矩形 3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464421" y="3034171"/>
            <a:ext cx="603739" cy="15220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7" name="圆角矩形 3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24375" y="3034030"/>
            <a:ext cx="2790190" cy="1524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</a:ln>
        </p:spPr>
      </p:sp>
      <p:sp>
        <p:nvSpPr>
          <p:cNvPr id="35" name="圆角矩形 3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658745" y="3039110"/>
            <a:ext cx="1517015" cy="1524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</a:ln>
        </p:spPr>
      </p:sp>
      <p:sp>
        <p:nvSpPr>
          <p:cNvPr id="12" name="圆角矩形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849640" y="3034171"/>
            <a:ext cx="648766" cy="1522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161655" y="3024505"/>
            <a:ext cx="91821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32238"/>
                </a:solidFill>
              </a:defRPr>
            </a:pPr>
            <a:endParaRPr sz="1350" b="1">
              <a:solidFill>
                <a:srgbClr val="132238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361423" y="2862942"/>
            <a:ext cx="418558" cy="418558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0">
            <a:solidFill>
              <a:srgbClr val="68B8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343666" y="2961874"/>
            <a:ext cx="448365" cy="2295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M1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932305" y="4305300"/>
            <a:ext cx="1733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778E"/>
                </a:solidFill>
              </a:defRPr>
            </a:pPr>
            <a:endParaRPr sz="1275" b="0">
              <a:solidFill>
                <a:srgbClr val="5E778E"/>
              </a:solidFill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4126230" y="2289175"/>
            <a:ext cx="2645410" cy="417830"/>
            <a:chOff x="5368" y="4509"/>
            <a:chExt cx="4166" cy="658"/>
          </a:xfrm>
        </p:grpSpPr>
        <p:sp>
          <p:nvSpPr>
            <p:cNvPr id="19" name="圆角矩形 18"/>
            <p:cNvSpPr>
              <a:spLocks noGrp="1"/>
            </p:cNvSpPr>
            <p:nvPr>
              <p:custDataLst>
                <p:tags r:id="rId8"/>
              </p:custDataLst>
            </p:nvPr>
          </p:nvSpPr>
          <p:spPr>
            <a:xfrm>
              <a:off x="5445" y="4509"/>
              <a:ext cx="659" cy="659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0">
              <a:noFill/>
              <a:prstDash val="solid"/>
            </a:ln>
          </p:spPr>
        </p:sp>
        <p:grpSp>
          <p:nvGrpSpPr>
            <p:cNvPr id="56" name="组合 55"/>
            <p:cNvGrpSpPr/>
            <p:nvPr/>
          </p:nvGrpSpPr>
          <p:grpSpPr>
            <a:xfrm rot="0">
              <a:off x="5368" y="4664"/>
              <a:ext cx="4166" cy="414"/>
              <a:chOff x="5368" y="4664"/>
              <a:chExt cx="4166" cy="414"/>
            </a:xfrm>
          </p:grpSpPr>
          <p:sp>
            <p:nvSpPr>
              <p:cNvPr id="36" name="圆角矩形 35"/>
              <p:cNvSpPr>
                <a:spLocks noGrp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5872" y="4778"/>
                <a:ext cx="3663" cy="240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 w="0">
                <a:noFill/>
                <a:prstDash val="solid"/>
              </a:ln>
            </p:spPr>
          </p:sp>
          <p:sp>
            <p:nvSpPr>
              <p:cNvPr id="20" name="矩形 19"/>
              <p:cNvSpPr>
                <a:spLocks noGrp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5368" y="4664"/>
                <a:ext cx="818" cy="414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050" b="1">
                    <a:solidFill>
                      <a:srgbClr val="FFFFFF"/>
                    </a:solidFill>
                  </a:defRPr>
                </a:pPr>
                <a:r>
                  <a:rPr sz="1050" b="1">
                    <a:solidFill>
                      <a:srgbClr val="FFFFFF"/>
                    </a:solidFill>
                  </a:rPr>
                  <a:t>M2</a:t>
                </a:r>
                <a:endParaRPr sz="1050" b="1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4" name="圆角矩形 2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194035" y="2862942"/>
            <a:ext cx="418558" cy="418558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0">
            <a:solidFill>
              <a:srgbClr val="F8C85D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197840" y="2949191"/>
            <a:ext cx="410948" cy="2543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M3</a:t>
            </a:r>
            <a:endParaRPr sz="1050" b="1">
              <a:solidFill>
                <a:srgbClr val="FFFFFF"/>
              </a:solidFill>
            </a:endParaRPr>
          </a:p>
        </p:txBody>
      </p:sp>
      <p:grpSp>
        <p:nvGrpSpPr>
          <p:cNvPr id="46" name="组合 45"/>
          <p:cNvGrpSpPr/>
          <p:nvPr>
            <p:custDataLst>
              <p:tags r:id="rId13"/>
            </p:custDataLst>
          </p:nvPr>
        </p:nvGrpSpPr>
        <p:grpSpPr>
          <a:xfrm>
            <a:off x="1604010" y="4054775"/>
            <a:ext cx="1335582" cy="1046396"/>
            <a:chOff x="1440" y="5910"/>
            <a:chExt cx="2106" cy="1650"/>
          </a:xfrm>
        </p:grpSpPr>
        <p:sp>
          <p:nvSpPr>
            <p:cNvPr id="16" name="圆角矩形 15"/>
            <p:cNvSpPr>
              <a:spLocks noGrp="1"/>
            </p:cNvSpPr>
            <p:nvPr>
              <p:custDataLst>
                <p:tags r:id="rId14"/>
              </p:custDataLst>
            </p:nvPr>
          </p:nvSpPr>
          <p:spPr>
            <a:xfrm>
              <a:off x="1440" y="5910"/>
              <a:ext cx="2106" cy="165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9525">
              <a:solidFill>
                <a:srgbClr val="E4EDF5"/>
              </a:solidFill>
              <a:prstDash val="soli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" name="文本框 38"/>
            <p:cNvSpPr txBox="1"/>
            <p:nvPr>
              <p:custDataLst>
                <p:tags r:id="rId15"/>
              </p:custDataLst>
            </p:nvPr>
          </p:nvSpPr>
          <p:spPr>
            <a:xfrm>
              <a:off x="1593" y="6060"/>
              <a:ext cx="1939" cy="13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sz="1275" b="1">
                  <a:solidFill>
                    <a:srgbClr val="5E778E"/>
                  </a:solidFill>
                  <a:sym typeface="+mn-ea"/>
                </a:rPr>
                <a:t>M1 : </a:t>
              </a:r>
              <a:r>
                <a:rPr sz="1275" b="1">
                  <a:solidFill>
                    <a:srgbClr val="5E778E"/>
                  </a:solidFill>
                  <a:sym typeface="+mn-ea"/>
                </a:rPr>
                <a:t>4.28 - 5.5</a:t>
              </a:r>
              <a:endParaRPr lang="zh-CN" altLang="en-US" b="1"/>
            </a:p>
            <a:p>
              <a:r>
                <a:rPr sz="1275">
                  <a:solidFill>
                    <a:srgbClr val="5E778E"/>
                  </a:solidFill>
                  <a:sym typeface="+mn-ea"/>
                </a:rPr>
                <a:t>源码拉取</a:t>
              </a:r>
              <a:endParaRPr sz="1275">
                <a:solidFill>
                  <a:srgbClr val="5E778E"/>
                </a:solidFill>
              </a:endParaRPr>
            </a:p>
            <a:p>
              <a:r>
                <a:rPr sz="1275">
                  <a:solidFill>
                    <a:srgbClr val="5E778E"/>
                  </a:solidFill>
                  <a:sym typeface="+mn-ea"/>
                </a:rPr>
                <a:t>项目编译</a:t>
              </a:r>
              <a:endParaRPr sz="1275">
                <a:solidFill>
                  <a:srgbClr val="5E778E"/>
                </a:solidFill>
              </a:endParaRPr>
            </a:p>
            <a:p>
              <a:r>
                <a:rPr sz="1275">
                  <a:solidFill>
                    <a:srgbClr val="5E778E"/>
                  </a:solidFill>
                  <a:sym typeface="+mn-ea"/>
                </a:rPr>
                <a:t>外设适配</a:t>
              </a:r>
              <a:endParaRPr lang="zh-CN" altLang="en-US"/>
            </a:p>
            <a:p>
              <a:endParaRPr lang="en-US" altLang="zh-CN"/>
            </a:p>
          </p:txBody>
        </p:sp>
      </p:grpSp>
      <p:sp>
        <p:nvSpPr>
          <p:cNvPr id="62" name="圆角矩形 61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4429760" y="3663315"/>
            <a:ext cx="2326005" cy="152400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</a:ln>
        </p:spPr>
      </p:sp>
      <p:grpSp>
        <p:nvGrpSpPr>
          <p:cNvPr id="47" name="组合 46"/>
          <p:cNvGrpSpPr/>
          <p:nvPr>
            <p:custDataLst>
              <p:tags r:id="rId17"/>
            </p:custDataLst>
          </p:nvPr>
        </p:nvGrpSpPr>
        <p:grpSpPr>
          <a:xfrm>
            <a:off x="3207385" y="4073525"/>
            <a:ext cx="1720850" cy="1046480"/>
            <a:chOff x="5430" y="5910"/>
            <a:chExt cx="3450" cy="1650"/>
          </a:xfrm>
        </p:grpSpPr>
        <p:sp>
          <p:nvSpPr>
            <p:cNvPr id="21" name="圆角矩形 20"/>
            <p:cNvSpPr>
              <a:spLocks noGrp="1"/>
            </p:cNvSpPr>
            <p:nvPr>
              <p:custDataLst>
                <p:tags r:id="rId18"/>
              </p:custDataLst>
            </p:nvPr>
          </p:nvSpPr>
          <p:spPr>
            <a:xfrm>
              <a:off x="5430" y="5910"/>
              <a:ext cx="3450" cy="165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9525">
              <a:solidFill>
                <a:srgbClr val="E4EDF5"/>
              </a:solidFill>
              <a:prstDash val="solid"/>
            </a:ln>
          </p:spPr>
        </p:sp>
        <p:sp>
          <p:nvSpPr>
            <p:cNvPr id="40" name="文本框 39"/>
            <p:cNvSpPr txBox="1"/>
            <p:nvPr>
              <p:custDataLst>
                <p:tags r:id="rId19"/>
              </p:custDataLst>
            </p:nvPr>
          </p:nvSpPr>
          <p:spPr>
            <a:xfrm>
              <a:off x="5687" y="6060"/>
              <a:ext cx="2936" cy="123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>
                <a:buClrTx/>
                <a:buSzTx/>
                <a:buNone/>
              </a:pPr>
              <a:r>
                <a:rPr sz="1275" b="1">
                  <a:solidFill>
                    <a:srgbClr val="5E778E"/>
                  </a:solidFill>
                </a:rPr>
                <a:t>M2 : 5.6 - 5.20</a:t>
              </a:r>
              <a:endParaRPr sz="1275" b="1">
                <a:solidFill>
                  <a:srgbClr val="5E778E"/>
                </a:solidFill>
              </a:endParaRPr>
            </a:p>
            <a:p>
              <a:pPr algn="l">
                <a:buClrTx/>
                <a:buSzTx/>
                <a:buNone/>
              </a:pPr>
              <a:r>
                <a:rPr sz="1275">
                  <a:solidFill>
                    <a:srgbClr val="5E778E"/>
                  </a:solidFill>
                </a:rPr>
                <a:t>CANN 推理引擎移植、验证、整理</a:t>
              </a:r>
              <a:endParaRPr sz="1275">
                <a:solidFill>
                  <a:srgbClr val="5E778E"/>
                </a:solidFill>
              </a:endParaRPr>
            </a:p>
            <a:p>
              <a:endParaRPr lang="zh-CN" altLang="en-US"/>
            </a:p>
            <a:p>
              <a:endParaRPr lang="en-US" altLang="zh-CN"/>
            </a:p>
          </p:txBody>
        </p:sp>
      </p:grpSp>
      <p:grpSp>
        <p:nvGrpSpPr>
          <p:cNvPr id="48" name="组合 47"/>
          <p:cNvGrpSpPr/>
          <p:nvPr>
            <p:custDataLst>
              <p:tags r:id="rId20"/>
            </p:custDataLst>
          </p:nvPr>
        </p:nvGrpSpPr>
        <p:grpSpPr>
          <a:xfrm>
            <a:off x="5243195" y="4085590"/>
            <a:ext cx="2975610" cy="1046480"/>
            <a:chOff x="9420" y="5910"/>
            <a:chExt cx="3450" cy="1650"/>
          </a:xfrm>
        </p:grpSpPr>
        <p:sp>
          <p:nvSpPr>
            <p:cNvPr id="26" name="圆角矩形 25"/>
            <p:cNvSpPr>
              <a:spLocks noGrp="1"/>
            </p:cNvSpPr>
            <p:nvPr>
              <p:custDataLst>
                <p:tags r:id="rId21"/>
              </p:custDataLst>
            </p:nvPr>
          </p:nvSpPr>
          <p:spPr>
            <a:xfrm>
              <a:off x="9420" y="5910"/>
              <a:ext cx="3450" cy="165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9525">
              <a:solidFill>
                <a:srgbClr val="E4EDF5"/>
              </a:solidFill>
              <a:prstDash val="solid"/>
            </a:ln>
          </p:spPr>
        </p:sp>
        <p:sp>
          <p:nvSpPr>
            <p:cNvPr id="41" name="文本框 40"/>
            <p:cNvSpPr txBox="1"/>
            <p:nvPr>
              <p:custDataLst>
                <p:tags r:id="rId22"/>
              </p:custDataLst>
            </p:nvPr>
          </p:nvSpPr>
          <p:spPr>
            <a:xfrm>
              <a:off x="9625" y="6060"/>
              <a:ext cx="3189" cy="13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>
                <a:buClrTx/>
                <a:buSzTx/>
                <a:buNone/>
              </a:pPr>
              <a:r>
                <a:rPr sz="1275" b="1">
                  <a:solidFill>
                    <a:srgbClr val="5E778E"/>
                  </a:solidFill>
                </a:rPr>
                <a:t>M3 : 5.6 - 6.1</a:t>
              </a:r>
              <a:r>
                <a:rPr lang="en-US" sz="1275" b="1">
                  <a:solidFill>
                    <a:srgbClr val="5E778E"/>
                  </a:solidFill>
                </a:rPr>
                <a:t>0</a:t>
              </a:r>
              <a:endParaRPr sz="1275" b="1">
                <a:solidFill>
                  <a:srgbClr val="5E778E"/>
                </a:solidFill>
              </a:endParaRPr>
            </a:p>
            <a:p>
              <a:pPr algn="l">
                <a:buClrTx/>
                <a:buSzTx/>
                <a:buNone/>
              </a:pPr>
              <a:r>
                <a:rPr sz="1275">
                  <a:solidFill>
                    <a:srgbClr val="5E778E"/>
                  </a:solidFill>
                </a:rPr>
                <a:t>yolo 模型转化</a:t>
              </a:r>
              <a:r>
                <a:rPr lang="en-US" sz="1275">
                  <a:solidFill>
                    <a:srgbClr val="5E778E"/>
                  </a:solidFill>
                </a:rPr>
                <a:t>      </a:t>
              </a:r>
              <a:r>
                <a:rPr sz="1275">
                  <a:solidFill>
                    <a:srgbClr val="5E778E"/>
                  </a:solidFill>
                </a:rPr>
                <a:t>om 模型部署验证</a:t>
              </a:r>
              <a:endParaRPr sz="1275">
                <a:solidFill>
                  <a:srgbClr val="5E778E"/>
                </a:solidFill>
              </a:endParaRPr>
            </a:p>
            <a:p>
              <a:pPr algn="l">
                <a:buClrTx/>
                <a:buSzTx/>
                <a:buNone/>
              </a:pPr>
              <a:r>
                <a:rPr sz="1275">
                  <a:solidFill>
                    <a:srgbClr val="5E778E"/>
                  </a:solidFill>
                </a:rPr>
                <a:t>撰写推理脚本</a:t>
              </a:r>
              <a:r>
                <a:rPr lang="en-US" sz="1275">
                  <a:solidFill>
                    <a:srgbClr val="5E778E"/>
                  </a:solidFill>
                </a:rPr>
                <a:t>      </a:t>
              </a:r>
              <a:r>
                <a:rPr sz="1275">
                  <a:solidFill>
                    <a:srgbClr val="5E778E"/>
                  </a:solidFill>
                </a:rPr>
                <a:t>编写</a:t>
              </a:r>
              <a:r>
                <a:rPr lang="zh-CN" sz="1275">
                  <a:solidFill>
                    <a:srgbClr val="5E778E"/>
                  </a:solidFill>
                </a:rPr>
                <a:t>物体识别</a:t>
              </a:r>
              <a:r>
                <a:rPr lang="zh-CN" sz="1275">
                  <a:solidFill>
                    <a:srgbClr val="5E778E"/>
                  </a:solidFill>
                </a:rPr>
                <a:t>应用</a:t>
              </a:r>
              <a:endParaRPr lang="zh-CN" sz="1275">
                <a:solidFill>
                  <a:srgbClr val="5E778E"/>
                </a:solidFill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23"/>
            </p:custDataLst>
          </p:nvPr>
        </p:nvGrpSpPr>
        <p:grpSpPr>
          <a:xfrm>
            <a:off x="8528050" y="4085590"/>
            <a:ext cx="1887220" cy="1046480"/>
            <a:chOff x="13410" y="5910"/>
            <a:chExt cx="3450" cy="1650"/>
          </a:xfrm>
        </p:grpSpPr>
        <p:sp>
          <p:nvSpPr>
            <p:cNvPr id="31" name="圆角矩形 30"/>
            <p:cNvSpPr>
              <a:spLocks noGrp="1"/>
            </p:cNvSpPr>
            <p:nvPr>
              <p:custDataLst>
                <p:tags r:id="rId24"/>
              </p:custDataLst>
            </p:nvPr>
          </p:nvSpPr>
          <p:spPr>
            <a:xfrm>
              <a:off x="13410" y="5910"/>
              <a:ext cx="3450" cy="165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9525">
              <a:solidFill>
                <a:srgbClr val="E4EDF5"/>
              </a:solidFill>
              <a:prstDash val="solid"/>
            </a:ln>
          </p:spPr>
        </p:sp>
        <p:sp>
          <p:nvSpPr>
            <p:cNvPr id="42" name="文本框 41"/>
            <p:cNvSpPr txBox="1"/>
            <p:nvPr>
              <p:custDataLst>
                <p:tags r:id="rId25"/>
              </p:custDataLst>
            </p:nvPr>
          </p:nvSpPr>
          <p:spPr>
            <a:xfrm>
              <a:off x="13667" y="6060"/>
              <a:ext cx="2936" cy="13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sz="1275" b="1">
                  <a:solidFill>
                    <a:srgbClr val="5E778E"/>
                  </a:solidFill>
                </a:rPr>
                <a:t>M4 : 5.6 - 6.10</a:t>
              </a:r>
              <a:endParaRPr lang="en-US" sz="1275" b="1">
                <a:solidFill>
                  <a:srgbClr val="5E778E"/>
                </a:solidFill>
              </a:endParaRPr>
            </a:p>
            <a:p>
              <a:r>
                <a:rPr lang="zh-CN" altLang="en-US" sz="1275">
                  <a:solidFill>
                    <a:srgbClr val="5E778E"/>
                  </a:solidFill>
                </a:rPr>
                <a:t>制定内存优化</a:t>
              </a:r>
              <a:r>
                <a:rPr lang="zh-CN" altLang="en-US" sz="1275">
                  <a:solidFill>
                    <a:srgbClr val="5E778E"/>
                  </a:solidFill>
                </a:rPr>
                <a:t>方案</a:t>
              </a:r>
              <a:endParaRPr lang="zh-CN" altLang="en-US" sz="1275">
                <a:solidFill>
                  <a:srgbClr val="5E778E"/>
                </a:solidFill>
              </a:endParaRPr>
            </a:p>
            <a:p>
              <a:r>
                <a:rPr lang="zh-CN" altLang="en-US" sz="1275">
                  <a:solidFill>
                    <a:srgbClr val="5E778E"/>
                  </a:solidFill>
                </a:rPr>
                <a:t>制定开机优化</a:t>
              </a:r>
              <a:r>
                <a:rPr lang="zh-CN" altLang="en-US" sz="1275">
                  <a:solidFill>
                    <a:srgbClr val="5E778E"/>
                  </a:solidFill>
                </a:rPr>
                <a:t>方案</a:t>
              </a:r>
              <a:endParaRPr lang="zh-CN" altLang="en-US" sz="1275">
                <a:solidFill>
                  <a:srgbClr val="5E778E"/>
                </a:solidFill>
              </a:endParaRPr>
            </a:p>
            <a:p>
              <a:r>
                <a:rPr lang="zh-CN" altLang="en-US" sz="1275">
                  <a:solidFill>
                    <a:srgbClr val="5E778E"/>
                  </a:solidFill>
                </a:rPr>
                <a:t>测试并验证</a:t>
              </a:r>
              <a:r>
                <a:rPr lang="zh-CN" altLang="en-US" sz="1275">
                  <a:solidFill>
                    <a:srgbClr val="5E778E"/>
                  </a:solidFill>
                </a:rPr>
                <a:t>方案</a:t>
              </a:r>
              <a:endParaRPr lang="zh-CN" altLang="en-US" sz="1275">
                <a:solidFill>
                  <a:srgbClr val="5E778E"/>
                </a:solidFill>
              </a:endParaRPr>
            </a:p>
          </p:txBody>
        </p:sp>
      </p:grpSp>
      <p:sp>
        <p:nvSpPr>
          <p:cNvPr id="60" name="圆角矩形 59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4158615" y="3492500"/>
            <a:ext cx="418465" cy="418465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0">
            <a:solidFill>
              <a:srgbClr val="7EDFD6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>
            <p:custDataLst>
              <p:tags r:id="rId27"/>
            </p:custDataLst>
          </p:nvPr>
        </p:nvSpPr>
        <p:spPr>
          <a:xfrm>
            <a:off x="4109720" y="3590925"/>
            <a:ext cx="519430" cy="262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</a:t>
            </a:r>
            <a:r>
              <a:rPr lang="en-US" sz="1050" b="1">
                <a:solidFill>
                  <a:srgbClr val="FFFFFF"/>
                </a:solidFill>
              </a:rPr>
              <a:t>4</a:t>
            </a:r>
            <a:endParaRPr lang="en-US" sz="1050" b="1">
              <a:solidFill>
                <a:srgbClr val="FFFFFF"/>
              </a:solidFill>
            </a:endParaRPr>
          </a:p>
        </p:txBody>
      </p:sp>
      <p:sp>
        <p:nvSpPr>
          <p:cNvPr id="66" name="圆角右箭头 65"/>
          <p:cNvSpPr/>
          <p:nvPr/>
        </p:nvSpPr>
        <p:spPr>
          <a:xfrm rot="5400000">
            <a:off x="6584315" y="2439035"/>
            <a:ext cx="605790" cy="647700"/>
          </a:xfrm>
          <a:prstGeom prst="bentArrow">
            <a:avLst>
              <a:gd name="adj1" fmla="val 25000"/>
              <a:gd name="adj2" fmla="val 24779"/>
              <a:gd name="adj3" fmla="val 25000"/>
              <a:gd name="adj4" fmla="val 4375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圆角右箭头 66"/>
          <p:cNvSpPr/>
          <p:nvPr/>
        </p:nvSpPr>
        <p:spPr>
          <a:xfrm rot="5400000" flipH="1">
            <a:off x="6559550" y="3180715"/>
            <a:ext cx="622935" cy="647700"/>
          </a:xfrm>
          <a:prstGeom prst="bentArrow">
            <a:avLst>
              <a:gd name="adj1" fmla="val 25000"/>
              <a:gd name="adj2" fmla="val 24779"/>
              <a:gd name="adj3" fmla="val 25000"/>
              <a:gd name="adj4" fmla="val 4375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>
            <p:custDataLst>
              <p:tags r:id="rId28"/>
            </p:custDataLst>
          </p:nvPr>
        </p:nvSpPr>
        <p:spPr>
          <a:xfrm>
            <a:off x="7154941" y="2906757"/>
            <a:ext cx="418558" cy="41855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</a:ln>
        </p:spPr>
      </p:sp>
      <p:sp>
        <p:nvSpPr>
          <p:cNvPr id="30" name="矩形 29"/>
          <p:cNvSpPr>
            <a:spLocks noGrp="1"/>
          </p:cNvSpPr>
          <p:nvPr>
            <p:custDataLst>
              <p:tags r:id="rId29"/>
            </p:custDataLst>
          </p:nvPr>
        </p:nvSpPr>
        <p:spPr>
          <a:xfrm>
            <a:off x="7101036" y="2997445"/>
            <a:ext cx="518125" cy="2714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</a:t>
            </a:r>
            <a:r>
              <a:rPr lang="en-US" sz="1050" b="1">
                <a:solidFill>
                  <a:srgbClr val="FFFFFF"/>
                </a:solidFill>
              </a:rPr>
              <a:t>5</a:t>
            </a:r>
            <a:endParaRPr lang="en-US" sz="1050" b="1">
              <a:solidFill>
                <a:srgbClr val="FFFFFF"/>
              </a:solidFill>
            </a:endParaRPr>
          </a:p>
        </p:txBody>
      </p:sp>
      <p:grpSp>
        <p:nvGrpSpPr>
          <p:cNvPr id="69" name="组合 68"/>
          <p:cNvGrpSpPr/>
          <p:nvPr>
            <p:custDataLst>
              <p:tags r:id="rId30"/>
            </p:custDataLst>
          </p:nvPr>
        </p:nvGrpSpPr>
        <p:grpSpPr>
          <a:xfrm>
            <a:off x="8081010" y="2418715"/>
            <a:ext cx="2451100" cy="1308417"/>
            <a:chOff x="13410" y="5910"/>
            <a:chExt cx="3450" cy="2063"/>
          </a:xfrm>
        </p:grpSpPr>
        <p:sp>
          <p:nvSpPr>
            <p:cNvPr id="70" name="圆角矩形 69"/>
            <p:cNvSpPr>
              <a:spLocks noGrp="1"/>
            </p:cNvSpPr>
            <p:nvPr>
              <p:custDataLst>
                <p:tags r:id="rId31"/>
              </p:custDataLst>
            </p:nvPr>
          </p:nvSpPr>
          <p:spPr>
            <a:xfrm>
              <a:off x="13410" y="5910"/>
              <a:ext cx="3450" cy="2063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9525">
              <a:solidFill>
                <a:srgbClr val="E4EDF5"/>
              </a:solidFill>
              <a:prstDash val="solid"/>
            </a:ln>
          </p:spPr>
        </p:sp>
        <p:sp>
          <p:nvSpPr>
            <p:cNvPr id="71" name="文本框 70"/>
            <p:cNvSpPr txBox="1"/>
            <p:nvPr>
              <p:custDataLst>
                <p:tags r:id="rId32"/>
              </p:custDataLst>
            </p:nvPr>
          </p:nvSpPr>
          <p:spPr>
            <a:xfrm>
              <a:off x="13667" y="6060"/>
              <a:ext cx="2936" cy="191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sz="1275" b="1">
                  <a:solidFill>
                    <a:srgbClr val="5E778E"/>
                  </a:solidFill>
                </a:rPr>
                <a:t>M5 : 6.10 - 6.30</a:t>
              </a:r>
              <a:endParaRPr lang="en-US" sz="1275" b="1">
                <a:solidFill>
                  <a:srgbClr val="5E778E"/>
                </a:solidFill>
              </a:endParaRPr>
            </a:p>
            <a:p>
              <a:r>
                <a:rPr lang="zh-CN" altLang="en-US" sz="1275">
                  <a:solidFill>
                    <a:srgbClr val="5E778E"/>
                  </a:solidFill>
                </a:rPr>
                <a:t>整理，调整和</a:t>
              </a:r>
              <a:r>
                <a:rPr lang="zh-CN" altLang="en-US" sz="1275">
                  <a:solidFill>
                    <a:srgbClr val="5E778E"/>
                  </a:solidFill>
                </a:rPr>
                <a:t>优化</a:t>
              </a:r>
              <a:endParaRPr lang="zh-CN" altLang="en-US" sz="1275">
                <a:solidFill>
                  <a:srgbClr val="5E778E"/>
                </a:solidFill>
              </a:endParaRPr>
            </a:p>
            <a:p>
              <a:r>
                <a:rPr lang="zh-CN" altLang="en-US" sz="1275">
                  <a:solidFill>
                    <a:srgbClr val="5E778E"/>
                  </a:solidFill>
                </a:rPr>
                <a:t>整理</a:t>
              </a:r>
              <a:r>
                <a:rPr lang="zh-CN" altLang="en-US" sz="1275">
                  <a:solidFill>
                    <a:srgbClr val="5E778E"/>
                  </a:solidFill>
                </a:rPr>
                <a:t>技术文档</a:t>
              </a:r>
              <a:endParaRPr lang="zh-CN" altLang="en-US" sz="1275">
                <a:solidFill>
                  <a:srgbClr val="5E778E"/>
                </a:solidFill>
              </a:endParaRPr>
            </a:p>
            <a:p>
              <a:r>
                <a:rPr lang="zh-CN" altLang="en-US" sz="1275">
                  <a:solidFill>
                    <a:srgbClr val="5E778E"/>
                  </a:solidFill>
                </a:rPr>
                <a:t>录制</a:t>
              </a:r>
              <a:r>
                <a:rPr lang="zh-CN" altLang="en-US" sz="1275">
                  <a:solidFill>
                    <a:srgbClr val="5E778E"/>
                  </a:solidFill>
                </a:rPr>
                <a:t>视频</a:t>
              </a:r>
              <a:endParaRPr lang="zh-CN" altLang="en-US" sz="1275">
                <a:solidFill>
                  <a:srgbClr val="5E778E"/>
                </a:solidFill>
              </a:endParaRPr>
            </a:p>
            <a:p>
              <a:r>
                <a:rPr lang="zh-CN" altLang="en-US" sz="1275">
                  <a:solidFill>
                    <a:srgbClr val="5E778E"/>
                  </a:solidFill>
                </a:rPr>
                <a:t>制作</a:t>
              </a:r>
              <a:r>
                <a:rPr lang="en-US" altLang="zh-CN" sz="1275">
                  <a:solidFill>
                    <a:srgbClr val="5E778E"/>
                  </a:solidFill>
                </a:rPr>
                <a:t>PPT</a:t>
              </a:r>
              <a:endParaRPr lang="zh-CN" altLang="en-US" sz="1275">
                <a:solidFill>
                  <a:srgbClr val="5E778E"/>
                </a:solidFill>
              </a:endParaRPr>
            </a:p>
            <a:p>
              <a:endParaRPr lang="zh-CN" altLang="en-US" sz="1275">
                <a:solidFill>
                  <a:srgbClr val="5E778E"/>
                </a:solidFill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9FDFF"/>
            </a:gs>
            <a:gs pos="45000">
              <a:srgbClr val="EEF7FF"/>
            </a:gs>
            <a:gs pos="76000">
              <a:srgbClr val="F5FFF9"/>
            </a:gs>
            <a:gs pos="100000">
              <a:srgbClr val="FFF7EE"/>
            </a:gs>
          </a:gsLst>
          <a:lin ang="108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-1143000" y="4476750"/>
            <a:ext cx="3429000" cy="342900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763000" y="-381000"/>
            <a:ext cx="2667000" cy="266700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9620250" y="4953000"/>
            <a:ext cx="2095500" cy="209550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solidFill>
              <a:srgbClr val="FFF6D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191500" y="762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D9B7"/>
          </a:solidFill>
          <a:ln w="0">
            <a:solidFill>
              <a:srgbClr val="FFD9B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8EA6BA"/>
                </a:solidFill>
              </a:defRPr>
            </a:pPr>
            <a:r>
              <a:rPr sz="975" b="1">
                <a:solidFill>
                  <a:srgbClr val="8EA6BA"/>
                </a:solidFill>
              </a:rPr>
              <a:t>06 / </a:t>
            </a:r>
            <a:r>
              <a:rPr lang="en-US" sz="975" b="1">
                <a:solidFill>
                  <a:srgbClr val="8EA6BA"/>
                </a:solidFill>
              </a:rPr>
              <a:t>GROUP DIVISION</a:t>
            </a:r>
            <a:endParaRPr sz="975" b="1">
              <a:solidFill>
                <a:srgbClr val="8EA6B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8191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32238"/>
                </a:solidFill>
              </a:defRPr>
            </a:pPr>
            <a:r>
              <a:rPr lang="zh-CN" sz="2550" b="1">
                <a:solidFill>
                  <a:srgbClr val="132238"/>
                </a:solidFill>
              </a:rPr>
              <a:t>进度历程及小组</a:t>
            </a:r>
            <a:r>
              <a:rPr lang="zh-CN" sz="2550" b="1">
                <a:solidFill>
                  <a:srgbClr val="132238"/>
                </a:solidFill>
              </a:rPr>
              <a:t>分工</a:t>
            </a:r>
            <a:endParaRPr lang="zh-CN" sz="2550" b="1">
              <a:solidFill>
                <a:srgbClr val="132238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85800" y="1428750"/>
            <a:ext cx="10763250" cy="0"/>
          </a:xfrm>
          <a:prstGeom prst="line">
            <a:avLst/>
          </a:prstGeom>
          <a:ln w="9525">
            <a:solidFill>
              <a:srgbClr val="E4EDF5"/>
            </a:solidFill>
            <a:prstDash val="solid"/>
          </a:ln>
        </p:spPr>
      </p:sp>
      <p:pic>
        <p:nvPicPr>
          <p:cNvPr id="10" name="图片 9" descr="ChatGPT Image 2026年6月30日 14_22_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9695" y="1748790"/>
            <a:ext cx="6680835" cy="445452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  <a:effectLst>
            <a:glow rad="63500">
              <a:schemeClr val="accent1">
                <a:satMod val="175000"/>
                <a:alpha val="15000"/>
              </a:schemeClr>
            </a:glow>
            <a:outerShdw blurRad="698500" dist="977900" dir="2700000" algn="tl" rotWithShape="0">
              <a:schemeClr val="tx2">
                <a:lumMod val="10000"/>
                <a:lumOff val="90000"/>
                <a:alpha val="40000"/>
              </a:schemeClr>
            </a:outerShdw>
            <a:softEdge rad="63500"/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9FDFF"/>
            </a:gs>
            <a:gs pos="45000">
              <a:srgbClr val="EEF7FF"/>
            </a:gs>
            <a:gs pos="76000">
              <a:srgbClr val="F5FFF9"/>
            </a:gs>
            <a:gs pos="100000">
              <a:srgbClr val="FFF7EE"/>
            </a:gs>
          </a:gsLst>
          <a:lin ang="108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-1143000" y="4476750"/>
            <a:ext cx="3429000" cy="342900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763000" y="-381000"/>
            <a:ext cx="2667000" cy="2667000"/>
          </a:xfrm>
          <a:prstGeom prst="roundRect">
            <a:avLst>
              <a:gd name="adj" fmla="val 50000"/>
            </a:avLst>
          </a:prstGeom>
          <a:solidFill>
            <a:srgbClr val="EDFCF8"/>
          </a:solidFill>
          <a:ln w="0">
            <a:solidFill>
              <a:srgbClr val="EDFCF8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9620250" y="4953000"/>
            <a:ext cx="2095500" cy="209550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0">
            <a:solidFill>
              <a:srgbClr val="FFF6D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191500" y="762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D9B7"/>
          </a:solidFill>
          <a:ln w="0">
            <a:solidFill>
              <a:srgbClr val="FFD9B7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800100" y="1409700"/>
            <a:ext cx="6629400" cy="371475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09470" y="2579370"/>
            <a:ext cx="4538980" cy="1024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32238"/>
                </a:solidFill>
              </a:defRPr>
            </a:pPr>
            <a:r>
              <a:rPr lang="zh-CN" sz="6600" b="1">
                <a:solidFill>
                  <a:srgbClr val="132238"/>
                </a:solidFill>
              </a:rPr>
              <a:t>感谢聆听</a:t>
            </a:r>
            <a:endParaRPr lang="zh-CN" sz="6600" b="1">
              <a:solidFill>
                <a:srgbClr val="132238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123950" y="4610100"/>
            <a:ext cx="2082800" cy="32385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57910" y="4659630"/>
            <a:ext cx="2081530" cy="2717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32238"/>
                </a:solidFill>
              </a:defRPr>
            </a:pPr>
            <a:r>
              <a:rPr lang="en-US" sz="1050" b="1">
                <a:solidFill>
                  <a:srgbClr val="132238"/>
                </a:solidFill>
              </a:rPr>
              <a:t> </a:t>
            </a:r>
            <a:r>
              <a:rPr lang="zh-CN" altLang="en-US" sz="1050" b="1">
                <a:solidFill>
                  <a:srgbClr val="132238"/>
                </a:solidFill>
              </a:rPr>
              <a:t>合肥工业大学</a:t>
            </a:r>
            <a:r>
              <a:rPr lang="en-US" altLang="zh-CN" sz="1050" b="1">
                <a:solidFill>
                  <a:srgbClr val="132238"/>
                </a:solidFill>
              </a:rPr>
              <a:t> - </a:t>
            </a:r>
            <a:r>
              <a:rPr lang="zh-CN" altLang="en-US" sz="1050" b="1">
                <a:solidFill>
                  <a:srgbClr val="132238"/>
                </a:solidFill>
              </a:rPr>
              <a:t>全都做得</a:t>
            </a:r>
            <a:r>
              <a:rPr lang="zh-CN" altLang="en-US" sz="1050" b="1">
                <a:solidFill>
                  <a:srgbClr val="132238"/>
                </a:solidFill>
              </a:rPr>
              <a:t>队</a:t>
            </a:r>
            <a:endParaRPr lang="zh-CN" altLang="en-US" sz="1050" b="1">
              <a:solidFill>
                <a:srgbClr val="132238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153400" y="1790700"/>
            <a:ext cx="2552700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458200" y="2038350"/>
            <a:ext cx="18669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Documented.</a:t>
            </a:r>
            <a:endParaRPr sz="1800" b="1">
              <a:solidFill>
                <a:srgbClr val="132238"/>
              </a:solidFill>
            </a:endParaRPr>
          </a:p>
          <a:p>
            <a:pPr algn="l"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Verified.</a:t>
            </a:r>
            <a:endParaRPr sz="1800" b="1">
              <a:solidFill>
                <a:srgbClr val="132238"/>
              </a:solidFill>
            </a:endParaRPr>
          </a:p>
          <a:p>
            <a:pPr algn="l"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Presentable.</a:t>
            </a:r>
            <a:endParaRPr sz="1800" b="1">
              <a:solidFill>
                <a:srgbClr val="132238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181975" y="3562985"/>
            <a:ext cx="2613660" cy="24282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ED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34" name="圆角矩形 33"/>
          <p:cNvSpPr>
            <a:spLocks noGrp="1"/>
          </p:cNvSpPr>
          <p:nvPr/>
        </p:nvSpPr>
        <p:spPr>
          <a:xfrm>
            <a:off x="8398510" y="3861435"/>
            <a:ext cx="939165" cy="299085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397240" y="3848735"/>
            <a:ext cx="119824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E778E"/>
                </a:solidFill>
              </a:defRPr>
            </a:pPr>
            <a:r>
              <a:rPr lang="zh-CN" sz="1350" b="1">
                <a:solidFill>
                  <a:srgbClr val="5E778E"/>
                </a:solidFill>
              </a:rPr>
              <a:t>小组成员</a:t>
            </a:r>
            <a:endParaRPr lang="zh-CN" sz="1350" b="1">
              <a:solidFill>
                <a:srgbClr val="5E778E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452485" y="4172585"/>
            <a:ext cx="1790700" cy="12465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32238"/>
                </a:solidFill>
              </a:defRPr>
            </a:pPr>
            <a:endParaRPr sz="1800" b="1">
              <a:solidFill>
                <a:srgbClr val="132238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395970" y="4247515"/>
            <a:ext cx="2259330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275">
                <a:solidFill>
                  <a:srgbClr val="5E778E"/>
                </a:solidFill>
                <a:sym typeface="+mn-ea"/>
              </a:rPr>
              <a:t>组长：潘孝成</a:t>
            </a:r>
            <a:endParaRPr sz="1275">
              <a:solidFill>
                <a:srgbClr val="5E778E"/>
              </a:solidFill>
            </a:endParaRPr>
          </a:p>
          <a:p>
            <a:r>
              <a:rPr sz="1275">
                <a:solidFill>
                  <a:srgbClr val="5E778E"/>
                </a:solidFill>
                <a:sym typeface="+mn-ea"/>
              </a:rPr>
              <a:t>组员：杨洋、芦甲翔</a:t>
            </a:r>
            <a:endParaRPr lang="zh-CN" altLang="en-US"/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398510" y="4926965"/>
            <a:ext cx="956945" cy="32004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0">
            <a:solidFill>
              <a:srgbClr val="EAF5F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452485" y="4933315"/>
            <a:ext cx="103505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E778E"/>
                </a:solidFill>
              </a:defRPr>
            </a:pPr>
            <a:r>
              <a:rPr lang="zh-CN" sz="1350" b="1">
                <a:solidFill>
                  <a:srgbClr val="5E778E"/>
                </a:solidFill>
              </a:rPr>
              <a:t>指导老师</a:t>
            </a:r>
            <a:endParaRPr lang="zh-CN" sz="1350" b="1">
              <a:solidFill>
                <a:srgbClr val="5E778E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473440" y="5329555"/>
            <a:ext cx="2078990" cy="3854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275">
                <a:solidFill>
                  <a:srgbClr val="5E778E"/>
                </a:solidFill>
                <a:sym typeface="+mn-ea"/>
              </a:rPr>
              <a:t>张本宏、</a:t>
            </a:r>
            <a:r>
              <a:rPr lang="zh-CN" altLang="en-US" sz="1275">
                <a:solidFill>
                  <a:srgbClr val="5E778E"/>
                </a:solidFill>
                <a:sym typeface="+mn-ea"/>
              </a:rPr>
              <a:t>李琳</a:t>
            </a:r>
            <a:endParaRPr lang="zh-CN" altLang="en-US" sz="1275">
              <a:solidFill>
                <a:srgbClr val="5E778E"/>
              </a:solidFill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6.5,&quot;left&quot;:76.5,&quot;top&quot;:132,&quot;width&quot;:790.8}"/>
</p:tagLst>
</file>

<file path=ppt/tags/tag2.xml><?xml version="1.0" encoding="utf-8"?>
<p:tagLst xmlns:p="http://schemas.openxmlformats.org/presentationml/2006/main">
  <p:tag name="KSO_WM_DIAGRAM_VIRTUALLY_FRAME" val="{&quot;height&quot;:316.5,&quot;left&quot;:76.5,&quot;top&quot;:132,&quot;width&quot;:790.8}"/>
</p:tagLst>
</file>

<file path=ppt/tags/tag3.xml><?xml version="1.0" encoding="utf-8"?>
<p:tagLst xmlns:p="http://schemas.openxmlformats.org/presentationml/2006/main">
  <p:tag name="KSO_WM_DIAGRAM_VIRTUALLY_FRAME" val="{&quot;height&quot;:316.5,&quot;left&quot;:76.5,&quot;top&quot;:132,&quot;width&quot;:790.8}"/>
</p:tagLst>
</file>

<file path=ppt/tags/tag4.xml><?xml version="1.0" encoding="utf-8"?>
<p:tagLst xmlns:p="http://schemas.openxmlformats.org/presentationml/2006/main">
  <p:tag name="KSO_WM_DIAGRAM_VIRTUALLY_FRAME" val="{&quot;height&quot;:316.5,&quot;left&quot;:76.5,&quot;top&quot;:132,&quot;width&quot;:790.8}"/>
</p:tagLst>
</file>

<file path=ppt/tags/tag5.xml><?xml version="1.0" encoding="utf-8"?>
<p:tagLst xmlns:p="http://schemas.openxmlformats.org/presentationml/2006/main">
  <p:tag name="KSO_WM_DIAGRAM_VIRTUALLY_FRAME" val="{&quot;height&quot;:316.5,&quot;left&quot;:76.5,&quot;top&quot;:132,&quot;width&quot;:790.8}"/>
</p:tagLst>
</file>

<file path=ppt/tags/tag6.xml><?xml version="1.0" encoding="utf-8"?>
<p:tagLst xmlns:p="http://schemas.openxmlformats.org/presentationml/2006/main">
  <p:tag name="KSO_WM_DIAGRAM_VIRTUALLY_FRAME" val="{&quot;height&quot;:316.5,&quot;left&quot;:76.5,&quot;top&quot;:132,&quot;width&quot;:790.8}"/>
</p:tagLst>
</file>

<file path=ppt/tags/tag7.xml><?xml version="1.0" encoding="utf-8"?>
<p:tagLst xmlns:p="http://schemas.openxmlformats.org/presentationml/2006/main">
  <p:tag name="KSO_WM_DIAGRAM_VIRTUALLY_FRAME" val="{&quot;height&quot;:316.5,&quot;left&quot;:76.5,&quot;top&quot;:132,&quot;width&quot;:790.8}"/>
</p:tagLst>
</file>

<file path=ppt/tags/tag8.xml><?xml version="1.0" encoding="utf-8"?>
<p:tagLst xmlns:p="http://schemas.openxmlformats.org/presentationml/2006/main">
  <p:tag name="KSO_WM_DIAGRAM_VIRTUALLY_FRAME" val="{&quot;height&quot;:316.5,&quot;left&quot;:76.5,&quot;top&quot;:132,&quot;width&quot;:790.8}"/>
</p:tagLst>
</file>

<file path=ppt/tags/tag9.xml><?xml version="1.0" encoding="utf-8"?>
<p:tagLst xmlns:p="http://schemas.openxmlformats.org/presentationml/2006/main">
  <p:tag name="KSO_WM_DIAGRAM_VIRTUALLY_FRAME" val="{&quot;height&quot;:316.5,&quot;left&quot;:76.5,&quot;top&quot;:132,&quot;width&quot;:790.8}"/>
</p:tagLst>
</file>

<file path=ppt/tags/tag10.xml><?xml version="1.0" encoding="utf-8"?>
<p:tagLst xmlns:p="http://schemas.openxmlformats.org/presentationml/2006/main">
  <p:tag name="KSO_WM_DIAGRAM_VIRTUALLY_FRAME" val="{&quot;height&quot;:316.5,&quot;left&quot;:76.5,&quot;top&quot;:132,&quot;width&quot;:790.8}"/>
</p:tagLst>
</file>

<file path=ppt/tags/tag11.xml><?xml version="1.0" encoding="utf-8"?>
<p:tagLst xmlns:p="http://schemas.openxmlformats.org/presentationml/2006/main">
  <p:tag name="KSO_WM_DIAGRAM_VIRTUALLY_FRAME" val="{&quot;height&quot;:316.5,&quot;left&quot;:76.5,&quot;top&quot;:132,&quot;width&quot;:790.8}"/>
</p:tagLst>
</file>

<file path=ppt/tags/tag12.xml><?xml version="1.0" encoding="utf-8"?>
<p:tagLst xmlns:p="http://schemas.openxmlformats.org/presentationml/2006/main">
  <p:tag name="KSO_WM_DIAGRAM_VIRTUALLY_FRAME" val="{&quot;height&quot;:316.5,&quot;left&quot;:76.5,&quot;top&quot;:132,&quot;width&quot;:790.8}"/>
</p:tagLst>
</file>

<file path=ppt/tags/tag13.xml><?xml version="1.0" encoding="utf-8"?>
<p:tagLst xmlns:p="http://schemas.openxmlformats.org/presentationml/2006/main">
  <p:tag name="KSO_WM_DIAGRAM_VIRTUALLY_FRAME" val="{&quot;height&quot;:316.5,&quot;left&quot;:76.5,&quot;top&quot;:132,&quot;width&quot;:790.8}"/>
</p:tagLst>
</file>

<file path=ppt/tags/tag14.xml><?xml version="1.0" encoding="utf-8"?>
<p:tagLst xmlns:p="http://schemas.openxmlformats.org/presentationml/2006/main">
  <p:tag name="KSO_WM_DIAGRAM_VIRTUALLY_FRAME" val="{&quot;height&quot;:316.5,&quot;left&quot;:76.5,&quot;top&quot;:132,&quot;width&quot;:790.8}"/>
</p:tagLst>
</file>

<file path=ppt/tags/tag15.xml><?xml version="1.0" encoding="utf-8"?>
<p:tagLst xmlns:p="http://schemas.openxmlformats.org/presentationml/2006/main">
  <p:tag name="KSO_WM_DIAGRAM_VIRTUALLY_FRAME" val="{&quot;height&quot;:184.5,&quot;left&quot;:76.05,&quot;top&quot;:189,&quot;width&quot;:501.45}"/>
</p:tagLst>
</file>

<file path=ppt/tags/tag16.xml><?xml version="1.0" encoding="utf-8"?>
<p:tagLst xmlns:p="http://schemas.openxmlformats.org/presentationml/2006/main">
  <p:tag name="KSO_WM_DIAGRAM_VIRTUALLY_FRAME" val="{&quot;height&quot;:184.5,&quot;left&quot;:76.05,&quot;top&quot;:189,&quot;width&quot;:501.45}"/>
</p:tagLst>
</file>

<file path=ppt/tags/tag17.xml><?xml version="1.0" encoding="utf-8"?>
<p:tagLst xmlns:p="http://schemas.openxmlformats.org/presentationml/2006/main">
  <p:tag name="KSO_WM_DIAGRAM_VIRTUALLY_FRAME" val="{&quot;height&quot;:184.5,&quot;left&quot;:76.05,&quot;top&quot;:189,&quot;width&quot;:501.45}"/>
</p:tagLst>
</file>

<file path=ppt/tags/tag18.xml><?xml version="1.0" encoding="utf-8"?>
<p:tagLst xmlns:p="http://schemas.openxmlformats.org/presentationml/2006/main">
  <p:tag name="KSO_WM_DIAGRAM_VIRTUALLY_FRAME" val="{&quot;height&quot;:184.5,&quot;left&quot;:76.05,&quot;top&quot;:189,&quot;width&quot;:501.45}"/>
</p:tagLst>
</file>

<file path=ppt/tags/tag19.xml><?xml version="1.0" encoding="utf-8"?>
<p:tagLst xmlns:p="http://schemas.openxmlformats.org/presentationml/2006/main">
  <p:tag name="KSO_WM_DIAGRAM_VIRTUALLY_FRAME" val="{&quot;height&quot;:184.5,&quot;left&quot;:76.05,&quot;top&quot;:189,&quot;width&quot;:501.45}"/>
</p:tagLst>
</file>

<file path=ppt/tags/tag20.xml><?xml version="1.0" encoding="utf-8"?>
<p:tagLst xmlns:p="http://schemas.openxmlformats.org/presentationml/2006/main">
  <p:tag name="KSO_WM_DIAGRAM_VIRTUALLY_FRAME" val="{&quot;height&quot;:184.5,&quot;left&quot;:76.05,&quot;top&quot;:189,&quot;width&quot;:501.45}"/>
</p:tagLst>
</file>

<file path=ppt/tags/tag21.xml><?xml version="1.0" encoding="utf-8"?>
<p:tagLst xmlns:p="http://schemas.openxmlformats.org/presentationml/2006/main">
  <p:tag name="KSO_WM_DIAGRAM_VIRTUALLY_FRAME" val="{&quot;height&quot;:184.5,&quot;left&quot;:76.05,&quot;top&quot;:189,&quot;width&quot;:501.45}"/>
</p:tagLst>
</file>

<file path=ppt/tags/tag22.xml><?xml version="1.0" encoding="utf-8"?>
<p:tagLst xmlns:p="http://schemas.openxmlformats.org/presentationml/2006/main">
  <p:tag name="KSO_WM_DIAGRAM_VIRTUALLY_FRAME" val="{&quot;height&quot;:184.5,&quot;left&quot;:76.05,&quot;top&quot;:189,&quot;width&quot;:501.45}"/>
</p:tagLst>
</file>

<file path=ppt/tags/tag23.xml><?xml version="1.0" encoding="utf-8"?>
<p:tagLst xmlns:p="http://schemas.openxmlformats.org/presentationml/2006/main">
  <p:tag name="KSO_WM_DIAGRAM_VIRTUALLY_FRAME" val="{&quot;height&quot;:184.5,&quot;left&quot;:76.05,&quot;top&quot;:189,&quot;width&quot;:501.45}"/>
</p:tagLst>
</file>

<file path=ppt/tags/tag24.xml><?xml version="1.0" encoding="utf-8"?>
<p:tagLst xmlns:p="http://schemas.openxmlformats.org/presentationml/2006/main">
  <p:tag name="KSO_WM_DIAGRAM_VIRTUALLY_FRAME" val="{&quot;height&quot;:184.5,&quot;left&quot;:76.05,&quot;top&quot;:189,&quot;width&quot;:501.45}"/>
</p:tagLst>
</file>

<file path=ppt/tags/tag25.xml><?xml version="1.0" encoding="utf-8"?>
<p:tagLst xmlns:p="http://schemas.openxmlformats.org/presentationml/2006/main">
  <p:tag name="KSO_WM_DIAGRAM_VIRTUALLY_FRAME" val="{&quot;height&quot;:184.5,&quot;left&quot;:76.05,&quot;top&quot;:189,&quot;width&quot;:501.45}"/>
</p:tagLst>
</file>

<file path=ppt/tags/tag26.xml><?xml version="1.0" encoding="utf-8"?>
<p:tagLst xmlns:p="http://schemas.openxmlformats.org/presentationml/2006/main">
  <p:tag name="KSO_WM_DIAGRAM_VIRTUALLY_FRAME" val="{&quot;height&quot;:184.5,&quot;left&quot;:76.05,&quot;top&quot;:189,&quot;width&quot;:501.45}"/>
</p:tagLst>
</file>

<file path=ppt/tags/tag27.xml><?xml version="1.0" encoding="utf-8"?>
<p:tagLst xmlns:p="http://schemas.openxmlformats.org/presentationml/2006/main">
  <p:tag name="KSO_WM_DIAGRAM_VIRTUALLY_FRAME" val="{&quot;height&quot;:184.5,&quot;left&quot;:76.05,&quot;top&quot;:189,&quot;width&quot;:501.45}"/>
</p:tagLst>
</file>

<file path=ppt/tags/tag28.xml><?xml version="1.0" encoding="utf-8"?>
<p:tagLst xmlns:p="http://schemas.openxmlformats.org/presentationml/2006/main">
  <p:tag name="KSO_WM_DIAGRAM_VIRTUALLY_FRAME" val="{&quot;height&quot;:184.5,&quot;left&quot;:76.05,&quot;top&quot;:189,&quot;width&quot;:501.45}"/>
</p:tagLst>
</file>

<file path=ppt/tags/tag29.xml><?xml version="1.0" encoding="utf-8"?>
<p:tagLst xmlns:p="http://schemas.openxmlformats.org/presentationml/2006/main">
  <p:tag name="KSO_WM_DIAGRAM_VIRTUALLY_FRAME" val="{&quot;height&quot;:154.5,&quot;left&quot;:76.5,&quot;top&quot;:196.5,&quot;width&quot;:406.5}"/>
</p:tagLst>
</file>

<file path=ppt/tags/tag30.xml><?xml version="1.0" encoding="utf-8"?>
<p:tagLst xmlns:p="http://schemas.openxmlformats.org/presentationml/2006/main">
  <p:tag name="KSO_WM_DIAGRAM_VIRTUALLY_FRAME" val="{&quot;height&quot;:154.5,&quot;left&quot;:76.5,&quot;top&quot;:196.5,&quot;width&quot;:406.5}"/>
</p:tagLst>
</file>

<file path=ppt/tags/tag31.xml><?xml version="1.0" encoding="utf-8"?>
<p:tagLst xmlns:p="http://schemas.openxmlformats.org/presentationml/2006/main">
  <p:tag name="KSO_WM_DIAGRAM_VIRTUALLY_FRAME" val="{&quot;height&quot;:154.5,&quot;left&quot;:76.5,&quot;top&quot;:196.5,&quot;width&quot;:406.5}"/>
</p:tagLst>
</file>

<file path=ppt/tags/tag32.xml><?xml version="1.0" encoding="utf-8"?>
<p:tagLst xmlns:p="http://schemas.openxmlformats.org/presentationml/2006/main">
  <p:tag name="KSO_WM_DIAGRAM_VIRTUALLY_FRAME" val="{&quot;height&quot;:154.5,&quot;left&quot;:76.5,&quot;top&quot;:196.5,&quot;width&quot;:406.5}"/>
</p:tagLst>
</file>

<file path=ppt/tags/tag33.xml><?xml version="1.0" encoding="utf-8"?>
<p:tagLst xmlns:p="http://schemas.openxmlformats.org/presentationml/2006/main">
  <p:tag name="KSO_WM_DIAGRAM_VIRTUALLY_FRAME" val="{&quot;height&quot;:154.5,&quot;left&quot;:76.5,&quot;top&quot;:196.5,&quot;width&quot;:406.5}"/>
</p:tagLst>
</file>

<file path=ppt/tags/tag34.xml><?xml version="1.0" encoding="utf-8"?>
<p:tagLst xmlns:p="http://schemas.openxmlformats.org/presentationml/2006/main">
  <p:tag name="KSO_WM_DIAGRAM_VIRTUALLY_FRAME" val="{&quot;height&quot;:154.5,&quot;left&quot;:76.5,&quot;top&quot;:196.5,&quot;width&quot;:406.5}"/>
</p:tagLst>
</file>

<file path=ppt/tags/tag35.xml><?xml version="1.0" encoding="utf-8"?>
<p:tagLst xmlns:p="http://schemas.openxmlformats.org/presentationml/2006/main">
  <p:tag name="KSO_WM_DIAGRAM_VIRTUALLY_FRAME" val="{&quot;height&quot;:154.5,&quot;left&quot;:76.5,&quot;top&quot;:196.5,&quot;width&quot;:406.5}"/>
</p:tagLst>
</file>

<file path=ppt/tags/tag36.xml><?xml version="1.0" encoding="utf-8"?>
<p:tagLst xmlns:p="http://schemas.openxmlformats.org/presentationml/2006/main">
  <p:tag name="KSO_WM_DIAGRAM_VIRTUALLY_FRAME" val="{&quot;height&quot;:154.5,&quot;left&quot;:76.5,&quot;top&quot;:196.5,&quot;width&quot;:406.5}"/>
</p:tagLst>
</file>

<file path=ppt/tags/tag37.xml><?xml version="1.0" encoding="utf-8"?>
<p:tagLst xmlns:p="http://schemas.openxmlformats.org/presentationml/2006/main">
  <p:tag name="KSO_WM_DIAGRAM_VIRTUALLY_FRAME" val="{&quot;height&quot;:154.5,&quot;left&quot;:76.5,&quot;top&quot;:196.5,&quot;width&quot;:406.5}"/>
</p:tagLst>
</file>

<file path=ppt/tags/tag38.xml><?xml version="1.0" encoding="utf-8"?>
<p:tagLst xmlns:p="http://schemas.openxmlformats.org/presentationml/2006/main">
  <p:tag name="KSO_WM_DIAGRAM_VIRTUALLY_FRAME" val="{&quot;height&quot;:154.5,&quot;left&quot;:76.5,&quot;top&quot;:196.5,&quot;width&quot;:406.5}"/>
</p:tagLst>
</file>

<file path=ppt/tags/tag39.xml><?xml version="1.0" encoding="utf-8"?>
<p:tagLst xmlns:p="http://schemas.openxmlformats.org/presentationml/2006/main">
  <p:tag name="KSO_WM_DIAGRAM_VIRTUALLY_FRAME" val="{&quot;height&quot;:142.5,&quot;left&quot;:48.25,&quot;top&quot;:189,&quot;width&quot;:478.4}"/>
</p:tagLst>
</file>

<file path=ppt/tags/tag40.xml><?xml version="1.0" encoding="utf-8"?>
<p:tagLst xmlns:p="http://schemas.openxmlformats.org/presentationml/2006/main">
  <p:tag name="KSO_WM_DIAGRAM_VIRTUALLY_FRAME" val="{&quot;height&quot;:142.5,&quot;left&quot;:48.25,&quot;top&quot;:189,&quot;width&quot;:478.4}"/>
</p:tagLst>
</file>

<file path=ppt/tags/tag41.xml><?xml version="1.0" encoding="utf-8"?>
<p:tagLst xmlns:p="http://schemas.openxmlformats.org/presentationml/2006/main">
  <p:tag name="KSO_WM_DIAGRAM_VIRTUALLY_FRAME" val="{&quot;height&quot;:142.5,&quot;left&quot;:48.25,&quot;top&quot;:189,&quot;width&quot;:478.4}"/>
</p:tagLst>
</file>

<file path=ppt/tags/tag42.xml><?xml version="1.0" encoding="utf-8"?>
<p:tagLst xmlns:p="http://schemas.openxmlformats.org/presentationml/2006/main">
  <p:tag name="KSO_WM_DIAGRAM_VIRTUALLY_FRAME" val="{&quot;height&quot;:142.5,&quot;left&quot;:48.25,&quot;top&quot;:189,&quot;width&quot;:478.4}"/>
</p:tagLst>
</file>

<file path=ppt/tags/tag43.xml><?xml version="1.0" encoding="utf-8"?>
<p:tagLst xmlns:p="http://schemas.openxmlformats.org/presentationml/2006/main">
  <p:tag name="KSO_WM_DIAGRAM_VIRTUALLY_FRAME" val="{&quot;height&quot;:142.5,&quot;left&quot;:48.25,&quot;top&quot;:189,&quot;width&quot;:478.4}"/>
</p:tagLst>
</file>

<file path=ppt/tags/tag44.xml><?xml version="1.0" encoding="utf-8"?>
<p:tagLst xmlns:p="http://schemas.openxmlformats.org/presentationml/2006/main">
  <p:tag name="KSO_WM_DIAGRAM_VIRTUALLY_FRAME" val="{&quot;height&quot;:142.5,&quot;left&quot;:48.25,&quot;top&quot;:189,&quot;width&quot;:478.4}"/>
</p:tagLst>
</file>

<file path=ppt/tags/tag45.xml><?xml version="1.0" encoding="utf-8"?>
<p:tagLst xmlns:p="http://schemas.openxmlformats.org/presentationml/2006/main">
  <p:tag name="KSO_WM_DIAGRAM_VIRTUALLY_FRAME" val="{&quot;height&quot;:142.5,&quot;left&quot;:48.25,&quot;top&quot;:189,&quot;width&quot;:478.4}"/>
</p:tagLst>
</file>

<file path=ppt/tags/tag46.xml><?xml version="1.0" encoding="utf-8"?>
<p:tagLst xmlns:p="http://schemas.openxmlformats.org/presentationml/2006/main">
  <p:tag name="KSO_WM_DIAGRAM_VIRTUALLY_FRAME" val="{&quot;height&quot;:142.5,&quot;left&quot;:48.25,&quot;top&quot;:189,&quot;width&quot;:478.4}"/>
</p:tagLst>
</file>

<file path=ppt/tags/tag47.xml><?xml version="1.0" encoding="utf-8"?>
<p:tagLst xmlns:p="http://schemas.openxmlformats.org/presentationml/2006/main">
  <p:tag name="KSO_WM_DIAGRAM_VIRTUALLY_FRAME" val="{&quot;height&quot;:142.5,&quot;left&quot;:48.25,&quot;top&quot;:189,&quot;width&quot;:478.4}"/>
</p:tagLst>
</file>

<file path=ppt/tags/tag48.xml><?xml version="1.0" encoding="utf-8"?>
<p:tagLst xmlns:p="http://schemas.openxmlformats.org/presentationml/2006/main">
  <p:tag name="KSO_WM_DIAGRAM_VIRTUALLY_FRAME" val="{&quot;height&quot;:142.5,&quot;left&quot;:48.25,&quot;top&quot;:189,&quot;width&quot;:478.4}"/>
</p:tagLst>
</file>

<file path=ppt/tags/tag49.xml><?xml version="1.0" encoding="utf-8"?>
<p:tagLst xmlns:p="http://schemas.openxmlformats.org/presentationml/2006/main">
  <p:tag name="KSO_WM_DIAGRAM_VIRTUALLY_FRAME" val="{&quot;height&quot;:202.5,&quot;left&quot;:71.7,&quot;top&quot;:193.5,&quot;width&quot;:331.8}"/>
</p:tagLst>
</file>

<file path=ppt/tags/tag50.xml><?xml version="1.0" encoding="utf-8"?>
<p:tagLst xmlns:p="http://schemas.openxmlformats.org/presentationml/2006/main">
  <p:tag name="KSO_WM_DIAGRAM_VIRTUALLY_FRAME" val="{&quot;height&quot;:202.5,&quot;left&quot;:71.7,&quot;top&quot;:193.5,&quot;width&quot;:331.8}"/>
</p:tagLst>
</file>

<file path=ppt/tags/tag51.xml><?xml version="1.0" encoding="utf-8"?>
<p:tagLst xmlns:p="http://schemas.openxmlformats.org/presentationml/2006/main">
  <p:tag name="KSO_WM_DIAGRAM_VIRTUALLY_FRAME" val="{&quot;height&quot;:202.5,&quot;left&quot;:71.7,&quot;top&quot;:193.5,&quot;width&quot;:331.8}"/>
</p:tagLst>
</file>

<file path=ppt/tags/tag52.xml><?xml version="1.0" encoding="utf-8"?>
<p:tagLst xmlns:p="http://schemas.openxmlformats.org/presentationml/2006/main">
  <p:tag name="KSO_WM_DIAGRAM_VIRTUALLY_FRAME" val="{&quot;height&quot;:202.5,&quot;left&quot;:71.7,&quot;top&quot;:193.5,&quot;width&quot;:331.8}"/>
</p:tagLst>
</file>

<file path=ppt/tags/tag53.xml><?xml version="1.0" encoding="utf-8"?>
<p:tagLst xmlns:p="http://schemas.openxmlformats.org/presentationml/2006/main">
  <p:tag name="KSO_WM_DIAGRAM_VIRTUALLY_FRAME" val="{&quot;height&quot;:202.5,&quot;left&quot;:71.7,&quot;top&quot;:193.5,&quot;width&quot;:331.8}"/>
</p:tagLst>
</file>

<file path=ppt/tags/tag54.xml><?xml version="1.0" encoding="utf-8"?>
<p:tagLst xmlns:p="http://schemas.openxmlformats.org/presentationml/2006/main">
  <p:tag name="KSO_WM_DIAGRAM_VIRTUALLY_FRAME" val="{&quot;height&quot;:202.5,&quot;left&quot;:71.7,&quot;top&quot;:193.5,&quot;width&quot;:331.8}"/>
</p:tagLst>
</file>

<file path=ppt/tags/tag55.xml><?xml version="1.0" encoding="utf-8"?>
<p:tagLst xmlns:p="http://schemas.openxmlformats.org/presentationml/2006/main">
  <p:tag name="KSO_WM_DIAGRAM_VIRTUALLY_FRAME" val="{&quot;height&quot;:202.5,&quot;left&quot;:71.7,&quot;top&quot;:193.5,&quot;width&quot;:331.8}"/>
</p:tagLst>
</file>

<file path=ppt/tags/tag56.xml><?xml version="1.0" encoding="utf-8"?>
<p:tagLst xmlns:p="http://schemas.openxmlformats.org/presentationml/2006/main">
  <p:tag name="KSO_WM_DIAGRAM_VIRTUALLY_FRAME" val="{&quot;height&quot;:202.5,&quot;left&quot;:71.7,&quot;top&quot;:193.5,&quot;width&quot;:331.8}"/>
</p:tagLst>
</file>

<file path=ppt/tags/tag57.xml><?xml version="1.0" encoding="utf-8"?>
<p:tagLst xmlns:p="http://schemas.openxmlformats.org/presentationml/2006/main">
  <p:tag name="KSO_WM_DIAGRAM_VIRTUALLY_FRAME" val="{&quot;height&quot;:202.5,&quot;left&quot;:71.7,&quot;top&quot;:193.5,&quot;width&quot;:331.8}"/>
</p:tagLst>
</file>

<file path=ppt/tags/tag58.xml><?xml version="1.0" encoding="utf-8"?>
<p:tagLst xmlns:p="http://schemas.openxmlformats.org/presentationml/2006/main">
  <p:tag name="KSO_WM_DIAGRAM_VIRTUALLY_FRAME" val="{&quot;height&quot;:202.5,&quot;left&quot;:71.7,&quot;top&quot;:193.5,&quot;width&quot;:331.8}"/>
</p:tagLst>
</file>

<file path=ppt/tags/tag59.xml><?xml version="1.0" encoding="utf-8"?>
<p:tagLst xmlns:p="http://schemas.openxmlformats.org/presentationml/2006/main">
  <p:tag name="KSO_WM_DIAGRAM_VIRTUALLY_FRAME" val="{&quot;height&quot;:202.5,&quot;left&quot;:71.7,&quot;top&quot;:193.5,&quot;width&quot;:331.8}"/>
</p:tagLst>
</file>

<file path=ppt/tags/tag60.xml><?xml version="1.0" encoding="utf-8"?>
<p:tagLst xmlns:p="http://schemas.openxmlformats.org/presentationml/2006/main">
  <p:tag name="KSO_WM_DIAGRAM_VIRTUALLY_FRAME" val="{&quot;height&quot;:202.5,&quot;left&quot;:71.7,&quot;top&quot;:193.5,&quot;width&quot;:331.8}"/>
</p:tagLst>
</file>

<file path=ppt/tags/tag61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62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63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64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65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66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67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68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69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70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71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72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73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74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75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76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77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78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79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80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81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82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83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84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85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86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87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88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89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90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91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ags/tag92.xml><?xml version="1.0" encoding="utf-8"?>
<p:tagLst xmlns:p="http://schemas.openxmlformats.org/presentationml/2006/main">
  <p:tag name="KSO_WM_DIAGRAM_VIRTUALLY_FRAME" val="{&quot;height&quot;:391.025,&quot;left&quot;:76.5,&quot;top&quot;:165.625,&quot;width&quot;:772.9500000000002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3478</Words>
  <Application>WPS 演示</Application>
  <PresentationFormat>Converted Presentation</PresentationFormat>
  <Paragraphs>417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Calibri Light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芦甲翔</cp:lastModifiedBy>
  <cp:revision>8</cp:revision>
  <dcterms:created xsi:type="dcterms:W3CDTF">2026-06-29T13:28:00Z</dcterms:created>
  <dcterms:modified xsi:type="dcterms:W3CDTF">2026-06-30T07:26:57Z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2052-12.1.0.26373</vt:lpwstr>
  </property>
  <property fmtid="{D5CDD505-2E9C-101B-9397-08002B2CF9AE}" pid="3" name="ICV">
    <vt:lpwstr>DE9944BFD99B4F7B9C64F4E56FAEC2FE_12</vt:lpwstr>
  </property>
</Properties>
</file>